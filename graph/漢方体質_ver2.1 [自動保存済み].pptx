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90" r:id="rId12"/>
    <p:sldId id="289" r:id="rId13"/>
    <p:sldId id="285" r:id="rId14"/>
    <p:sldId id="259" r:id="rId15"/>
    <p:sldId id="260" r:id="rId16"/>
    <p:sldId id="261" r:id="rId17"/>
    <p:sldId id="262" r:id="rId18"/>
    <p:sldId id="263" r:id="rId19"/>
    <p:sldId id="286" r:id="rId20"/>
    <p:sldId id="287" r:id="rId21"/>
    <p:sldId id="288" r:id="rId22"/>
    <p:sldId id="264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6858000" cy="9144000"/>
  <p:defaultTextStyle>
    <a:defPPr>
      <a:defRPr lang="ja-JP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5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8" y="4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PC0</c:v>
                </c:pt>
              </c:strCache>
            </c:strRef>
          </c:tx>
          <c:spPr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overall</c:v>
                </c:pt>
                <c:pt idx="1">
                  <c:v>male/young</c:v>
                </c:pt>
                <c:pt idx="2">
                  <c:v>male/middle</c:v>
                </c:pt>
                <c:pt idx="3">
                  <c:v>male/senior</c:v>
                </c:pt>
                <c:pt idx="4">
                  <c:v>female/young</c:v>
                </c:pt>
                <c:pt idx="5">
                  <c:v>female/middle</c:v>
                </c:pt>
                <c:pt idx="6">
                  <c:v>female/senior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0.315</c:v>
                </c:pt>
                <c:pt idx="1">
                  <c:v>-0.35099999999999998</c:v>
                </c:pt>
                <c:pt idx="2">
                  <c:v>0.11899999999999999</c:v>
                </c:pt>
                <c:pt idx="3">
                  <c:v>-0.21199999999999999</c:v>
                </c:pt>
                <c:pt idx="4">
                  <c:v>0.109</c:v>
                </c:pt>
                <c:pt idx="5">
                  <c:v>4.1000000000000002E-2</c:v>
                </c:pt>
                <c:pt idx="6">
                  <c:v>-0.11799999999999999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FC-44E1-975C-3327BDAAA83C}"/>
            </c:ext>
          </c:extLst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PC1</c:v>
                </c:pt>
              </c:strCache>
            </c:strRef>
          </c:tx>
          <c:spPr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overall</c:v>
                </c:pt>
                <c:pt idx="1">
                  <c:v>male/young</c:v>
                </c:pt>
                <c:pt idx="2">
                  <c:v>male/middle</c:v>
                </c:pt>
                <c:pt idx="3">
                  <c:v>male/senior</c:v>
                </c:pt>
                <c:pt idx="4">
                  <c:v>female/young</c:v>
                </c:pt>
                <c:pt idx="5">
                  <c:v>female/middle</c:v>
                </c:pt>
                <c:pt idx="6">
                  <c:v>female/senior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0.114</c:v>
                </c:pt>
                <c:pt idx="1">
                  <c:v>-4.3999999999999997E-2</c:v>
                </c:pt>
                <c:pt idx="2">
                  <c:v>-5.0999999999999997E-2</c:v>
                </c:pt>
                <c:pt idx="3">
                  <c:v>-0.105</c:v>
                </c:pt>
                <c:pt idx="4">
                  <c:v>-0.104</c:v>
                </c:pt>
                <c:pt idx="5">
                  <c:v>-8.6999999999999994E-2</c:v>
                </c:pt>
                <c:pt idx="6">
                  <c:v>4.9000000000000002E-2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FC-44E1-975C-3327BDAAA83C}"/>
            </c:ext>
          </c:extLst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PC2</c:v>
                </c:pt>
              </c:strCache>
            </c:strRef>
          </c:tx>
          <c:spPr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overall</c:v>
                </c:pt>
                <c:pt idx="1">
                  <c:v>male/young</c:v>
                </c:pt>
                <c:pt idx="2">
                  <c:v>male/middle</c:v>
                </c:pt>
                <c:pt idx="3">
                  <c:v>male/senior</c:v>
                </c:pt>
                <c:pt idx="4">
                  <c:v>female/young</c:v>
                </c:pt>
                <c:pt idx="5">
                  <c:v>female/middle</c:v>
                </c:pt>
                <c:pt idx="6">
                  <c:v>female/senior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0.41099999999999998</c:v>
                </c:pt>
                <c:pt idx="1">
                  <c:v>-0.19500000000000001</c:v>
                </c:pt>
                <c:pt idx="2">
                  <c:v>-2.7E-2</c:v>
                </c:pt>
                <c:pt idx="3">
                  <c:v>0.107</c:v>
                </c:pt>
                <c:pt idx="4">
                  <c:v>0.36499999999999999</c:v>
                </c:pt>
                <c:pt idx="5">
                  <c:v>0.22500000000000001</c:v>
                </c:pt>
                <c:pt idx="6">
                  <c:v>0.38600000000000001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FC-44E1-975C-3327BDAAA8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6549487"/>
        <c:axId val="246549903"/>
      </c:barChart>
      <c:catAx>
        <c:axId val="246549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6549903"/>
        <c:crosses val="autoZero"/>
        <c:auto val="1"/>
        <c:lblAlgn val="ctr"/>
        <c:lblOffset val="100"/>
        <c:noMultiLvlLbl val="0"/>
      </c:catAx>
      <c:valAx>
        <c:axId val="246549903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46549487"/>
        <c:crosses val="autoZero"/>
        <c:crossBetween val="between"/>
      </c:valAx>
      <c:spPr>
        <a:prstGeom prst="rect">
          <a:avLst/>
        </a:prstGeom>
        <a:noFill/>
        <a:ln>
          <a:noFill/>
        </a:ln>
        <a:effectLst/>
      </c:spPr>
    </c:plotArea>
    <c:legend>
      <c:legendPos val="b"/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 bwMode="auto">
    <a:xfrm>
      <a:off x="6687954" y="1548840"/>
      <a:ext cx="5602513" cy="3153789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161743" name="ヘッダー プレースホルダー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759249227" name="日付プレースホルダー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F1D0CCF-8D68-49AB-8FC4-261B3E5B68D5}" type="datetimeFigureOut">
              <a:rPr lang="en-US" altLang="ja-JP"/>
              <a:t>9/3/2026</a:t>
            </a:fld>
            <a:endParaRPr lang="ja-JP"/>
          </a:p>
        </p:txBody>
      </p:sp>
      <p:sp>
        <p:nvSpPr>
          <p:cNvPr id="1164994570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ja-JP"/>
          </a:p>
        </p:txBody>
      </p:sp>
      <p:sp>
        <p:nvSpPr>
          <p:cNvPr id="908972799" name="ノート プレースホルダー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56869548" name="フッター プレースホルダー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1969819915" name="スライド番号プレースホルダー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6298169-DE98-4E01-B5A2-0C443F6BCCA7}" type="slidenum">
              <a:rPr lang="ja-JP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57635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82777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095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013C9A-4EB6-3F7C-6003-E048E409219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5226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85573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376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7C4C87-38C6-CE81-BE01-36C59D855DAF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45772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04649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5CD8FC-4B63-C725-4914-C546B512624A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ADBD4-A54B-46E0-A0F8-E8511E4B120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556099" name="Slide Image Placeholder 1">
            <a:extLst>
              <a:ext uri="{FF2B5EF4-FFF2-40B4-BE49-F238E27FC236}">
                <a16:creationId xmlns:a16="http://schemas.microsoft.com/office/drawing/2014/main" id="{412316DD-FF78-1BD8-69B0-89D2C4E18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11616538" name="Notes Placeholder 2">
            <a:extLst>
              <a:ext uri="{FF2B5EF4-FFF2-40B4-BE49-F238E27FC236}">
                <a16:creationId xmlns:a16="http://schemas.microsoft.com/office/drawing/2014/main" id="{8119DD32-2778-7293-6147-EAEBB5BBD0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726886" name="Slide Number Placeholder 3">
            <a:extLst>
              <a:ext uri="{FF2B5EF4-FFF2-40B4-BE49-F238E27FC236}">
                <a16:creationId xmlns:a16="http://schemas.microsoft.com/office/drawing/2014/main" id="{DB50635E-C766-4764-0144-2125536381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947049-DB69-B487-3316-DC4E598662E1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5152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B30AE-0CB6-9974-AF79-33FF29B04E3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24203" name="Slide Image Placeholder 1">
            <a:extLst>
              <a:ext uri="{FF2B5EF4-FFF2-40B4-BE49-F238E27FC236}">
                <a16:creationId xmlns:a16="http://schemas.microsoft.com/office/drawing/2014/main" id="{83ED02A4-0180-D7AF-9E28-D00D332EF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4481090" name="Notes Placeholder 2">
            <a:extLst>
              <a:ext uri="{FF2B5EF4-FFF2-40B4-BE49-F238E27FC236}">
                <a16:creationId xmlns:a16="http://schemas.microsoft.com/office/drawing/2014/main" id="{DB3BC1AE-924F-9692-4591-472DEF63BE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7527" name="Slide Number Placeholder 3">
            <a:extLst>
              <a:ext uri="{FF2B5EF4-FFF2-40B4-BE49-F238E27FC236}">
                <a16:creationId xmlns:a16="http://schemas.microsoft.com/office/drawing/2014/main" id="{D3E02A8F-3E99-D91A-BAA9-BD29FF3A6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9243E0-2B73-B4E8-AF78-3B62D4DE7D2B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3567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E9F7-F6D5-C126-8293-478377144DF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64FFD-7A1A-2415-A707-AEE132B6D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2D989-168F-8806-7F1A-40B0CEAC1D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B45E8-B3B1-FC26-ACD7-42B83CF3E0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0B9A24-B2A5-74D7-56C9-D9B99BAD150D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4894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56A2E-3C7D-681C-4A34-1692709613E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E4C09-8207-7780-8EFA-EA6C8C5BD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AD2C0-D35F-3D17-7266-2FE25E6E85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FA766-AAE1-5BFE-7CEB-271DA69C47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53A9F7-52E4-ABEC-E92F-303F2155B379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5822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1C3A6-E090-9208-F5B5-84D785B4500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09178" name="Slide Image Placeholder 1">
            <a:extLst>
              <a:ext uri="{FF2B5EF4-FFF2-40B4-BE49-F238E27FC236}">
                <a16:creationId xmlns:a16="http://schemas.microsoft.com/office/drawing/2014/main" id="{E65BF424-3F9C-B526-3926-1810238DE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149837" name="Notes Placeholder 2">
            <a:extLst>
              <a:ext uri="{FF2B5EF4-FFF2-40B4-BE49-F238E27FC236}">
                <a16:creationId xmlns:a16="http://schemas.microsoft.com/office/drawing/2014/main" id="{89FC7A70-D2FD-1198-4E70-CB6270C55D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204211" name="Slide Number Placeholder 3">
            <a:extLst>
              <a:ext uri="{FF2B5EF4-FFF2-40B4-BE49-F238E27FC236}">
                <a16:creationId xmlns:a16="http://schemas.microsoft.com/office/drawing/2014/main" id="{1543826F-5739-4B36-2FC0-8AF87EED1A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CB8261-E624-3317-EEF4-7C4CBD80BBB3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4184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44A55-B09D-7721-0CDB-20931022B98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00720" name="Slide Image Placeholder 1">
            <a:extLst>
              <a:ext uri="{FF2B5EF4-FFF2-40B4-BE49-F238E27FC236}">
                <a16:creationId xmlns:a16="http://schemas.microsoft.com/office/drawing/2014/main" id="{D77EE61D-EB70-239E-90DD-C81802780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02229868" name="Notes Placeholder 2">
            <a:extLst>
              <a:ext uri="{FF2B5EF4-FFF2-40B4-BE49-F238E27FC236}">
                <a16:creationId xmlns:a16="http://schemas.microsoft.com/office/drawing/2014/main" id="{4D28DCD3-6FDB-6AAA-8177-0F0B2551B5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68637" name="Slide Number Placeholder 3">
            <a:extLst>
              <a:ext uri="{FF2B5EF4-FFF2-40B4-BE49-F238E27FC236}">
                <a16:creationId xmlns:a16="http://schemas.microsoft.com/office/drawing/2014/main" id="{B23E6D58-EAF2-9A9E-35A7-A1142BA830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A43D74-0D83-F5AF-2356-7CC365DA8250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889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015B4-4FB7-C6A4-C61D-1B0A1E4A8CA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906608" name="Slide Image Placeholder 1">
            <a:extLst>
              <a:ext uri="{FF2B5EF4-FFF2-40B4-BE49-F238E27FC236}">
                <a16:creationId xmlns:a16="http://schemas.microsoft.com/office/drawing/2014/main" id="{A3CC17AE-F2EE-CA22-E2B7-6AAF4C4A9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47129829" name="Notes Placeholder 2">
            <a:extLst>
              <a:ext uri="{FF2B5EF4-FFF2-40B4-BE49-F238E27FC236}">
                <a16:creationId xmlns:a16="http://schemas.microsoft.com/office/drawing/2014/main" id="{8F54B783-20BD-3F3B-9D0F-1955650EB4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22679" name="Slide Number Placeholder 3">
            <a:extLst>
              <a:ext uri="{FF2B5EF4-FFF2-40B4-BE49-F238E27FC236}">
                <a16:creationId xmlns:a16="http://schemas.microsoft.com/office/drawing/2014/main" id="{AFBB931E-A424-9347-908D-E8E1D2DB6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4E4E6F-762E-64F6-F99D-CD01F9A8C666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9347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4EBA-C2A0-E074-6F1B-CBBE6CB3ED2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879714" name="Slide Image Placeholder 1">
            <a:extLst>
              <a:ext uri="{FF2B5EF4-FFF2-40B4-BE49-F238E27FC236}">
                <a16:creationId xmlns:a16="http://schemas.microsoft.com/office/drawing/2014/main" id="{D05655B2-F6AD-F5BF-0062-73C59D88F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34461565" name="Notes Placeholder 2">
            <a:extLst>
              <a:ext uri="{FF2B5EF4-FFF2-40B4-BE49-F238E27FC236}">
                <a16:creationId xmlns:a16="http://schemas.microsoft.com/office/drawing/2014/main" id="{48F255D4-BF58-90D7-1464-95F432D95F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4260110" name="Slide Number Placeholder 3">
            <a:extLst>
              <a:ext uri="{FF2B5EF4-FFF2-40B4-BE49-F238E27FC236}">
                <a16:creationId xmlns:a16="http://schemas.microsoft.com/office/drawing/2014/main" id="{226062A4-F437-6198-F98D-4FE94D46A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84670C-9AC8-04A4-869A-54F8E9261CCD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2548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3E5EE-10F8-4B48-37E2-A2772DBB771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40997" name="Slide Image Placeholder 1">
            <a:extLst>
              <a:ext uri="{FF2B5EF4-FFF2-40B4-BE49-F238E27FC236}">
                <a16:creationId xmlns:a16="http://schemas.microsoft.com/office/drawing/2014/main" id="{B9DDB504-CD3A-07FE-AD64-5A0D786FA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3549222" name="Notes Placeholder 2">
            <a:extLst>
              <a:ext uri="{FF2B5EF4-FFF2-40B4-BE49-F238E27FC236}">
                <a16:creationId xmlns:a16="http://schemas.microsoft.com/office/drawing/2014/main" id="{E9F66EFF-9FEE-458C-33EF-1AF8776AE8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75665" name="Slide Number Placeholder 3">
            <a:extLst>
              <a:ext uri="{FF2B5EF4-FFF2-40B4-BE49-F238E27FC236}">
                <a16:creationId xmlns:a16="http://schemas.microsoft.com/office/drawing/2014/main" id="{7F7815C6-0C15-A22C-D5AF-46C0A0B85D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B8A08-57CB-20C9-589A-38A7623221E8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9630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85101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26803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194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C47CA8-8B9F-F7C5-FB66-540DCFDBFC5A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7131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40022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459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2180B4-8A7F-1CAA-499E-148E5835ACAB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57669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23654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319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93BBF3-0814-97FD-117D-A5CC60B2C9F7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2897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34829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290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619AEC-9EF9-C466-30FC-C4B2FE9CB622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0649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09942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980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A54008-B86B-940B-73D2-0758A520A914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F9684-3570-CBAC-DE1F-7E5355D1DE1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906608" name="Slide Image Placeholder 1">
            <a:extLst>
              <a:ext uri="{FF2B5EF4-FFF2-40B4-BE49-F238E27FC236}">
                <a16:creationId xmlns:a16="http://schemas.microsoft.com/office/drawing/2014/main" id="{028FB90C-5C2C-5190-80B8-1C2F3E9D0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47129829" name="Notes Placeholder 2">
            <a:extLst>
              <a:ext uri="{FF2B5EF4-FFF2-40B4-BE49-F238E27FC236}">
                <a16:creationId xmlns:a16="http://schemas.microsoft.com/office/drawing/2014/main" id="{0EC91F0B-E683-7C55-C531-AF8816E6C6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22679" name="Slide Number Placeholder 3">
            <a:extLst>
              <a:ext uri="{FF2B5EF4-FFF2-40B4-BE49-F238E27FC236}">
                <a16:creationId xmlns:a16="http://schemas.microsoft.com/office/drawing/2014/main" id="{7BE5F262-13B8-1E6C-AC2C-0632E54E6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4E4E6F-762E-64F6-F99D-CD01F9A8C666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15189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5E5E5-1FE3-B1A2-2612-27AE294FFA6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647253" name="Slide Image Placeholder 1">
            <a:extLst>
              <a:ext uri="{FF2B5EF4-FFF2-40B4-BE49-F238E27FC236}">
                <a16:creationId xmlns:a16="http://schemas.microsoft.com/office/drawing/2014/main" id="{AFE61479-6BFC-1AE7-BFC6-B71AD0AF1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35594970" name="Notes Placeholder 2">
            <a:extLst>
              <a:ext uri="{FF2B5EF4-FFF2-40B4-BE49-F238E27FC236}">
                <a16:creationId xmlns:a16="http://schemas.microsoft.com/office/drawing/2014/main" id="{EC01D790-677D-A9D0-0D80-8A865AA050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795853" name="Slide Number Placeholder 3">
            <a:extLst>
              <a:ext uri="{FF2B5EF4-FFF2-40B4-BE49-F238E27FC236}">
                <a16:creationId xmlns:a16="http://schemas.microsoft.com/office/drawing/2014/main" id="{BA4C5550-352F-C254-9FF3-68F2E0C753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89374F-9382-1A76-9CB7-63B4B0ABD42E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8691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FE9D6-5C24-E6C3-D15A-BCE44362481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879714" name="Slide Image Placeholder 1">
            <a:extLst>
              <a:ext uri="{FF2B5EF4-FFF2-40B4-BE49-F238E27FC236}">
                <a16:creationId xmlns:a16="http://schemas.microsoft.com/office/drawing/2014/main" id="{799CEF51-48EB-B281-31DA-1913AEA15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34461565" name="Notes Placeholder 2">
            <a:extLst>
              <a:ext uri="{FF2B5EF4-FFF2-40B4-BE49-F238E27FC236}">
                <a16:creationId xmlns:a16="http://schemas.microsoft.com/office/drawing/2014/main" id="{B073837C-927F-7B46-6B3D-CEB679E220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4260110" name="Slide Number Placeholder 3">
            <a:extLst>
              <a:ext uri="{FF2B5EF4-FFF2-40B4-BE49-F238E27FC236}">
                <a16:creationId xmlns:a16="http://schemas.microsoft.com/office/drawing/2014/main" id="{DD5D96AD-05FB-7FDA-B371-FDC76A6B66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84670C-9AC8-04A4-869A-54F8E9261CCD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5182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52121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4496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188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7CD3C6-6117-6839-BC01-63219E0EFD26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55609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116165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726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947049-DB69-B487-3316-DC4E598662E1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2420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644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7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9243E0-2B73-B4E8-AF78-3B62D4DE7D2B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0B9A24-B2A5-74D7-56C9-D9B99BAD150D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53A9F7-52E4-ABEC-E92F-303F2155B379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0917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149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2042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CB8261-E624-3317-EEF4-7C4CBD80BBB3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0072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02229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68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A43D74-0D83-F5AF-2356-7CC365DA8250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90660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47129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2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4E4E6F-762E-64F6-F99D-CD01F9A8C666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64725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35594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795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89374F-9382-1A76-9CB7-63B4B0ABD42E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87971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34461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42601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84670C-9AC8-04A4-869A-54F8E9261CCD}" type="slidenum">
              <a:rPr/>
              <a:t>31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4099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35492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756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B8A08-57CB-20C9-589A-38A7623221E8}" type="slidenum">
              <a:rPr/>
              <a:t>32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タイトル スライド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667865" name="タイトル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394223223" name="サブタイトル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IZ UDPゴシック"/>
                <a:ea typeface="BIZ UDPゴシック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ja-JP"/>
              <a:t>マスター サブタイトルの書式設定</a:t>
            </a:r>
            <a:endParaRPr/>
          </a:p>
        </p:txBody>
      </p:sp>
      <p:sp>
        <p:nvSpPr>
          <p:cNvPr id="836637166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0170BF8F-7D5B-4E0A-8D9F-5F7FFC045F9B}" type="datetimeFigureOut">
              <a:rPr lang="en-US" altLang="ja-JP"/>
              <a:t>9/3/2026</a:t>
            </a:fld>
            <a:endParaRPr lang="ja-JP"/>
          </a:p>
        </p:txBody>
      </p:sp>
      <p:sp>
        <p:nvSpPr>
          <p:cNvPr id="989676735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2065662690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524D4FBF-0467-4B3D-97FA-C89E89B9CD99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タイトルとコンテンツ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80216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55997899" name="コンテンツ プレースホルダー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  <a:lvl2pPr>
              <a:defRPr>
                <a:latin typeface="BIZ UDPゴシック"/>
                <a:ea typeface="BIZ UDPゴシック"/>
              </a:defRPr>
            </a:lvl2pPr>
            <a:lvl3pPr>
              <a:defRPr>
                <a:latin typeface="BIZ UDPゴシック"/>
                <a:ea typeface="BIZ UDPゴシック"/>
              </a:defRPr>
            </a:lvl3pPr>
            <a:lvl4pPr>
              <a:defRPr>
                <a:latin typeface="BIZ UDPゴシック"/>
                <a:ea typeface="BIZ UDPゴシック"/>
              </a:defRPr>
            </a:lvl4pPr>
            <a:lvl5pPr>
              <a:defRPr>
                <a:latin typeface="BIZ UDPゴシック"/>
                <a:ea typeface="BIZ UDPゴシック"/>
              </a:defRPr>
            </a:lvl5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612946514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0170BF8F-7D5B-4E0A-8D9F-5F7FFC045F9B}" type="datetimeFigureOut">
              <a:rPr lang="en-US" altLang="ja-JP"/>
              <a:t>9/3/2026</a:t>
            </a:fld>
            <a:endParaRPr lang="ja-JP"/>
          </a:p>
        </p:txBody>
      </p:sp>
      <p:sp>
        <p:nvSpPr>
          <p:cNvPr id="1659990595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205493881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524D4FBF-0467-4B3D-97FA-C89E89B9CD99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ユーザー設定レイアウ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2323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10"/>
            <a:ext cx="5598694" cy="459917"/>
          </a:xfrm>
        </p:spPr>
        <p:txBody>
          <a:bodyPr>
            <a:normAutofit/>
          </a:bodyPr>
          <a:lstStyle>
            <a:lvl1pPr>
              <a:defRPr sz="3200"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cxnSp>
        <p:nvCxnSpPr>
          <p:cNvPr id="1743788248" name="直線コネクタ 5"/>
          <p:cNvCxnSpPr/>
          <p:nvPr userDrawn="1"/>
        </p:nvCxnSpPr>
        <p:spPr bwMode="auto">
          <a:xfrm>
            <a:off x="0" y="825043"/>
            <a:ext cx="12192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574870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60023579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994374080" name="日付プレースホルダー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0170BF8F-7D5B-4E0A-8D9F-5F7FFC045F9B}" type="datetimeFigureOut">
              <a:rPr lang="en-US" altLang="ja-JP"/>
              <a:t>9/3/2026</a:t>
            </a:fld>
            <a:endParaRPr lang="ja-JP"/>
          </a:p>
        </p:txBody>
      </p:sp>
      <p:sp>
        <p:nvSpPr>
          <p:cNvPr id="63190824" name="フッター プレースホルダー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829317575" name="スライド番号プレースホルダー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</a:defRPr>
            </a:lvl1pPr>
          </a:lstStyle>
          <a:p>
            <a:pPr>
              <a:defRPr/>
            </a:pPr>
            <a:fld id="{524D4FBF-0467-4B3D-97FA-C89E89B9CD99}" type="slidenum">
              <a:rPr lang="ja-JP"/>
              <a:t>‹#›</a:t>
            </a:fld>
            <a:endParaRPr lang="ja-JP"/>
          </a:p>
        </p:txBody>
      </p:sp>
      <p:pic>
        <p:nvPicPr>
          <p:cNvPr id="1012996308" name="図 6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 flipV="1">
            <a:off x="0" y="-2"/>
            <a:ext cx="12192000" cy="230189"/>
          </a:xfrm>
          <a:prstGeom prst="rect">
            <a:avLst/>
          </a:prstGeom>
        </p:spPr>
      </p:pic>
      <p:pic>
        <p:nvPicPr>
          <p:cNvPr id="898917283" name="図 7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 rot="10800000" flipV="1">
            <a:off x="0" y="6605337"/>
            <a:ext cx="12192000" cy="266317"/>
          </a:xfrm>
          <a:prstGeom prst="rect">
            <a:avLst/>
          </a:prstGeom>
        </p:spPr>
      </p:pic>
      <p:pic>
        <p:nvPicPr>
          <p:cNvPr id="1232132966" name="図 8"/>
          <p:cNvPicPr>
            <a:picLocks noChangeAspect="1"/>
          </p:cNvPicPr>
          <p:nvPr userDrawn="1"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9854465" y="100314"/>
            <a:ext cx="2148840" cy="4391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BIZ UDPゴシック"/>
          <a:ea typeface="BIZ UDPゴシック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BIZ UDPゴシック"/>
          <a:ea typeface="BIZ UDPゴシック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BIZ UDPゴシック"/>
          <a:ea typeface="BIZ UDPゴシック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BIZ UDPゴシック"/>
          <a:ea typeface="BIZ UDPゴシック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BIZ UDPゴシック"/>
          <a:ea typeface="BIZ UDPゴシック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BIZ UDPゴシック"/>
          <a:ea typeface="BIZ UDPゴシック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358896" name="テキスト ボックス 3"/>
          <p:cNvSpPr txBox="1"/>
          <p:nvPr/>
        </p:nvSpPr>
        <p:spPr bwMode="auto">
          <a:xfrm>
            <a:off x="3365500" y="2997200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3600">
                <a:latin typeface="BIZ UDPゴシック"/>
                <a:ea typeface="BIZ UDPゴシック"/>
              </a:rPr>
              <a:t>毛髪でひも解く漢方体質</a:t>
            </a:r>
          </a:p>
        </p:txBody>
      </p:sp>
      <p:sp>
        <p:nvSpPr>
          <p:cNvPr id="2077407642" name="テキスト ボックス 4"/>
          <p:cNvSpPr txBox="1"/>
          <p:nvPr/>
        </p:nvSpPr>
        <p:spPr bwMode="auto">
          <a:xfrm>
            <a:off x="10198100" y="523240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礒辺真人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380809" name="Picture 4" descr="薬膳の基本の考え方を知ろう★ | 薬膳レストランの【然の膳】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7258730" y="1990788"/>
            <a:ext cx="3295750" cy="2929556"/>
          </a:xfrm>
          <a:prstGeom prst="rect">
            <a:avLst/>
          </a:prstGeom>
          <a:noFill/>
        </p:spPr>
      </p:pic>
      <p:sp>
        <p:nvSpPr>
          <p:cNvPr id="1584340364" name="テキスト ボックス 3"/>
          <p:cNvSpPr txBox="1"/>
          <p:nvPr/>
        </p:nvSpPr>
        <p:spPr bwMode="auto">
          <a:xfrm>
            <a:off x="653678" y="863874"/>
            <a:ext cx="10731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弘前健診で取得した</a:t>
            </a:r>
            <a:r>
              <a:rPr lang="en-US" sz="2400" dirty="0">
                <a:latin typeface="BIZ UDPゴシック"/>
                <a:ea typeface="BIZ UDPゴシック"/>
              </a:rPr>
              <a:t>NIR-HSI</a:t>
            </a:r>
            <a:r>
              <a:rPr lang="ja-JP" sz="2400" dirty="0">
                <a:latin typeface="BIZ UDPゴシック"/>
                <a:ea typeface="BIZ UDPゴシック"/>
              </a:rPr>
              <a:t>のデータを使って漢方体質が診断できるのか？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新たな分類が可能なのか？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毛髪でわかることをデータの力で検証する。</a:t>
            </a:r>
          </a:p>
        </p:txBody>
      </p:sp>
      <p:sp>
        <p:nvSpPr>
          <p:cNvPr id="517960500" name="タイトル 4"/>
          <p:cNvSpPr>
            <a:spLocks noGrp="1"/>
          </p:cNvSpPr>
          <p:nvPr>
            <p:ph type="title"/>
          </p:nvPr>
        </p:nvSpPr>
        <p:spPr bwMode="auto">
          <a:xfrm>
            <a:off x="104274" y="244810"/>
            <a:ext cx="6004426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ja-JP" dirty="0"/>
              <a:t>毛髪から漢方体質分類が可能か？</a:t>
            </a:r>
          </a:p>
        </p:txBody>
      </p:sp>
      <p:sp>
        <p:nvSpPr>
          <p:cNvPr id="415814326" name="テキスト ボックス 6"/>
          <p:cNvSpPr txBox="1"/>
          <p:nvPr/>
        </p:nvSpPr>
        <p:spPr bwMode="auto">
          <a:xfrm>
            <a:off x="781761" y="4723579"/>
            <a:ext cx="283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キューブ</a:t>
            </a:r>
          </a:p>
        </p:txBody>
      </p:sp>
      <p:sp>
        <p:nvSpPr>
          <p:cNvPr id="1635813252" name="テキスト ボックス 8"/>
          <p:cNvSpPr txBox="1"/>
          <p:nvPr/>
        </p:nvSpPr>
        <p:spPr bwMode="auto">
          <a:xfrm>
            <a:off x="7899751" y="3182527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4000" dirty="0">
                <a:latin typeface="BIZ UDPゴシック"/>
                <a:ea typeface="BIZ UDPゴシック"/>
              </a:rPr>
              <a:t>漢方体質</a:t>
            </a:r>
            <a:endParaRPr dirty="0"/>
          </a:p>
        </p:txBody>
      </p:sp>
      <p:sp>
        <p:nvSpPr>
          <p:cNvPr id="1712969744" name="テキスト ボックス 9"/>
          <p:cNvSpPr txBox="1"/>
          <p:nvPr/>
        </p:nvSpPr>
        <p:spPr bwMode="auto">
          <a:xfrm>
            <a:off x="6019428" y="4827071"/>
            <a:ext cx="5997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・冷え、体質に関するアンケート（約</a:t>
            </a:r>
            <a:r>
              <a:rPr lang="en-US" sz="2400">
                <a:latin typeface="BIZ UDPゴシック"/>
                <a:ea typeface="BIZ UDPゴシック"/>
              </a:rPr>
              <a:t>90</a:t>
            </a:r>
            <a:r>
              <a:rPr lang="ja-JP" sz="2400">
                <a:latin typeface="BIZ UDPゴシック"/>
                <a:ea typeface="BIZ UDPゴシック"/>
              </a:rPr>
              <a:t>項目）</a:t>
            </a:r>
            <a:endParaRPr/>
          </a:p>
        </p:txBody>
      </p:sp>
      <p:sp>
        <p:nvSpPr>
          <p:cNvPr id="790581655" name="十字形 10"/>
          <p:cNvSpPr/>
          <p:nvPr/>
        </p:nvSpPr>
        <p:spPr bwMode="auto">
          <a:xfrm rot="18900000">
            <a:off x="4742223" y="3207054"/>
            <a:ext cx="1283496" cy="1283496"/>
          </a:xfrm>
          <a:prstGeom prst="plus">
            <a:avLst>
              <a:gd name="adj" fmla="val 390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952287767" name="テキスト ボックス 11"/>
          <p:cNvSpPr txBox="1"/>
          <p:nvPr/>
        </p:nvSpPr>
        <p:spPr bwMode="auto">
          <a:xfrm>
            <a:off x="2866373" y="5629984"/>
            <a:ext cx="68980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dirty="0">
                <a:latin typeface="BIZ UDPゴシック"/>
                <a:ea typeface="BIZ UDPゴシック"/>
              </a:rPr>
              <a:t>※</a:t>
            </a:r>
            <a:r>
              <a:rPr lang="ja-JP" sz="2400" dirty="0">
                <a:latin typeface="BIZ UDPゴシック"/>
                <a:ea typeface="BIZ UDPゴシック"/>
              </a:rPr>
              <a:t>今回は「データから見えることを探す」のであり、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「答えを与えて確かめる」のではない</a:t>
            </a:r>
          </a:p>
        </p:txBody>
      </p: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31A6376B-9FD8-F352-F2C8-F0986703584C}"/>
              </a:ext>
            </a:extLst>
          </p:cNvPr>
          <p:cNvGrpSpPr/>
          <p:nvPr/>
        </p:nvGrpSpPr>
        <p:grpSpPr>
          <a:xfrm>
            <a:off x="1066999" y="2201296"/>
            <a:ext cx="2978132" cy="2492030"/>
            <a:chOff x="1066999" y="2201296"/>
            <a:chExt cx="2978132" cy="2492030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8DB26A01-5DC7-6C25-060E-3E7C5CF27B03}"/>
                </a:ext>
              </a:extLst>
            </p:cNvPr>
            <p:cNvGrpSpPr/>
            <p:nvPr/>
          </p:nvGrpSpPr>
          <p:grpSpPr>
            <a:xfrm>
              <a:off x="1066999" y="2217806"/>
              <a:ext cx="2978132" cy="2475520"/>
              <a:chOff x="3613860" y="2521287"/>
              <a:chExt cx="2978132" cy="2475520"/>
            </a:xfrm>
          </p:grpSpPr>
          <p:sp>
            <p:nvSpPr>
              <p:cNvPr id="4" name="直方体 3">
                <a:extLst>
                  <a:ext uri="{FF2B5EF4-FFF2-40B4-BE49-F238E27FC236}">
                    <a16:creationId xmlns:a16="http://schemas.microsoft.com/office/drawing/2014/main" id="{715E5374-8B86-FB43-8C26-823A4AA878DD}"/>
                  </a:ext>
                </a:extLst>
              </p:cNvPr>
              <p:cNvSpPr/>
              <p:nvPr/>
            </p:nvSpPr>
            <p:spPr>
              <a:xfrm>
                <a:off x="3613861" y="2521287"/>
                <a:ext cx="2978131" cy="2475520"/>
              </a:xfrm>
              <a:prstGeom prst="cube">
                <a:avLst>
                  <a:gd name="adj" fmla="val 27159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E7141B0B-E24F-B539-0DED-EA70602EBE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7" t="1266" r="610" b="1266"/>
              <a:stretch>
                <a:fillRect/>
              </a:stretch>
            </p:blipFill>
            <p:spPr>
              <a:xfrm>
                <a:off x="3613860" y="3190883"/>
                <a:ext cx="2307967" cy="180592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/>
              </a:sp3d>
            </p:spPr>
          </p:pic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9C66A926-C9D0-7A6C-2B8B-042E2F60FFC1}"/>
                </a:ext>
              </a:extLst>
            </p:cNvPr>
            <p:cNvGrpSpPr/>
            <p:nvPr/>
          </p:nvGrpSpPr>
          <p:grpSpPr>
            <a:xfrm>
              <a:off x="1221971" y="2754399"/>
              <a:ext cx="2283824" cy="1809288"/>
              <a:chOff x="1221971" y="2754399"/>
              <a:chExt cx="2283824" cy="1809288"/>
            </a:xfrm>
          </p:grpSpPr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5AD21474-B079-4F56-29A8-A521F78F68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D9CC399F-4A8E-8C3B-EBDF-B6062BE16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F3374814-3172-39F0-2955-2EEEE4BCCEB7}"/>
                </a:ext>
              </a:extLst>
            </p:cNvPr>
            <p:cNvGrpSpPr/>
            <p:nvPr/>
          </p:nvGrpSpPr>
          <p:grpSpPr>
            <a:xfrm>
              <a:off x="1341119" y="2632480"/>
              <a:ext cx="2283824" cy="1809288"/>
              <a:chOff x="1221971" y="2754399"/>
              <a:chExt cx="2283824" cy="1809288"/>
            </a:xfrm>
          </p:grpSpPr>
          <p:cxnSp>
            <p:nvCxnSpPr>
              <p:cNvPr id="19" name="直線コネクタ 18">
                <a:extLst>
                  <a:ext uri="{FF2B5EF4-FFF2-40B4-BE49-F238E27FC236}">
                    <a16:creationId xmlns:a16="http://schemas.microsoft.com/office/drawing/2014/main" id="{B7F4B66C-BAB3-ACA4-4798-A45276B1E9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0529F764-AB8F-2C70-A2F5-432A2C7754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8E06E426-8171-2C3C-3EE4-B90C93F1A473}"/>
                </a:ext>
              </a:extLst>
            </p:cNvPr>
            <p:cNvGrpSpPr/>
            <p:nvPr/>
          </p:nvGrpSpPr>
          <p:grpSpPr>
            <a:xfrm>
              <a:off x="1451954" y="2518872"/>
              <a:ext cx="2283824" cy="1809288"/>
              <a:chOff x="1221971" y="2754399"/>
              <a:chExt cx="2283824" cy="1809288"/>
            </a:xfrm>
          </p:grpSpPr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46AED4DB-D468-EEA8-3FB2-06CCE4C97C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2AA861AE-1AAE-6B85-2B85-2EA6A4EB8F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B95D8F62-8F34-CD9B-F615-4B35290DD014}"/>
                </a:ext>
              </a:extLst>
            </p:cNvPr>
            <p:cNvGrpSpPr/>
            <p:nvPr/>
          </p:nvGrpSpPr>
          <p:grpSpPr>
            <a:xfrm>
              <a:off x="1562789" y="2405266"/>
              <a:ext cx="2283824" cy="1809288"/>
              <a:chOff x="1221971" y="2754399"/>
              <a:chExt cx="2283824" cy="1809288"/>
            </a:xfrm>
          </p:grpSpPr>
          <p:cxnSp>
            <p:nvCxnSpPr>
              <p:cNvPr id="25" name="直線コネクタ 24">
                <a:extLst>
                  <a:ext uri="{FF2B5EF4-FFF2-40B4-BE49-F238E27FC236}">
                    <a16:creationId xmlns:a16="http://schemas.microsoft.com/office/drawing/2014/main" id="{57D2D5A3-FE37-9A79-B21E-4285F01A4C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DFF88429-9A71-8F21-8417-18B505F00F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EAC27101-763E-E131-ACB4-2C64B00D1B9D}"/>
                </a:ext>
              </a:extLst>
            </p:cNvPr>
            <p:cNvGrpSpPr/>
            <p:nvPr/>
          </p:nvGrpSpPr>
          <p:grpSpPr>
            <a:xfrm>
              <a:off x="1665311" y="2299972"/>
              <a:ext cx="2283824" cy="1809288"/>
              <a:chOff x="1221971" y="2754399"/>
              <a:chExt cx="2283824" cy="1809288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0EEFB1E2-73D2-7D76-CB86-1821FDD2F3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線コネクタ 28">
                <a:extLst>
                  <a:ext uri="{FF2B5EF4-FFF2-40B4-BE49-F238E27FC236}">
                    <a16:creationId xmlns:a16="http://schemas.microsoft.com/office/drawing/2014/main" id="{D3E5F565-A448-C2D2-9DF1-FC24C5A0FB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526995A6-3135-D8C2-DB5F-D6A35F2B0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3841" y="221238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6E3324E9-78BE-041A-E013-3C354361F7B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466241" y="2231776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7411F44A-7953-917F-4AFE-1A3E8337684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618641" y="2201296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6A527D31-D53D-19FD-271D-E62AFE50AF0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771041" y="221238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EF27BD2A-7534-FB1C-8F4E-8D02B312FDC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923441" y="221515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C1FD238D-3785-9880-F3EB-3E2C6434AF3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075841" y="2209610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A2279E0B-9AB4-8F3B-8F96-6DE3182F240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228241" y="2220694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8BA97BAE-96D6-905F-B387-309838D38CB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380641" y="2215153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E4AFBDB9-3846-9F90-F9B3-76DBE6C0916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33041" y="2209610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8CB517E3-C6E2-BD2C-2B9C-F5832F21ADF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685441" y="2212382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CA2A4612-D309-1DC1-E31A-1DF79C7F14E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837841" y="220684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3E18A49E-CEAB-62AC-DDBC-B6671D68401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990241" y="2201299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184540B8-7857-1965-8017-B5FB69218E3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142641" y="2220694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1D1963B6-1093-CDE9-0CBA-E6909C24ACE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373094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2634DB43-E236-3E7B-DF54-AFB9082CE99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5338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9C03A631-888F-22BE-CDFF-ADCC8992CAA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6862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712F9D37-66E3-8766-B913-51732CD64C1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8386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756D83AA-D377-7D49-07AE-00062EADD1B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9910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8DDDD02E-AD14-BE85-84B5-B4B7E3EEBBD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1434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4248DC4A-CC7E-5FBD-8B11-0A6BA7D5BBA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2958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2E82AB5B-4634-601C-5C4C-24E9DB9F6B1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4482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DBE75A93-A577-7713-54CF-997B10FA441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6006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0B8DDFDE-88C8-BCC6-487F-AC8C598D0DF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7530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1395757C-07FA-19A6-EEEC-23BF3BF1690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872155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490170" name="テキスト ボックス 2"/>
          <p:cNvSpPr txBox="1"/>
          <p:nvPr/>
        </p:nvSpPr>
        <p:spPr bwMode="auto">
          <a:xfrm flipH="1">
            <a:off x="495660" y="1045029"/>
            <a:ext cx="48455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1.</a:t>
            </a:r>
            <a:r>
              <a:rPr lang="ja-JP" sz="2400">
                <a:latin typeface="BIZ UDPゴシック"/>
                <a:ea typeface="BIZ UDPゴシック"/>
              </a:rPr>
              <a:t>アンケートデータの俯瞰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2.</a:t>
            </a:r>
            <a:r>
              <a:rPr lang="ja-JP" sz="2400">
                <a:latin typeface="BIZ UDPゴシック"/>
                <a:ea typeface="BIZ UDPゴシック"/>
              </a:rPr>
              <a:t>アンケートのクラスタリング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3.</a:t>
            </a:r>
            <a:r>
              <a:rPr lang="ja-JP" sz="2400">
                <a:latin typeface="BIZ UDPゴシック"/>
                <a:ea typeface="BIZ UDPゴシック"/>
              </a:rPr>
              <a:t>各クラスターの体質確認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4.</a:t>
            </a:r>
            <a:r>
              <a:rPr lang="ja-JP" sz="2400">
                <a:latin typeface="BIZ UDPゴシック"/>
                <a:ea typeface="BIZ UDPゴシック"/>
              </a:rPr>
              <a:t>毛髪からわかる漢方体質</a:t>
            </a:r>
            <a:endParaRPr lang="en-US" sz="2400">
              <a:latin typeface="BIZ UDPゴシック"/>
              <a:ea typeface="BIZ UDPゴシック"/>
            </a:endParaRPr>
          </a:p>
        </p:txBody>
      </p:sp>
      <p:sp>
        <p:nvSpPr>
          <p:cNvPr id="260556660" name="テキスト ボックス 3"/>
          <p:cNvSpPr txBox="1"/>
          <p:nvPr/>
        </p:nvSpPr>
        <p:spPr bwMode="auto">
          <a:xfrm>
            <a:off x="2583543" y="6139542"/>
            <a:ext cx="9844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本検討には</a:t>
            </a:r>
            <a:r>
              <a:rPr lang="en-US" sz="2400">
                <a:latin typeface="BIZ UDPゴシック"/>
                <a:ea typeface="BIZ UDPゴシック"/>
              </a:rPr>
              <a:t>2024</a:t>
            </a:r>
            <a:r>
              <a:rPr lang="ja-JP" sz="2400">
                <a:latin typeface="BIZ UDPゴシック"/>
                <a:ea typeface="BIZ UDPゴシック"/>
              </a:rPr>
              <a:t>年に取得したデータ</a:t>
            </a:r>
            <a:r>
              <a:rPr lang="en-US" sz="2400">
                <a:latin typeface="BIZ UDPゴシック"/>
                <a:ea typeface="BIZ UDPゴシック"/>
              </a:rPr>
              <a:t>1124</a:t>
            </a:r>
            <a:r>
              <a:rPr lang="ja-JP" sz="2400">
                <a:latin typeface="BIZ UDPゴシック"/>
                <a:ea typeface="BIZ UDPゴシック"/>
              </a:rPr>
              <a:t>人分（欠損値除去後）を使用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022A476-11F3-5ADC-3186-D7941E33345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976971" name="タイトル 1">
            <a:extLst>
              <a:ext uri="{FF2B5EF4-FFF2-40B4-BE49-F238E27FC236}">
                <a16:creationId xmlns:a16="http://schemas.microsoft.com/office/drawing/2014/main" id="{EB51EF52-B93A-1631-75B6-2A3A65C05585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漢方体質アンケート</a:t>
            </a:r>
            <a:endParaRPr/>
          </a:p>
        </p:txBody>
      </p:sp>
      <p:sp>
        <p:nvSpPr>
          <p:cNvPr id="16393879" name="テキスト ボックス 3">
            <a:extLst>
              <a:ext uri="{FF2B5EF4-FFF2-40B4-BE49-F238E27FC236}">
                <a16:creationId xmlns:a16="http://schemas.microsoft.com/office/drawing/2014/main" id="{D7EF80F9-7D2C-6ECB-C0C5-C520AAF2C66E}"/>
              </a:ext>
            </a:extLst>
          </p:cNvPr>
          <p:cNvSpPr txBox="1"/>
          <p:nvPr/>
        </p:nvSpPr>
        <p:spPr bwMode="auto">
          <a:xfrm>
            <a:off x="457200" y="932289"/>
            <a:ext cx="11281815" cy="82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dirty="0">
                <a:latin typeface="BIZ UDPゴシック"/>
                <a:ea typeface="BIZ UDPゴシック"/>
              </a:rPr>
              <a:t>2024</a:t>
            </a:r>
            <a:r>
              <a:rPr lang="ja-JP" sz="2400" dirty="0">
                <a:latin typeface="BIZ UDPゴシック"/>
                <a:ea typeface="BIZ UDPゴシック"/>
              </a:rPr>
              <a:t>年の弘前健診の漢方体質アンケート</a:t>
            </a:r>
            <a:r>
              <a:rPr lang="en-US" sz="2400" dirty="0">
                <a:latin typeface="BIZ UDPゴシック"/>
                <a:ea typeface="BIZ UDPゴシック"/>
              </a:rPr>
              <a:t>(69</a:t>
            </a:r>
            <a:r>
              <a:rPr lang="ja-JP" sz="2400" dirty="0">
                <a:latin typeface="BIZ UDPゴシック"/>
                <a:ea typeface="BIZ UDPゴシック"/>
              </a:rPr>
              <a:t>項目</a:t>
            </a:r>
            <a:r>
              <a:rPr lang="en-US" sz="2400" dirty="0">
                <a:latin typeface="BIZ UDPゴシック"/>
                <a:ea typeface="BIZ UDPゴシック"/>
              </a:rPr>
              <a:t>)</a:t>
            </a:r>
            <a:r>
              <a:rPr lang="ja-JP" sz="2400" dirty="0">
                <a:latin typeface="BIZ UDPゴシック"/>
                <a:ea typeface="BIZ UDPゴシック"/>
              </a:rPr>
              <a:t>をスコア化して足し合わせ、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被験者ごとに６分類それぞれのスコアを割り振る</a:t>
            </a:r>
            <a:r>
              <a:rPr dirty="0"/>
              <a:t>。</a:t>
            </a: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各ステージごとにクラスタリング</a:t>
            </a:r>
            <a:r>
              <a:rPr sz="2400" dirty="0">
                <a:latin typeface="BIZ UDPゴシック"/>
                <a:ea typeface="BIZ UDPゴシック"/>
                <a:cs typeface="BIZ UDPゴシック"/>
              </a:rPr>
              <a:t>。</a:t>
            </a:r>
            <a:endParaRPr sz="2400" dirty="0">
              <a:latin typeface="BIZ UDPゴシック"/>
              <a:cs typeface="BIZ UDPゴシック"/>
            </a:endParaRPr>
          </a:p>
        </p:txBody>
      </p:sp>
      <p:graphicFrame>
        <p:nvGraphicFramePr>
          <p:cNvPr id="1921626355" name="表 4">
            <a:extLst>
              <a:ext uri="{FF2B5EF4-FFF2-40B4-BE49-F238E27FC236}">
                <a16:creationId xmlns:a16="http://schemas.microsoft.com/office/drawing/2014/main" id="{06B9E3B4-F703-4FA1-ECF3-331F5332AB3B}"/>
              </a:ext>
            </a:extLst>
          </p:cNvPr>
          <p:cNvGraphicFramePr>
            <a:graphicFrameLocks noGrp="1"/>
          </p:cNvGraphicFramePr>
          <p:nvPr/>
        </p:nvGraphicFramePr>
        <p:xfrm>
          <a:off x="104274" y="1972733"/>
          <a:ext cx="37433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15990185" name="表 5">
            <a:extLst>
              <a:ext uri="{FF2B5EF4-FFF2-40B4-BE49-F238E27FC236}">
                <a16:creationId xmlns:a16="http://schemas.microsoft.com/office/drawing/2014/main" id="{9D652135-DF77-7DA2-FB7C-967F44B6D3D8}"/>
              </a:ext>
            </a:extLst>
          </p:cNvPr>
          <p:cNvGraphicFramePr>
            <a:graphicFrameLocks noGrp="1"/>
          </p:cNvGraphicFramePr>
          <p:nvPr/>
        </p:nvGraphicFramePr>
        <p:xfrm>
          <a:off x="7105850" y="1882128"/>
          <a:ext cx="4595814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+0.5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+1.5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58091636" name="表 6">
            <a:extLst>
              <a:ext uri="{FF2B5EF4-FFF2-40B4-BE49-F238E27FC236}">
                <a16:creationId xmlns:a16="http://schemas.microsoft.com/office/drawing/2014/main" id="{AB5317A0-42E3-A9CB-4897-DA71A6EF1665}"/>
              </a:ext>
            </a:extLst>
          </p:cNvPr>
          <p:cNvGraphicFramePr>
            <a:graphicFrameLocks noGrp="1"/>
          </p:cNvGraphicFramePr>
          <p:nvPr/>
        </p:nvGraphicFramePr>
        <p:xfrm>
          <a:off x="6508054" y="4398230"/>
          <a:ext cx="5250500" cy="232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1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39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2289458" name="矢印: 右 7">
            <a:extLst>
              <a:ext uri="{FF2B5EF4-FFF2-40B4-BE49-F238E27FC236}">
                <a16:creationId xmlns:a16="http://schemas.microsoft.com/office/drawing/2014/main" id="{64CDACC8-5E36-11D6-BEC9-003D6C97DE41}"/>
              </a:ext>
            </a:extLst>
          </p:cNvPr>
          <p:cNvSpPr/>
          <p:nvPr/>
        </p:nvSpPr>
        <p:spPr bwMode="auto">
          <a:xfrm>
            <a:off x="4220498" y="2353734"/>
            <a:ext cx="2722534" cy="5588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392733194" name="矢印: 右 8">
            <a:extLst>
              <a:ext uri="{FF2B5EF4-FFF2-40B4-BE49-F238E27FC236}">
                <a16:creationId xmlns:a16="http://schemas.microsoft.com/office/drawing/2014/main" id="{6CDBDA87-5FCD-5DDE-C8B0-A7BFB1987FB1}"/>
              </a:ext>
            </a:extLst>
          </p:cNvPr>
          <p:cNvSpPr/>
          <p:nvPr/>
        </p:nvSpPr>
        <p:spPr bwMode="auto">
          <a:xfrm>
            <a:off x="3043401" y="5002537"/>
            <a:ext cx="3052599" cy="5588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29182275" name="テキスト ボックス 9">
            <a:extLst>
              <a:ext uri="{FF2B5EF4-FFF2-40B4-BE49-F238E27FC236}">
                <a16:creationId xmlns:a16="http://schemas.microsoft.com/office/drawing/2014/main" id="{DB56515D-E16F-4449-679F-2A3AEEEC6ED9}"/>
              </a:ext>
            </a:extLst>
          </p:cNvPr>
          <p:cNvSpPr txBox="1"/>
          <p:nvPr/>
        </p:nvSpPr>
        <p:spPr bwMode="auto">
          <a:xfrm>
            <a:off x="4010418" y="3007081"/>
            <a:ext cx="32116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項目それぞれが</a:t>
            </a:r>
            <a:r>
              <a:rPr lang="en-US" sz="2400" dirty="0">
                <a:latin typeface="BIZ UDPゴシック"/>
                <a:ea typeface="BIZ UDPゴシック"/>
              </a:rPr>
              <a:t>6</a:t>
            </a:r>
            <a:r>
              <a:rPr lang="ja-JP" sz="2400" dirty="0">
                <a:latin typeface="BIZ UDPゴシック"/>
                <a:ea typeface="BIZ UDPゴシック"/>
              </a:rPr>
              <a:t>分類いずれかに該当。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係数を付けてスコア化</a:t>
            </a:r>
            <a:endParaRPr dirty="0"/>
          </a:p>
        </p:txBody>
      </p:sp>
      <p:sp>
        <p:nvSpPr>
          <p:cNvPr id="515044624" name="テキスト ボックス 10">
            <a:extLst>
              <a:ext uri="{FF2B5EF4-FFF2-40B4-BE49-F238E27FC236}">
                <a16:creationId xmlns:a16="http://schemas.microsoft.com/office/drawing/2014/main" id="{C865B2E6-9F71-401A-DEA8-10554E6EFC5E}"/>
              </a:ext>
            </a:extLst>
          </p:cNvPr>
          <p:cNvSpPr txBox="1"/>
          <p:nvPr/>
        </p:nvSpPr>
        <p:spPr bwMode="auto">
          <a:xfrm>
            <a:off x="2449798" y="5403302"/>
            <a:ext cx="3541397" cy="118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項目ごとに足し合わせることで、それぞれの体質の総合得点を算出</a:t>
            </a:r>
            <a:endParaRPr lang="en-US" sz="2400">
              <a:latin typeface="BIZ UDPゴシック"/>
              <a:ea typeface="BIZ UDPゴシック"/>
            </a:endParaRPr>
          </a:p>
        </p:txBody>
      </p:sp>
      <p:sp>
        <p:nvSpPr>
          <p:cNvPr id="301711481" name="テキスト ボックス 301711480">
            <a:extLst>
              <a:ext uri="{FF2B5EF4-FFF2-40B4-BE49-F238E27FC236}">
                <a16:creationId xmlns:a16="http://schemas.microsoft.com/office/drawing/2014/main" id="{F673BE94-EB91-3F95-8863-1E2EC68C325E}"/>
              </a:ext>
            </a:extLst>
          </p:cNvPr>
          <p:cNvSpPr txBox="1"/>
          <p:nvPr/>
        </p:nvSpPr>
        <p:spPr bwMode="auto">
          <a:xfrm>
            <a:off x="22222" y="1606612"/>
            <a:ext cx="86995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stage1</a:t>
            </a:r>
          </a:p>
        </p:txBody>
      </p:sp>
      <p:sp>
        <p:nvSpPr>
          <p:cNvPr id="594033579" name="テキスト ボックス 594033578">
            <a:extLst>
              <a:ext uri="{FF2B5EF4-FFF2-40B4-BE49-F238E27FC236}">
                <a16:creationId xmlns:a16="http://schemas.microsoft.com/office/drawing/2014/main" id="{930B8354-CBBC-E1DA-EE5A-DAC087B07D6A}"/>
              </a:ext>
            </a:extLst>
          </p:cNvPr>
          <p:cNvSpPr txBox="1"/>
          <p:nvPr/>
        </p:nvSpPr>
        <p:spPr bwMode="auto">
          <a:xfrm>
            <a:off x="7105849" y="1606612"/>
            <a:ext cx="86995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stage2</a:t>
            </a:r>
          </a:p>
        </p:txBody>
      </p:sp>
      <p:sp>
        <p:nvSpPr>
          <p:cNvPr id="697824479" name="テキスト ボックス 697824478">
            <a:extLst>
              <a:ext uri="{FF2B5EF4-FFF2-40B4-BE49-F238E27FC236}">
                <a16:creationId xmlns:a16="http://schemas.microsoft.com/office/drawing/2014/main" id="{52C6E1B4-8D9F-9E64-ECBE-90E181496EF6}"/>
              </a:ext>
            </a:extLst>
          </p:cNvPr>
          <p:cNvSpPr txBox="1"/>
          <p:nvPr/>
        </p:nvSpPr>
        <p:spPr bwMode="auto">
          <a:xfrm>
            <a:off x="6508054" y="4107411"/>
            <a:ext cx="86995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stage3</a:t>
            </a:r>
          </a:p>
        </p:txBody>
      </p:sp>
    </p:spTree>
    <p:extLst>
      <p:ext uri="{BB962C8B-B14F-4D97-AF65-F5344CB8AC3E}">
        <p14:creationId xmlns:p14="http://schemas.microsoft.com/office/powerpoint/2010/main" val="822198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1441AA4-31A9-1876-FE68-ADC23379710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133415" name="タイトル 1">
            <a:extLst>
              <a:ext uri="{FF2B5EF4-FFF2-40B4-BE49-F238E27FC236}">
                <a16:creationId xmlns:a16="http://schemas.microsoft.com/office/drawing/2014/main" id="{D88BB7E6-0415-3C00-BAE3-C6F342FFA4DC}"/>
              </a:ext>
            </a:extLst>
          </p:cNvPr>
          <p:cNvSpPr>
            <a:spLocks noGrp="1"/>
          </p:cNvSpPr>
          <p:nvPr/>
        </p:nvSpPr>
        <p:spPr bwMode="auto">
          <a:xfrm>
            <a:off x="348028" y="244810"/>
            <a:ext cx="8471848" cy="45991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>
              <a:defRPr/>
            </a:pPr>
            <a:r>
              <a:rPr lang="en-US">
                <a:latin typeface="BIZ UDPゴシック"/>
                <a:ea typeface="BIZ UDPゴシック"/>
                <a:cs typeface="BIZ UDPゴシック"/>
              </a:rPr>
              <a:t>1-</a:t>
            </a:r>
            <a:r>
              <a:rPr lang="ja-JP">
                <a:latin typeface="BIZ UDPゴシック"/>
                <a:ea typeface="BIZ UDPゴシック"/>
                <a:cs typeface="BIZ UDPゴシック"/>
              </a:rPr>
              <a:t>1</a:t>
            </a:r>
            <a:r>
              <a:rPr lang="en-US">
                <a:latin typeface="BIZ UDPゴシック"/>
                <a:ea typeface="BIZ UDPゴシック"/>
                <a:cs typeface="BIZ UDPゴシック"/>
              </a:rPr>
              <a:t>.</a:t>
            </a:r>
            <a:r>
              <a:rPr lang="ja-JP">
                <a:latin typeface="BIZ UDPゴシック"/>
                <a:ea typeface="BIZ UDPゴシック"/>
                <a:cs typeface="BIZ UDPゴシック"/>
              </a:rPr>
              <a:t> Stage1:体質アンケート68項目</a:t>
            </a:r>
            <a:endParaRPr>
              <a:latin typeface="BIZ UDPゴシック"/>
              <a:cs typeface="BIZ UDPゴシック"/>
            </a:endParaRPr>
          </a:p>
        </p:txBody>
      </p:sp>
      <p:pic>
        <p:nvPicPr>
          <p:cNvPr id="1967329794" name="図 1967329793">
            <a:extLst>
              <a:ext uri="{FF2B5EF4-FFF2-40B4-BE49-F238E27FC236}">
                <a16:creationId xmlns:a16="http://schemas.microsoft.com/office/drawing/2014/main" id="{E7E423F8-8AA0-24E9-65B7-C321C7EA77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62" y="1608495"/>
            <a:ext cx="2874435" cy="2874435"/>
          </a:xfrm>
          <a:prstGeom prst="rect">
            <a:avLst/>
          </a:prstGeom>
        </p:spPr>
      </p:pic>
      <p:pic>
        <p:nvPicPr>
          <p:cNvPr id="629403346" name="図 629403345">
            <a:extLst>
              <a:ext uri="{FF2B5EF4-FFF2-40B4-BE49-F238E27FC236}">
                <a16:creationId xmlns:a16="http://schemas.microsoft.com/office/drawing/2014/main" id="{23BE2DB5-4289-4A69-A685-7AAAD50A53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02741" y="1685310"/>
            <a:ext cx="2874435" cy="2874435"/>
          </a:xfrm>
          <a:prstGeom prst="rect">
            <a:avLst/>
          </a:prstGeom>
        </p:spPr>
      </p:pic>
      <p:pic>
        <p:nvPicPr>
          <p:cNvPr id="1180055867" name="図 1180055866">
            <a:extLst>
              <a:ext uri="{FF2B5EF4-FFF2-40B4-BE49-F238E27FC236}">
                <a16:creationId xmlns:a16="http://schemas.microsoft.com/office/drawing/2014/main" id="{4276854C-EE67-380A-3C1F-8E6DA0CD6DC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811" r="15876" b="11129"/>
          <a:stretch/>
        </p:blipFill>
        <p:spPr bwMode="auto">
          <a:xfrm>
            <a:off x="7398774" y="1685310"/>
            <a:ext cx="3492024" cy="2949677"/>
          </a:xfrm>
          <a:prstGeom prst="rect">
            <a:avLst/>
          </a:prstGeom>
        </p:spPr>
      </p:pic>
      <p:sp>
        <p:nvSpPr>
          <p:cNvPr id="882280249" name="テキスト ボックス 882280248">
            <a:extLst>
              <a:ext uri="{FF2B5EF4-FFF2-40B4-BE49-F238E27FC236}">
                <a16:creationId xmlns:a16="http://schemas.microsoft.com/office/drawing/2014/main" id="{F9E82C08-C0D0-E189-924B-15191EFEFDD1}"/>
              </a:ext>
            </a:extLst>
          </p:cNvPr>
          <p:cNvSpPr txBox="1"/>
          <p:nvPr/>
        </p:nvSpPr>
        <p:spPr bwMode="auto">
          <a:xfrm>
            <a:off x="934319" y="4750245"/>
            <a:ext cx="10569524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 dirty="0">
                <a:latin typeface="BIZ UDPゴシック"/>
                <a:ea typeface="BIZ UDPゴシック"/>
                <a:cs typeface="BIZ UDPゴシック"/>
              </a:rPr>
              <a:t>PC0は全体的な不調度を示す。（</a:t>
            </a: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どれか悪い人はどれも悪い</a:t>
            </a:r>
            <a:r>
              <a:rPr sz="2400" dirty="0">
                <a:latin typeface="BIZ UDPゴシック"/>
                <a:ea typeface="BIZ UDPゴシック"/>
                <a:cs typeface="BIZ UDPゴシック"/>
              </a:rPr>
              <a:t>）</a:t>
            </a:r>
            <a:endParaRPr sz="2400" dirty="0">
              <a:latin typeface="BIZ UDPゴシック"/>
              <a:cs typeface="BIZ UDPゴシック"/>
            </a:endParaRPr>
          </a:p>
          <a:p>
            <a:pPr>
              <a:defRPr/>
            </a:pPr>
            <a:r>
              <a:rPr sz="2400" dirty="0">
                <a:latin typeface="BIZ UDPゴシック"/>
                <a:ea typeface="BIZ UDPゴシック"/>
                <a:cs typeface="BIZ UDPゴシック"/>
              </a:rPr>
              <a:t>PC1,2,3で可視化すると、各軸、クラスの特徴がわかる。</a:t>
            </a:r>
          </a:p>
          <a:p>
            <a:pPr>
              <a:defRPr/>
            </a:pP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一部の項目</a:t>
            </a:r>
            <a:r>
              <a:rPr lang="ja-JP" sz="2400" b="0" i="0" u="none" strike="noStrike" cap="none" spc="0" dirty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（食欲と物事への興味、残尿感と下が赤黒い、頭痛と月経など）</a:t>
            </a:r>
            <a:endParaRPr sz="2400" dirty="0">
              <a:latin typeface="BIZ UDPゴシック"/>
              <a:ea typeface="BIZ UDPゴシック"/>
              <a:cs typeface="BIZ UDPゴシック"/>
            </a:endParaRPr>
          </a:p>
          <a:p>
            <a:pPr>
              <a:defRPr/>
            </a:pP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で相関が取れていることが可視化可能</a:t>
            </a:r>
            <a:r>
              <a:rPr sz="2400" dirty="0">
                <a:latin typeface="BIZ UDPゴシック"/>
                <a:ea typeface="BIZ UDPゴシック"/>
                <a:cs typeface="BIZ UDPゴシック"/>
              </a:rPr>
              <a:t>。</a:t>
            </a:r>
          </a:p>
        </p:txBody>
      </p:sp>
      <p:sp>
        <p:nvSpPr>
          <p:cNvPr id="1068766824" name="テキスト ボックス 1068766823">
            <a:extLst>
              <a:ext uri="{FF2B5EF4-FFF2-40B4-BE49-F238E27FC236}">
                <a16:creationId xmlns:a16="http://schemas.microsoft.com/office/drawing/2014/main" id="{08E46D65-9B73-A989-F808-EA3E8B41A1C4}"/>
              </a:ext>
            </a:extLst>
          </p:cNvPr>
          <p:cNvSpPr txBox="1"/>
          <p:nvPr/>
        </p:nvSpPr>
        <p:spPr bwMode="auto">
          <a:xfrm>
            <a:off x="1242895" y="2577895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n_cluster=5,7</a:t>
            </a:r>
            <a:endParaRPr>
              <a:latin typeface="BIZ UDPゴシック"/>
              <a:cs typeface="BIZ UDPゴシック"/>
            </a:endParaRPr>
          </a:p>
        </p:txBody>
      </p:sp>
      <p:sp>
        <p:nvSpPr>
          <p:cNvPr id="1267890395" name="左矢印 1267890394">
            <a:extLst>
              <a:ext uri="{FF2B5EF4-FFF2-40B4-BE49-F238E27FC236}">
                <a16:creationId xmlns:a16="http://schemas.microsoft.com/office/drawing/2014/main" id="{29EC66E4-2ACB-EA6D-90CF-1D081B340228}"/>
              </a:ext>
            </a:extLst>
          </p:cNvPr>
          <p:cNvSpPr/>
          <p:nvPr/>
        </p:nvSpPr>
        <p:spPr bwMode="auto">
          <a:xfrm rot="16199998">
            <a:off x="1168367" y="3144786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9524304" name="テキスト ボックス 1049524303">
            <a:extLst>
              <a:ext uri="{FF2B5EF4-FFF2-40B4-BE49-F238E27FC236}">
                <a16:creationId xmlns:a16="http://schemas.microsoft.com/office/drawing/2014/main" id="{E1353537-D8EE-A564-3B57-9F5D7DC96A75}"/>
              </a:ext>
            </a:extLst>
          </p:cNvPr>
          <p:cNvSpPr txBox="1"/>
          <p:nvPr/>
        </p:nvSpPr>
        <p:spPr bwMode="auto">
          <a:xfrm>
            <a:off x="569998" y="785175"/>
            <a:ext cx="8562061" cy="823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体質アンケート68項目に対し重みつけをせずクラスタリング</a:t>
            </a:r>
            <a:endParaRPr sz="2400">
              <a:latin typeface="BIZ UDPゴシック"/>
              <a:cs typeface="BIZ UDPゴシック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値の反転→StandardScaler→PCA→GMMClustering</a:t>
            </a:r>
            <a:endParaRPr sz="2400">
              <a:latin typeface="BIZ UDPゴシック"/>
              <a:cs typeface="BIZ UDPゴシック"/>
            </a:endParaRPr>
          </a:p>
        </p:txBody>
      </p:sp>
      <p:sp>
        <p:nvSpPr>
          <p:cNvPr id="1619161722" name="左矢印 1619161721">
            <a:extLst>
              <a:ext uri="{FF2B5EF4-FFF2-40B4-BE49-F238E27FC236}">
                <a16:creationId xmlns:a16="http://schemas.microsoft.com/office/drawing/2014/main" id="{AEF7B7A1-6429-F06E-0F58-5132D772AE83}"/>
              </a:ext>
            </a:extLst>
          </p:cNvPr>
          <p:cNvSpPr/>
          <p:nvPr/>
        </p:nvSpPr>
        <p:spPr bwMode="auto">
          <a:xfrm rot="16199998">
            <a:off x="1496383" y="3421318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947893" name="左矢印 572947892">
            <a:extLst>
              <a:ext uri="{FF2B5EF4-FFF2-40B4-BE49-F238E27FC236}">
                <a16:creationId xmlns:a16="http://schemas.microsoft.com/office/drawing/2014/main" id="{7A5030A4-7CD7-5093-6A01-800A16FC8E33}"/>
              </a:ext>
            </a:extLst>
          </p:cNvPr>
          <p:cNvSpPr/>
          <p:nvPr/>
        </p:nvSpPr>
        <p:spPr bwMode="auto">
          <a:xfrm rot="16199998">
            <a:off x="4712763" y="2753273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0020059" name="左矢印 1240020058">
            <a:extLst>
              <a:ext uri="{FF2B5EF4-FFF2-40B4-BE49-F238E27FC236}">
                <a16:creationId xmlns:a16="http://schemas.microsoft.com/office/drawing/2014/main" id="{64CC0A9C-CFEB-AA98-875C-78F1C14D1556}"/>
              </a:ext>
            </a:extLst>
          </p:cNvPr>
          <p:cNvSpPr/>
          <p:nvPr/>
        </p:nvSpPr>
        <p:spPr bwMode="auto">
          <a:xfrm rot="16199998">
            <a:off x="5004658" y="3038032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6881242" name="テキスト ボックス 486881241">
            <a:extLst>
              <a:ext uri="{FF2B5EF4-FFF2-40B4-BE49-F238E27FC236}">
                <a16:creationId xmlns:a16="http://schemas.microsoft.com/office/drawing/2014/main" id="{E16E16F4-6D20-E67A-7BDE-7FAC64A0B6AF}"/>
              </a:ext>
            </a:extLst>
          </p:cNvPr>
          <p:cNvSpPr txBox="1"/>
          <p:nvPr/>
        </p:nvSpPr>
        <p:spPr bwMode="auto">
          <a:xfrm>
            <a:off x="4507647" y="2394835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n_cluster=5,7</a:t>
            </a:r>
            <a:endParaRPr>
              <a:latin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132298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0BC9159-636C-E270-8423-BD613F95C4D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533808" name="タイトル 1">
            <a:extLst>
              <a:ext uri="{FF2B5EF4-FFF2-40B4-BE49-F238E27FC236}">
                <a16:creationId xmlns:a16="http://schemas.microsoft.com/office/drawing/2014/main" id="{1AC48F9B-5E74-21FA-3660-B78484E6EBC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4274" y="244809"/>
            <a:ext cx="6703064" cy="45991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1-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1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.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 Stage1:体質アンケート68項目</a:t>
            </a:r>
            <a:endParaRPr/>
          </a:p>
        </p:txBody>
      </p:sp>
      <p:graphicFrame>
        <p:nvGraphicFramePr>
          <p:cNvPr id="739705908" name="表 739705907">
            <a:extLst>
              <a:ext uri="{FF2B5EF4-FFF2-40B4-BE49-F238E27FC236}">
                <a16:creationId xmlns:a16="http://schemas.microsoft.com/office/drawing/2014/main" id="{86DA8635-F1CA-3CD6-EFF9-A21A9BCA7D48}"/>
              </a:ext>
            </a:extLst>
          </p:cNvPr>
          <p:cNvGraphicFramePr>
            <a:graphicFrameLocks/>
          </p:cNvGraphicFramePr>
          <p:nvPr/>
        </p:nvGraphicFramePr>
        <p:xfrm>
          <a:off x="104274" y="868506"/>
          <a:ext cx="12005222" cy="5011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1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5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2071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クラスター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人数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構成比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PC0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PC1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PC2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PC3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体質分類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78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寄与率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100%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18.19%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3.6%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3.25%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2.96%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65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ｃｌｓ_0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17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1.5%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10.780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4.539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2.108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0.681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高症状・複合不調群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71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953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83.7%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-0.757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0.083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-0.116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0.032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低症状群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65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44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3.9%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3.149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0.081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-1.095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-0.756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血行・水分・末梢症状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3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78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6.9%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2.063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-2.479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-0.237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0.043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月経・疲労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65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5.183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0.733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3.073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-0.266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気力・意欲・食欲低下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6853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正の負荷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全項目の症状が相対多い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残尿感、舌が赤黒い、嘔吐、胸・喉のつかえ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興味低下、食欲不振、吐き気、気力低下、だるさ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下痢、水様便、腹痛、腹鳴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6853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負の負荷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全項目の症状が相対的に少ない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月経異常、疲労、朝起きにくい、頭重い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血管の浮き、手が赤い、青あざ、痰、足のつり、むくみ、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腹筋の弱さ、足のつり、動悸、めまい、朝のこわばり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47798141" name="テキスト ボックス 647798140">
            <a:extLst>
              <a:ext uri="{FF2B5EF4-FFF2-40B4-BE49-F238E27FC236}">
                <a16:creationId xmlns:a16="http://schemas.microsoft.com/office/drawing/2014/main" id="{B62955B6-6A65-0DA2-0BD0-7BCC16A03DDF}"/>
              </a:ext>
            </a:extLst>
          </p:cNvPr>
          <p:cNvSpPr txBox="1"/>
          <p:nvPr/>
        </p:nvSpPr>
        <p:spPr bwMode="auto">
          <a:xfrm>
            <a:off x="167171" y="5909193"/>
            <a:ext cx="11875924" cy="823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多くは「特に不調のない群」に分類される。PC3まででも累積30%行かず解釈は難しい。</a:t>
            </a:r>
          </a:p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主成分分析にて可視化される「足のつりとむくみに相関がある」などのの解釈が重要？</a:t>
            </a:r>
          </a:p>
        </p:txBody>
      </p:sp>
    </p:spTree>
    <p:extLst>
      <p:ext uri="{BB962C8B-B14F-4D97-AF65-F5344CB8AC3E}">
        <p14:creationId xmlns:p14="http://schemas.microsoft.com/office/powerpoint/2010/main" val="2512550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9A83AC-56CF-BD44-0321-EB41B29BBE3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477641" name="タイトル 1">
            <a:extLst>
              <a:ext uri="{FF2B5EF4-FFF2-40B4-BE49-F238E27FC236}">
                <a16:creationId xmlns:a16="http://schemas.microsoft.com/office/drawing/2014/main" id="{891C87E1-BC2A-87A4-A5BB-812F9A56816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4274" y="244809"/>
            <a:ext cx="8239354" cy="45991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1-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2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.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 Stage2:体質アンケート重みつけ71項目</a:t>
            </a:r>
            <a:endParaRPr/>
          </a:p>
        </p:txBody>
      </p:sp>
      <p:pic>
        <p:nvPicPr>
          <p:cNvPr id="663720455" name="図 663720454">
            <a:extLst>
              <a:ext uri="{FF2B5EF4-FFF2-40B4-BE49-F238E27FC236}">
                <a16:creationId xmlns:a16="http://schemas.microsoft.com/office/drawing/2014/main" id="{352E26A7-ED0F-8480-B3E5-F525C70367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6158" y="1799166"/>
            <a:ext cx="2451919" cy="2451919"/>
          </a:xfrm>
          <a:prstGeom prst="rect">
            <a:avLst/>
          </a:prstGeom>
        </p:spPr>
      </p:pic>
      <p:pic>
        <p:nvPicPr>
          <p:cNvPr id="1977074067" name="図 1977074066">
            <a:extLst>
              <a:ext uri="{FF2B5EF4-FFF2-40B4-BE49-F238E27FC236}">
                <a16:creationId xmlns:a16="http://schemas.microsoft.com/office/drawing/2014/main" id="{D1AF36EC-C94B-757A-7A1E-E6A96D4EB2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929029" y="1799166"/>
            <a:ext cx="2451919" cy="2451919"/>
          </a:xfrm>
          <a:prstGeom prst="rect">
            <a:avLst/>
          </a:prstGeom>
        </p:spPr>
      </p:pic>
      <p:pic>
        <p:nvPicPr>
          <p:cNvPr id="723738521" name="図 723738520">
            <a:extLst>
              <a:ext uri="{FF2B5EF4-FFF2-40B4-BE49-F238E27FC236}">
                <a16:creationId xmlns:a16="http://schemas.microsoft.com/office/drawing/2014/main" id="{A57DD8BA-C99E-6D3B-F07C-102596D45E8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80" t="30241" r="27978" b="13082"/>
          <a:stretch/>
        </p:blipFill>
        <p:spPr bwMode="auto">
          <a:xfrm>
            <a:off x="6726545" y="1662276"/>
            <a:ext cx="4254499" cy="3724527"/>
          </a:xfrm>
          <a:prstGeom prst="rect">
            <a:avLst/>
          </a:prstGeom>
        </p:spPr>
      </p:pic>
      <p:sp>
        <p:nvSpPr>
          <p:cNvPr id="57151199" name="楕円 57151198">
            <a:extLst>
              <a:ext uri="{FF2B5EF4-FFF2-40B4-BE49-F238E27FC236}">
                <a16:creationId xmlns:a16="http://schemas.microsoft.com/office/drawing/2014/main" id="{5A0836FA-63A4-D9B1-3C82-DA90970BFA6E}"/>
              </a:ext>
            </a:extLst>
          </p:cNvPr>
          <p:cNvSpPr/>
          <p:nvPr/>
        </p:nvSpPr>
        <p:spPr bwMode="auto">
          <a:xfrm rot="2700000">
            <a:off x="8620432" y="1798253"/>
            <a:ext cx="466725" cy="22394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233098942" name="テキスト ボックス 1233098941">
            <a:extLst>
              <a:ext uri="{FF2B5EF4-FFF2-40B4-BE49-F238E27FC236}">
                <a16:creationId xmlns:a16="http://schemas.microsoft.com/office/drawing/2014/main" id="{A1B56AF0-C3C0-2152-CBEE-67CA0D7639FF}"/>
              </a:ext>
            </a:extLst>
          </p:cNvPr>
          <p:cNvSpPr txBox="1"/>
          <p:nvPr/>
        </p:nvSpPr>
        <p:spPr bwMode="auto">
          <a:xfrm>
            <a:off x="2592057" y="5386804"/>
            <a:ext cx="7218519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データが筋状にまとまっている</a:t>
            </a:r>
            <a:endParaRPr sz="2400" dirty="0">
              <a:latin typeface="BIZ UDPゴシック"/>
              <a:ea typeface="BIZ UDPゴシック"/>
              <a:cs typeface="BIZ UDPゴシック"/>
            </a:endParaRPr>
          </a:p>
          <a:p>
            <a:pPr>
              <a:defRPr/>
            </a:pPr>
            <a:r>
              <a:rPr sz="2400" dirty="0">
                <a:latin typeface="BIZ UDPゴシック"/>
                <a:ea typeface="BIZ UDPゴシック"/>
                <a:cs typeface="BIZ UDPゴシック"/>
              </a:rPr>
              <a:t>→</a:t>
            </a: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重みの強いいくつかの項目が支配的になっており</a:t>
            </a:r>
            <a:r>
              <a:rPr sz="2400" dirty="0">
                <a:latin typeface="BIZ UDPゴシック"/>
                <a:ea typeface="BIZ UDPゴシック"/>
                <a:cs typeface="BIZ UDPゴシック"/>
              </a:rPr>
              <a:t>、</a:t>
            </a:r>
          </a:p>
          <a:p>
            <a:pPr>
              <a:defRPr/>
            </a:pP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クラスタリングに適したデータ構造ではない</a:t>
            </a:r>
            <a:r>
              <a:rPr sz="2400" dirty="0">
                <a:latin typeface="BIZ UDPゴシック"/>
                <a:ea typeface="BIZ UDPゴシック"/>
                <a:cs typeface="BIZ UDPゴシック"/>
              </a:rPr>
              <a:t>。</a:t>
            </a:r>
          </a:p>
        </p:txBody>
      </p:sp>
      <p:sp>
        <p:nvSpPr>
          <p:cNvPr id="583834543" name="テキスト ボックス 583834542">
            <a:extLst>
              <a:ext uri="{FF2B5EF4-FFF2-40B4-BE49-F238E27FC236}">
                <a16:creationId xmlns:a16="http://schemas.microsoft.com/office/drawing/2014/main" id="{29223C82-C716-A14D-F76B-590A90653A37}"/>
              </a:ext>
            </a:extLst>
          </p:cNvPr>
          <p:cNvSpPr txBox="1"/>
          <p:nvPr/>
        </p:nvSpPr>
        <p:spPr bwMode="auto">
          <a:xfrm>
            <a:off x="1275572" y="2108167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n_cluster=3,6</a:t>
            </a:r>
            <a:endParaRPr>
              <a:latin typeface="BIZ UDPゴシック"/>
              <a:cs typeface="BIZ UDPゴシック"/>
            </a:endParaRPr>
          </a:p>
        </p:txBody>
      </p:sp>
      <p:sp>
        <p:nvSpPr>
          <p:cNvPr id="483751795" name="左矢印 483751794">
            <a:extLst>
              <a:ext uri="{FF2B5EF4-FFF2-40B4-BE49-F238E27FC236}">
                <a16:creationId xmlns:a16="http://schemas.microsoft.com/office/drawing/2014/main" id="{5C187E97-575F-3E9C-C772-BC3B2397BF12}"/>
              </a:ext>
            </a:extLst>
          </p:cNvPr>
          <p:cNvSpPr/>
          <p:nvPr/>
        </p:nvSpPr>
        <p:spPr bwMode="auto">
          <a:xfrm rot="16199998">
            <a:off x="1283253" y="2527538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238731" name="左矢印 156238730">
            <a:extLst>
              <a:ext uri="{FF2B5EF4-FFF2-40B4-BE49-F238E27FC236}">
                <a16:creationId xmlns:a16="http://schemas.microsoft.com/office/drawing/2014/main" id="{A61C1765-AE43-8AA1-0880-CCAB9DDFDBAD}"/>
              </a:ext>
            </a:extLst>
          </p:cNvPr>
          <p:cNvSpPr/>
          <p:nvPr/>
        </p:nvSpPr>
        <p:spPr bwMode="auto">
          <a:xfrm rot="16199998">
            <a:off x="1693851" y="3240327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7121156" name="テキスト ボックス 967121155">
            <a:extLst>
              <a:ext uri="{FF2B5EF4-FFF2-40B4-BE49-F238E27FC236}">
                <a16:creationId xmlns:a16="http://schemas.microsoft.com/office/drawing/2014/main" id="{4BB7F210-8A12-37A8-2AA0-6A7A9031A347}"/>
              </a:ext>
            </a:extLst>
          </p:cNvPr>
          <p:cNvSpPr txBox="1"/>
          <p:nvPr/>
        </p:nvSpPr>
        <p:spPr bwMode="auto">
          <a:xfrm>
            <a:off x="3818500" y="2047234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n_cluster=3,6</a:t>
            </a:r>
            <a:endParaRPr>
              <a:latin typeface="BIZ UDPゴシック"/>
              <a:cs typeface="BIZ UDPゴシック"/>
            </a:endParaRPr>
          </a:p>
        </p:txBody>
      </p:sp>
      <p:sp>
        <p:nvSpPr>
          <p:cNvPr id="763879101" name="左矢印 763879100">
            <a:extLst>
              <a:ext uri="{FF2B5EF4-FFF2-40B4-BE49-F238E27FC236}">
                <a16:creationId xmlns:a16="http://schemas.microsoft.com/office/drawing/2014/main" id="{12B3495B-E319-E1E9-0F09-2A386A1EA41F}"/>
              </a:ext>
            </a:extLst>
          </p:cNvPr>
          <p:cNvSpPr/>
          <p:nvPr/>
        </p:nvSpPr>
        <p:spPr bwMode="auto">
          <a:xfrm rot="16199998">
            <a:off x="3675087" y="2283545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3339466" name="左矢印 1393339465">
            <a:extLst>
              <a:ext uri="{FF2B5EF4-FFF2-40B4-BE49-F238E27FC236}">
                <a16:creationId xmlns:a16="http://schemas.microsoft.com/office/drawing/2014/main" id="{AFB8F650-F8AC-8BED-53CB-DD2718AB45FD}"/>
              </a:ext>
            </a:extLst>
          </p:cNvPr>
          <p:cNvSpPr/>
          <p:nvPr/>
        </p:nvSpPr>
        <p:spPr bwMode="auto">
          <a:xfrm rot="16199998">
            <a:off x="4085685" y="2996334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8805960" name="テキスト ボックス 1158805959">
            <a:extLst>
              <a:ext uri="{FF2B5EF4-FFF2-40B4-BE49-F238E27FC236}">
                <a16:creationId xmlns:a16="http://schemas.microsoft.com/office/drawing/2014/main" id="{87ECCA07-7B13-CFDB-B678-DA1C98B5B251}"/>
              </a:ext>
            </a:extLst>
          </p:cNvPr>
          <p:cNvSpPr txBox="1"/>
          <p:nvPr/>
        </p:nvSpPr>
        <p:spPr bwMode="auto">
          <a:xfrm>
            <a:off x="88868" y="891009"/>
            <a:ext cx="8662660" cy="823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重みつけ71項目値をそのままクラスタリング</a:t>
            </a:r>
            <a:endParaRPr sz="2400">
              <a:latin typeface="BIZ UDPゴシック"/>
              <a:cs typeface="BIZ UDPゴシック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重み付きスコア→（scalerなし）→PCA→GMMClustering</a:t>
            </a:r>
            <a:endParaRPr sz="2400">
              <a:latin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391315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EBCD8C7-E6D8-D77B-F86E-0F9F093112C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4090790" name="図 1854090789">
            <a:extLst>
              <a:ext uri="{FF2B5EF4-FFF2-40B4-BE49-F238E27FC236}">
                <a16:creationId xmlns:a16="http://schemas.microsoft.com/office/drawing/2014/main" id="{22122F6D-A51D-1CA8-30AB-718D169EA8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20394" y="1636269"/>
            <a:ext cx="3429000" cy="3429000"/>
          </a:xfrm>
          <a:prstGeom prst="rect">
            <a:avLst/>
          </a:prstGeom>
        </p:spPr>
      </p:pic>
      <p:pic>
        <p:nvPicPr>
          <p:cNvPr id="1487860015" name="図 1487860014">
            <a:extLst>
              <a:ext uri="{FF2B5EF4-FFF2-40B4-BE49-F238E27FC236}">
                <a16:creationId xmlns:a16="http://schemas.microsoft.com/office/drawing/2014/main" id="{A2C0A190-CC3C-C97C-6F7F-958FA65926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-190499" y="1636269"/>
            <a:ext cx="3429000" cy="3429000"/>
          </a:xfrm>
          <a:prstGeom prst="rect">
            <a:avLst/>
          </a:prstGeom>
        </p:spPr>
      </p:pic>
      <p:sp>
        <p:nvSpPr>
          <p:cNvPr id="682818561" name="タイトル 1">
            <a:extLst>
              <a:ext uri="{FF2B5EF4-FFF2-40B4-BE49-F238E27FC236}">
                <a16:creationId xmlns:a16="http://schemas.microsoft.com/office/drawing/2014/main" id="{EA63922B-4A6D-712E-5FA3-A92607866EC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4274" y="169333"/>
            <a:ext cx="7009892" cy="53539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/>
              <a:t>1-</a:t>
            </a:r>
            <a:r>
              <a:rPr lang="ja-JP"/>
              <a:t>3</a:t>
            </a:r>
            <a:r>
              <a:rPr lang="en-US"/>
              <a:t>.</a:t>
            </a:r>
            <a:r>
              <a:rPr lang="ja-JP"/>
              <a:t>Stage3クラスタリング:総合６分類</a:t>
            </a:r>
            <a:endParaRPr/>
          </a:p>
        </p:txBody>
      </p:sp>
      <p:sp>
        <p:nvSpPr>
          <p:cNvPr id="257613362" name="タイトル 1">
            <a:extLst>
              <a:ext uri="{FF2B5EF4-FFF2-40B4-BE49-F238E27FC236}">
                <a16:creationId xmlns:a16="http://schemas.microsoft.com/office/drawing/2014/main" id="{D584F3F8-2732-878B-ECB5-D92363B374C2}"/>
              </a:ext>
            </a:extLst>
          </p:cNvPr>
          <p:cNvSpPr txBox="1"/>
          <p:nvPr/>
        </p:nvSpPr>
        <p:spPr bwMode="auto">
          <a:xfrm>
            <a:off x="104274" y="891047"/>
            <a:ext cx="12217612" cy="420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BIZ UDPゴシック"/>
                <a:ea typeface="BIZ UDPゴシック"/>
                <a:cs typeface="+mj-cs"/>
              </a:defRPr>
            </a:lvl1pPr>
          </a:lstStyle>
          <a:p>
            <a:pPr>
              <a:defRPr/>
            </a:pPr>
            <a:r>
              <a:rPr lang="en-US" sz="2400"/>
              <a:t>6</a:t>
            </a:r>
            <a:r>
              <a:rPr lang="ja-JP" sz="2400"/>
              <a:t>項目について、クラスタリング（</a:t>
            </a:r>
            <a:r>
              <a:rPr lang="en-US" sz="2400"/>
              <a:t>Scaler</a:t>
            </a:r>
            <a:r>
              <a:rPr lang="ja-JP" sz="2400"/>
              <a:t>→PCA→PC0削除→</a:t>
            </a:r>
            <a:r>
              <a:rPr lang="en-US" sz="2400"/>
              <a:t>GMMCluster</a:t>
            </a:r>
            <a:r>
              <a:rPr lang="ja-JP" sz="2400"/>
              <a:t>）を実施。</a:t>
            </a:r>
            <a:endParaRPr lang="en-US" sz="2400"/>
          </a:p>
        </p:txBody>
      </p:sp>
      <p:sp>
        <p:nvSpPr>
          <p:cNvPr id="492182204" name="テキスト ボックス 7">
            <a:extLst>
              <a:ext uri="{FF2B5EF4-FFF2-40B4-BE49-F238E27FC236}">
                <a16:creationId xmlns:a16="http://schemas.microsoft.com/office/drawing/2014/main" id="{A2BBD96F-2C28-F7A5-0D74-6B4B7AA0FB5A}"/>
              </a:ext>
            </a:extLst>
          </p:cNvPr>
          <p:cNvSpPr txBox="1"/>
          <p:nvPr/>
        </p:nvSpPr>
        <p:spPr bwMode="auto">
          <a:xfrm>
            <a:off x="2019462" y="1266131"/>
            <a:ext cx="2515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クラスター数決定</a:t>
            </a:r>
            <a:endParaRPr/>
          </a:p>
        </p:txBody>
      </p:sp>
      <p:sp>
        <p:nvSpPr>
          <p:cNvPr id="1162629766" name="テキスト ボックス 8">
            <a:extLst>
              <a:ext uri="{FF2B5EF4-FFF2-40B4-BE49-F238E27FC236}">
                <a16:creationId xmlns:a16="http://schemas.microsoft.com/office/drawing/2014/main" id="{7FD41FE1-36E7-A818-8BD7-12FAEC40EFFC}"/>
              </a:ext>
            </a:extLst>
          </p:cNvPr>
          <p:cNvSpPr txBox="1"/>
          <p:nvPr/>
        </p:nvSpPr>
        <p:spPr bwMode="auto">
          <a:xfrm>
            <a:off x="697584" y="5065270"/>
            <a:ext cx="5307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AIC,BIC</a:t>
            </a:r>
            <a:r>
              <a:rPr lang="ja-JP" sz="2400">
                <a:latin typeface="BIZ UDPゴシック"/>
                <a:ea typeface="BIZ UDPゴシック"/>
              </a:rPr>
              <a:t>で、</a:t>
            </a:r>
            <a:r>
              <a:rPr lang="en-US" sz="2400">
                <a:latin typeface="BIZ UDPゴシック"/>
                <a:ea typeface="BIZ UDPゴシック"/>
              </a:rPr>
              <a:t>n_cluster =7</a:t>
            </a:r>
            <a:r>
              <a:rPr lang="ja-JP" sz="2400">
                <a:latin typeface="BIZ UDPゴシック"/>
                <a:ea typeface="BIZ UDPゴシック"/>
              </a:rPr>
              <a:t>において当てはまりの良さを確認。</a:t>
            </a:r>
          </a:p>
        </p:txBody>
      </p:sp>
      <p:sp>
        <p:nvSpPr>
          <p:cNvPr id="842289188" name="テキスト ボックス 13">
            <a:extLst>
              <a:ext uri="{FF2B5EF4-FFF2-40B4-BE49-F238E27FC236}">
                <a16:creationId xmlns:a16="http://schemas.microsoft.com/office/drawing/2014/main" id="{33F963D5-8B1E-A693-5504-D37876D4B231}"/>
              </a:ext>
            </a:extLst>
          </p:cNvPr>
          <p:cNvSpPr txBox="1"/>
          <p:nvPr/>
        </p:nvSpPr>
        <p:spPr bwMode="auto">
          <a:xfrm>
            <a:off x="1050198" y="2535091"/>
            <a:ext cx="1180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latin typeface="BIZ UDPゴシック"/>
                <a:ea typeface="BIZ UDPゴシック"/>
              </a:rPr>
              <a:t>n_cluster=7</a:t>
            </a:r>
            <a:endParaRPr lang="ja-JP" sz="1200">
              <a:latin typeface="BIZ UDPゴシック"/>
              <a:ea typeface="BIZ UDPゴシック"/>
            </a:endParaRPr>
          </a:p>
        </p:txBody>
      </p:sp>
      <p:sp>
        <p:nvSpPr>
          <p:cNvPr id="1852665225" name="テキスト ボックス 16">
            <a:extLst>
              <a:ext uri="{FF2B5EF4-FFF2-40B4-BE49-F238E27FC236}">
                <a16:creationId xmlns:a16="http://schemas.microsoft.com/office/drawing/2014/main" id="{C74B7726-38C1-2CCF-0D94-282F55468BF2}"/>
              </a:ext>
            </a:extLst>
          </p:cNvPr>
          <p:cNvSpPr txBox="1"/>
          <p:nvPr/>
        </p:nvSpPr>
        <p:spPr bwMode="auto">
          <a:xfrm>
            <a:off x="4246517" y="2396592"/>
            <a:ext cx="1180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latin typeface="BIZ UDPゴシック"/>
                <a:ea typeface="BIZ UDPゴシック"/>
              </a:rPr>
              <a:t>n_cluster=7</a:t>
            </a:r>
            <a:endParaRPr lang="ja-JP" sz="1200">
              <a:latin typeface="BIZ UDPゴシック"/>
              <a:ea typeface="BIZ UDPゴシック"/>
            </a:endParaRPr>
          </a:p>
        </p:txBody>
      </p:sp>
      <p:sp>
        <p:nvSpPr>
          <p:cNvPr id="1241072989" name="左矢印 1241072988">
            <a:extLst>
              <a:ext uri="{FF2B5EF4-FFF2-40B4-BE49-F238E27FC236}">
                <a16:creationId xmlns:a16="http://schemas.microsoft.com/office/drawing/2014/main" id="{2DCB5083-818F-A0D3-7CB2-D38EBEDC79EF}"/>
              </a:ext>
            </a:extLst>
          </p:cNvPr>
          <p:cNvSpPr/>
          <p:nvPr/>
        </p:nvSpPr>
        <p:spPr bwMode="auto">
          <a:xfrm rot="16199999">
            <a:off x="1238249" y="3128519"/>
            <a:ext cx="571500" cy="444499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245881" name="左矢印 650245880">
            <a:extLst>
              <a:ext uri="{FF2B5EF4-FFF2-40B4-BE49-F238E27FC236}">
                <a16:creationId xmlns:a16="http://schemas.microsoft.com/office/drawing/2014/main" id="{121B60AD-5161-F9A0-1E6E-E138427CE884}"/>
              </a:ext>
            </a:extLst>
          </p:cNvPr>
          <p:cNvSpPr/>
          <p:nvPr/>
        </p:nvSpPr>
        <p:spPr bwMode="auto">
          <a:xfrm rot="16199999">
            <a:off x="4328583" y="2815101"/>
            <a:ext cx="571500" cy="444499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61551100" name="図 1261551099">
            <a:extLst>
              <a:ext uri="{FF2B5EF4-FFF2-40B4-BE49-F238E27FC236}">
                <a16:creationId xmlns:a16="http://schemas.microsoft.com/office/drawing/2014/main" id="{90AABE3C-AFE7-13FD-9B44-F720D7FE0B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333" t="31481" r="24659" b="9567"/>
          <a:stretch/>
        </p:blipFill>
        <p:spPr bwMode="auto">
          <a:xfrm>
            <a:off x="7356681" y="1496964"/>
            <a:ext cx="4138985" cy="3641352"/>
          </a:xfrm>
          <a:prstGeom prst="rect">
            <a:avLst/>
          </a:prstGeom>
        </p:spPr>
      </p:pic>
      <p:sp>
        <p:nvSpPr>
          <p:cNvPr id="1540850257" name="テキスト ボックス 8">
            <a:extLst>
              <a:ext uri="{FF2B5EF4-FFF2-40B4-BE49-F238E27FC236}">
                <a16:creationId xmlns:a16="http://schemas.microsoft.com/office/drawing/2014/main" id="{3B4C025C-BA80-61CC-EB45-8417C6FDAC8C}"/>
              </a:ext>
            </a:extLst>
          </p:cNvPr>
          <p:cNvSpPr txBox="1"/>
          <p:nvPr/>
        </p:nvSpPr>
        <p:spPr bwMode="auto">
          <a:xfrm>
            <a:off x="6261874" y="5065269"/>
            <a:ext cx="5899005" cy="118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PC0は「全体不調度」を示すため、</a:t>
            </a: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除外して特徴を持つ要素でクラスター化。</a:t>
            </a: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それでも「健康群」は形成される</a:t>
            </a:r>
          </a:p>
        </p:txBody>
      </p:sp>
    </p:spTree>
    <p:extLst>
      <p:ext uri="{BB962C8B-B14F-4D97-AF65-F5344CB8AC3E}">
        <p14:creationId xmlns:p14="http://schemas.microsoft.com/office/powerpoint/2010/main" val="2242838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B8BC5FE-6931-0095-9B87-FD6ECD5C036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461172" name="タイトル 1">
            <a:extLst>
              <a:ext uri="{FF2B5EF4-FFF2-40B4-BE49-F238E27FC236}">
                <a16:creationId xmlns:a16="http://schemas.microsoft.com/office/drawing/2014/main" id="{CC18CCEC-2FD7-7157-8289-E484BADEF01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4274" y="244809"/>
            <a:ext cx="7947459" cy="45991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/>
              <a:t>1-</a:t>
            </a:r>
            <a:r>
              <a:rPr lang="ja-JP"/>
              <a:t>3.クラスター分析(総合６分類)の結果</a:t>
            </a:r>
          </a:p>
        </p:txBody>
      </p:sp>
      <p:sp>
        <p:nvSpPr>
          <p:cNvPr id="933846835" name="テキスト ボックス 8">
            <a:extLst>
              <a:ext uri="{FF2B5EF4-FFF2-40B4-BE49-F238E27FC236}">
                <a16:creationId xmlns:a16="http://schemas.microsoft.com/office/drawing/2014/main" id="{522B48D4-3CE7-8201-D479-1C5AA0FF2E52}"/>
              </a:ext>
            </a:extLst>
          </p:cNvPr>
          <p:cNvSpPr txBox="1"/>
          <p:nvPr/>
        </p:nvSpPr>
        <p:spPr bwMode="auto">
          <a:xfrm>
            <a:off x="580193" y="5316725"/>
            <a:ext cx="11465605" cy="1189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PC0</a:t>
            </a:r>
            <a:r>
              <a:rPr lang="ja-JP" sz="2400">
                <a:latin typeface="BIZ UDPゴシック"/>
                <a:ea typeface="BIZ UDPゴシック"/>
              </a:rPr>
              <a:t>は全てプラス→特定症状ではなく全体的な不調度。非常に大きく除外。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PC1</a:t>
            </a:r>
            <a:r>
              <a:rPr lang="ja-JP" sz="2400">
                <a:latin typeface="BIZ UDPゴシック"/>
                <a:ea typeface="BIZ UDPゴシック"/>
              </a:rPr>
              <a:t>-5を使いn_cls=7とすると、健康群+6分類が可能。漢方体質ごとの特徴あり。</a:t>
            </a: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・血虚は特定の群の第一体質には出現せず、第２体質として現れている。</a:t>
            </a:r>
          </a:p>
        </p:txBody>
      </p:sp>
      <p:graphicFrame>
        <p:nvGraphicFramePr>
          <p:cNvPr id="643700990" name="表 643700989">
            <a:extLst>
              <a:ext uri="{FF2B5EF4-FFF2-40B4-BE49-F238E27FC236}">
                <a16:creationId xmlns:a16="http://schemas.microsoft.com/office/drawing/2014/main" id="{23FA2AE5-6C6F-2D29-32D0-5906020C3528}"/>
              </a:ext>
            </a:extLst>
          </p:cNvPr>
          <p:cNvGraphicFramePr>
            <a:graphicFrameLocks/>
          </p:cNvGraphicFramePr>
          <p:nvPr/>
        </p:nvGraphicFramePr>
        <p:xfrm>
          <a:off x="14003" y="907397"/>
          <a:ext cx="12733868" cy="4264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3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人数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構成比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PC1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PC2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PC3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PC4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PC5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第一体質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第2体質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相対的特徴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70.32%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8.48%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6.33%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5.56%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4.87%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4.45%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3.20%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0.562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-0.143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1.235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水滞 +1.150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瘀血 +0.184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PC5が突出した水滞群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cls_1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-0.511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-0.507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1.063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-0.253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0.006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 +0.600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 +0.314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PC3正側による気虚群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cls_2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3.90%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-1.327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-0.019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0.091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0.912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-0.392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気鬱 +1.257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 +0.389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PC4正側の気鬱が明瞭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268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cls_3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6.10%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1.246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0.438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0.179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 +1.435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―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PC2・PC3正側の明瞭な気虚群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cls_4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8.10%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1.371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0.197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0.077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-0.248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瘀血 +1.315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 +0.413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PC1正側の明瞭な瘀血群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268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cls_5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2.90%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-0.903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-0.519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-0.169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-1.204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-0.314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気逆 +1.112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 +0.183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PC4負側を中心とした気逆群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cls_6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808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70.80%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-0.003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-0.123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0.026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-0.008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ほぼ偏りなし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―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全PC中心がほぼ0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瘀血スコア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0.7999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-0.3556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0.0985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0.1639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-0.2341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0.196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-0.3157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0.1952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-0.1839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-0.0249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8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水滞スコア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0.0267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-0.1331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-0.2494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0.857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08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気逆スコア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-0.2052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-0.1443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-0.5679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-0.5204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-0.4106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08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気鬱スコア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-0.3574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0.0882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-0.165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0.7898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-0.2011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-0.389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0.853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0.735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-0.0337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608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FDD9A0F-7F46-1612-5AEE-17F7EA308F0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025324" name="タイトル 1">
            <a:extLst>
              <a:ext uri="{FF2B5EF4-FFF2-40B4-BE49-F238E27FC236}">
                <a16:creationId xmlns:a16="http://schemas.microsoft.com/office/drawing/2014/main" id="{57E3EC6E-6F40-33C8-CE91-62CF8944EA4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66396" y="235573"/>
            <a:ext cx="7353604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2-1.NIR-HSI(</a:t>
            </a:r>
            <a:r>
              <a:rPr lang="ja-JP"/>
              <a:t>毛髪データ</a:t>
            </a:r>
            <a:r>
              <a:rPr lang="en-US"/>
              <a:t>)</a:t>
            </a:r>
            <a:r>
              <a:rPr lang="ja-JP"/>
              <a:t>と漢方体質分類</a:t>
            </a:r>
            <a:endParaRPr/>
          </a:p>
        </p:txBody>
      </p:sp>
      <p:sp>
        <p:nvSpPr>
          <p:cNvPr id="699545637" name="テキスト ボックス 4">
            <a:extLst>
              <a:ext uri="{FF2B5EF4-FFF2-40B4-BE49-F238E27FC236}">
                <a16:creationId xmlns:a16="http://schemas.microsoft.com/office/drawing/2014/main" id="{5F48667A-18C9-9021-5174-8D58929637C4}"/>
              </a:ext>
            </a:extLst>
          </p:cNvPr>
          <p:cNvSpPr txBox="1"/>
          <p:nvPr/>
        </p:nvSpPr>
        <p:spPr bwMode="auto">
          <a:xfrm>
            <a:off x="1101686" y="1596768"/>
            <a:ext cx="341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毛髪</a:t>
            </a: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キューブ</a:t>
            </a:r>
          </a:p>
        </p:txBody>
      </p:sp>
      <p:sp>
        <p:nvSpPr>
          <p:cNvPr id="1783692051" name="矢印: 右 5">
            <a:extLst>
              <a:ext uri="{FF2B5EF4-FFF2-40B4-BE49-F238E27FC236}">
                <a16:creationId xmlns:a16="http://schemas.microsoft.com/office/drawing/2014/main" id="{CA0BEDDC-A091-FE7B-9D04-B205AC55F564}"/>
              </a:ext>
            </a:extLst>
          </p:cNvPr>
          <p:cNvSpPr/>
          <p:nvPr/>
        </p:nvSpPr>
        <p:spPr bwMode="auto">
          <a:xfrm>
            <a:off x="4512512" y="2681263"/>
            <a:ext cx="1533236" cy="11176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graphicFrame>
        <p:nvGraphicFramePr>
          <p:cNvPr id="657960617" name="表 7">
            <a:extLst>
              <a:ext uri="{FF2B5EF4-FFF2-40B4-BE49-F238E27FC236}">
                <a16:creationId xmlns:a16="http://schemas.microsoft.com/office/drawing/2014/main" id="{81C64B87-B5B8-70B3-6480-6315FE9096F1}"/>
              </a:ext>
            </a:extLst>
          </p:cNvPr>
          <p:cNvGraphicFramePr>
            <a:graphicFrameLocks noGrp="1"/>
          </p:cNvGraphicFramePr>
          <p:nvPr/>
        </p:nvGraphicFramePr>
        <p:xfrm>
          <a:off x="6614776" y="2346926"/>
          <a:ext cx="5250500" cy="232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1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39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97553246" name="テキスト ボックス 8">
            <a:extLst>
              <a:ext uri="{FF2B5EF4-FFF2-40B4-BE49-F238E27FC236}">
                <a16:creationId xmlns:a16="http://schemas.microsoft.com/office/drawing/2014/main" id="{BE014D5B-0E21-41C5-225F-6E5B7C8F2A44}"/>
              </a:ext>
            </a:extLst>
          </p:cNvPr>
          <p:cNvSpPr txBox="1"/>
          <p:nvPr/>
        </p:nvSpPr>
        <p:spPr bwMode="auto">
          <a:xfrm>
            <a:off x="7324435" y="1596766"/>
            <a:ext cx="4304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漢方体質分類が予測可能か？</a:t>
            </a:r>
            <a:endParaRPr/>
          </a:p>
        </p:txBody>
      </p:sp>
      <p:sp>
        <p:nvSpPr>
          <p:cNvPr id="2059282283" name="テキスト ボックス 9">
            <a:extLst>
              <a:ext uri="{FF2B5EF4-FFF2-40B4-BE49-F238E27FC236}">
                <a16:creationId xmlns:a16="http://schemas.microsoft.com/office/drawing/2014/main" id="{9E4EA0C9-7E32-EA8C-1B1E-D3FAA9F4EA73}"/>
              </a:ext>
            </a:extLst>
          </p:cNvPr>
          <p:cNvSpPr txBox="1"/>
          <p:nvPr/>
        </p:nvSpPr>
        <p:spPr bwMode="auto">
          <a:xfrm>
            <a:off x="797277" y="5184471"/>
            <a:ext cx="10597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ja-JP" sz="2400" dirty="0">
                <a:latin typeface="BIZ UDPゴシック"/>
                <a:ea typeface="BIZ UDPゴシック"/>
              </a:rPr>
              <a:t>-</a:t>
            </a:r>
            <a:r>
              <a:rPr lang="ja-JP" altLang="en-US" sz="2400" dirty="0">
                <a:latin typeface="BIZ UDPゴシック"/>
                <a:ea typeface="BIZ UDPゴシック"/>
              </a:rPr>
              <a:t>手法</a:t>
            </a:r>
            <a:r>
              <a:rPr lang="en-US" altLang="ja-JP" sz="2400" dirty="0">
                <a:latin typeface="BIZ UDPゴシック"/>
                <a:ea typeface="BIZ UDPゴシック"/>
              </a:rPr>
              <a:t>-</a:t>
            </a:r>
          </a:p>
          <a:p>
            <a:pPr>
              <a:defRPr/>
            </a:pPr>
            <a:r>
              <a:rPr lang="ja-JP" altLang="en-US" sz="2400" dirty="0">
                <a:latin typeface="BIZ UDPゴシック"/>
                <a:ea typeface="BIZ UDPゴシック"/>
              </a:rPr>
              <a:t>・</a:t>
            </a:r>
            <a:r>
              <a:rPr lang="en-US" sz="2400" dirty="0" err="1">
                <a:latin typeface="BIZ UDPゴシック"/>
                <a:ea typeface="BIZ UDPゴシック"/>
              </a:rPr>
              <a:t>Efficientnet</a:t>
            </a:r>
            <a:r>
              <a:rPr lang="ja-JP" sz="2400" dirty="0">
                <a:latin typeface="BIZ UDPゴシック"/>
                <a:ea typeface="BIZ UDPゴシック"/>
              </a:rPr>
              <a:t>の頭部にスペクトル折り畳み層を挿入した</a:t>
            </a:r>
            <a:r>
              <a:rPr lang="en-US" sz="2400" dirty="0">
                <a:latin typeface="BIZ UDPゴシック"/>
                <a:ea typeface="BIZ UDPゴシック"/>
              </a:rPr>
              <a:t>CNN</a:t>
            </a:r>
            <a:r>
              <a:rPr lang="ja-JP" sz="2400" dirty="0">
                <a:latin typeface="BIZ UDPゴシック"/>
                <a:ea typeface="BIZ UDPゴシック"/>
              </a:rPr>
              <a:t>で学習させる。</a:t>
            </a:r>
            <a:endParaRPr lang="en-US" altLang="ja-JP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altLang="en-US" sz="2400" dirty="0">
                <a:latin typeface="BIZ UDPゴシック"/>
                <a:ea typeface="BIZ UDPゴシック"/>
              </a:rPr>
              <a:t>・交絡の除去のため年齢</a:t>
            </a:r>
            <a:r>
              <a:rPr lang="en-US" altLang="ja-JP" sz="2400" dirty="0">
                <a:latin typeface="BIZ UDPゴシック"/>
                <a:ea typeface="BIZ UDPゴシック"/>
              </a:rPr>
              <a:t>*</a:t>
            </a:r>
            <a:r>
              <a:rPr lang="ja-JP" altLang="en-US" sz="2400" dirty="0">
                <a:latin typeface="BIZ UDPゴシック"/>
                <a:ea typeface="BIZ UDPゴシック"/>
              </a:rPr>
              <a:t>性別による推論との</a:t>
            </a:r>
            <a:r>
              <a:rPr lang="en-US" altLang="ja-JP" sz="2400" dirty="0">
                <a:latin typeface="BIZ UDPゴシック"/>
                <a:ea typeface="BIZ UDPゴシック"/>
              </a:rPr>
              <a:t>R2</a:t>
            </a:r>
            <a:r>
              <a:rPr lang="ja-JP" altLang="en-US" sz="2400" dirty="0">
                <a:latin typeface="BIZ UDPゴシック"/>
                <a:ea typeface="BIZ UDPゴシック"/>
              </a:rPr>
              <a:t>残差が優位に高くなるか検証</a:t>
            </a:r>
            <a:endParaRPr lang="en-US" sz="2400" dirty="0">
              <a:latin typeface="BIZ UDPゴシック"/>
              <a:ea typeface="BIZ UDPゴシック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2C7A148-CD00-E803-2902-25200B9934ED}"/>
              </a:ext>
            </a:extLst>
          </p:cNvPr>
          <p:cNvGrpSpPr/>
          <p:nvPr/>
        </p:nvGrpSpPr>
        <p:grpSpPr>
          <a:xfrm>
            <a:off x="1066999" y="2201296"/>
            <a:ext cx="2978132" cy="2492030"/>
            <a:chOff x="1066999" y="2201296"/>
            <a:chExt cx="2978132" cy="2492030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BA93FD36-A351-9C63-BE53-482D824F94F2}"/>
                </a:ext>
              </a:extLst>
            </p:cNvPr>
            <p:cNvGrpSpPr/>
            <p:nvPr/>
          </p:nvGrpSpPr>
          <p:grpSpPr>
            <a:xfrm>
              <a:off x="1066999" y="2217806"/>
              <a:ext cx="2978132" cy="2475520"/>
              <a:chOff x="3613860" y="2521287"/>
              <a:chExt cx="2978132" cy="2475520"/>
            </a:xfrm>
          </p:grpSpPr>
          <p:sp>
            <p:nvSpPr>
              <p:cNvPr id="43" name="直方体 42">
                <a:extLst>
                  <a:ext uri="{FF2B5EF4-FFF2-40B4-BE49-F238E27FC236}">
                    <a16:creationId xmlns:a16="http://schemas.microsoft.com/office/drawing/2014/main" id="{79BBE69B-3AA1-F2F2-DF4E-2667E5EBDD2C}"/>
                  </a:ext>
                </a:extLst>
              </p:cNvPr>
              <p:cNvSpPr/>
              <p:nvPr/>
            </p:nvSpPr>
            <p:spPr>
              <a:xfrm>
                <a:off x="3613861" y="2521287"/>
                <a:ext cx="2978131" cy="2475520"/>
              </a:xfrm>
              <a:prstGeom prst="cube">
                <a:avLst>
                  <a:gd name="adj" fmla="val 27159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4" name="図 43">
                <a:extLst>
                  <a:ext uri="{FF2B5EF4-FFF2-40B4-BE49-F238E27FC236}">
                    <a16:creationId xmlns:a16="http://schemas.microsoft.com/office/drawing/2014/main" id="{6DA1F431-EB86-1C31-DDBA-876B998052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7" t="1266" r="610" b="1266"/>
              <a:stretch>
                <a:fillRect/>
              </a:stretch>
            </p:blipFill>
            <p:spPr>
              <a:xfrm>
                <a:off x="3613860" y="3190883"/>
                <a:ext cx="2307967" cy="180592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/>
              </a:sp3d>
            </p:spPr>
          </p:pic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8F9C2271-2918-91E9-9A2F-C06CC0EF2778}"/>
                </a:ext>
              </a:extLst>
            </p:cNvPr>
            <p:cNvGrpSpPr/>
            <p:nvPr/>
          </p:nvGrpSpPr>
          <p:grpSpPr>
            <a:xfrm>
              <a:off x="1221971" y="2754399"/>
              <a:ext cx="2283824" cy="1809288"/>
              <a:chOff x="1221971" y="2754399"/>
              <a:chExt cx="2283824" cy="1809288"/>
            </a:xfrm>
          </p:grpSpPr>
          <p:cxnSp>
            <p:nvCxnSpPr>
              <p:cNvPr id="41" name="直線コネクタ 40">
                <a:extLst>
                  <a:ext uri="{FF2B5EF4-FFF2-40B4-BE49-F238E27FC236}">
                    <a16:creationId xmlns:a16="http://schemas.microsoft.com/office/drawing/2014/main" id="{F19E5016-A49A-619B-4DCD-241FF31FFE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D81FEC60-F82E-A78B-8DAE-696A3D1561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5AD66891-541E-1695-BF82-A53BBC941CD1}"/>
                </a:ext>
              </a:extLst>
            </p:cNvPr>
            <p:cNvGrpSpPr/>
            <p:nvPr/>
          </p:nvGrpSpPr>
          <p:grpSpPr>
            <a:xfrm>
              <a:off x="1341119" y="2632480"/>
              <a:ext cx="2283824" cy="1809288"/>
              <a:chOff x="1221971" y="2754399"/>
              <a:chExt cx="2283824" cy="1809288"/>
            </a:xfrm>
          </p:grpSpPr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429B6926-B255-BAAF-5979-F42294FCC2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線コネクタ 39">
                <a:extLst>
                  <a:ext uri="{FF2B5EF4-FFF2-40B4-BE49-F238E27FC236}">
                    <a16:creationId xmlns:a16="http://schemas.microsoft.com/office/drawing/2014/main" id="{176FEFFF-C590-BAEA-175F-D398C1EDDC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D927742D-E561-B721-9E5A-E9F4DCEBC1A5}"/>
                </a:ext>
              </a:extLst>
            </p:cNvPr>
            <p:cNvGrpSpPr/>
            <p:nvPr/>
          </p:nvGrpSpPr>
          <p:grpSpPr>
            <a:xfrm>
              <a:off x="1451954" y="2518872"/>
              <a:ext cx="2283824" cy="1809288"/>
              <a:chOff x="1221971" y="2754399"/>
              <a:chExt cx="2283824" cy="1809288"/>
            </a:xfrm>
          </p:grpSpPr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36399DDF-5A90-4F90-DC82-A145A9D0DC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D9A77BBF-CF3B-7063-C9E0-059FE43FD8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FF6D6646-5547-2D0A-A79C-B8F4D9C297A0}"/>
                </a:ext>
              </a:extLst>
            </p:cNvPr>
            <p:cNvGrpSpPr/>
            <p:nvPr/>
          </p:nvGrpSpPr>
          <p:grpSpPr>
            <a:xfrm>
              <a:off x="1562789" y="2405266"/>
              <a:ext cx="2283824" cy="1809288"/>
              <a:chOff x="1221971" y="2754399"/>
              <a:chExt cx="2283824" cy="1809288"/>
            </a:xfrm>
          </p:grpSpPr>
          <p:cxnSp>
            <p:nvCxnSpPr>
              <p:cNvPr id="35" name="直線コネクタ 34">
                <a:extLst>
                  <a:ext uri="{FF2B5EF4-FFF2-40B4-BE49-F238E27FC236}">
                    <a16:creationId xmlns:a16="http://schemas.microsoft.com/office/drawing/2014/main" id="{EB908620-0AB2-207D-E620-4770901F54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A6E57E38-2FBA-EF61-286A-C59DAF5E26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57BA911B-36B4-E9D1-08DD-D173E7743A34}"/>
                </a:ext>
              </a:extLst>
            </p:cNvPr>
            <p:cNvGrpSpPr/>
            <p:nvPr/>
          </p:nvGrpSpPr>
          <p:grpSpPr>
            <a:xfrm>
              <a:off x="1665311" y="2299972"/>
              <a:ext cx="2283824" cy="1809288"/>
              <a:chOff x="1221971" y="2754399"/>
              <a:chExt cx="2283824" cy="1809288"/>
            </a:xfrm>
          </p:grpSpPr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073ECD1F-4EFA-F98A-D6F6-5281556034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CA46DE72-7682-7DCA-6427-9411AE315F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375638AF-0D6E-9EDE-58B5-C693FDEE54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3841" y="221238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BE468AF9-FAC4-0435-7889-17E579A0320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466241" y="2231776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19D6A10C-21AD-83EF-17A5-288B863AED4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618641" y="2201296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79121F72-BBED-F396-D9B9-3A9D15CBE35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771041" y="221238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6F8E1372-931D-D396-E4F0-508D18A2EF1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923441" y="221515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61DE34A6-FA22-610C-D158-5B7F058B9B6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075841" y="2209610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51532031-3C35-66E3-85F4-FBA366FD829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228241" y="2220694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196F3374-C84C-6A46-3F5B-C8E82DF4C86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380641" y="2215153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9EA3C2A6-CFCE-E470-AB1E-6555BC2E08B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33041" y="2209610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039A467A-771A-3D60-B65C-A1BE95F6DB3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685441" y="2212382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031D4448-735E-26DF-4543-C479982F84B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837841" y="220684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D522CC55-B6AE-3D07-CBD6-2714F464A7F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990241" y="2201299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977FE5C7-176E-3ADF-5E70-F350B020065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142641" y="2220694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1994C850-3A40-F227-8715-63D1094536C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373094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19CABC42-2AED-909F-8A54-C58C312A167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5338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8B3C5FAF-3186-E70D-1656-485A5F57075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6862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DAE2C8F2-89A6-DF0B-7284-67FE74709A7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8386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FE6EE1CB-3316-A5B0-8C0A-EC0FF0468E3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9910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C9A022CD-BC14-FE27-13DB-03E436531E7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1434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A0284F77-E54A-35DF-BD5D-C626B65851D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2958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07B83258-F4EF-B1F9-EFE2-D013E1FCC20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4482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CE37A573-1AF1-368B-BFC5-360DA2C6BD0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6006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07F21EE8-5C17-3107-F515-A08AEF43903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7530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22630BE7-1C85-A4F6-7F2D-2424F190624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872155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4942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BE9A7FE-EE60-CF83-C13C-2E0A360C5AA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331692" name="タイトル 1">
            <a:extLst>
              <a:ext uri="{FF2B5EF4-FFF2-40B4-BE49-F238E27FC236}">
                <a16:creationId xmlns:a16="http://schemas.microsoft.com/office/drawing/2014/main" id="{A955E881-046E-BD03-22C5-06768E67107F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2-3:</a:t>
            </a:r>
            <a:r>
              <a:rPr lang="ja-JP" dirty="0"/>
              <a:t>結果</a:t>
            </a:r>
            <a:r>
              <a:rPr lang="en-US" altLang="ja-JP" dirty="0"/>
              <a:t>(</a:t>
            </a:r>
            <a:r>
              <a:rPr lang="ja-JP" altLang="en-US" dirty="0"/>
              <a:t>スクリーニング</a:t>
            </a:r>
            <a:r>
              <a:rPr lang="en-US" altLang="ja-JP" dirty="0"/>
              <a:t>)</a:t>
            </a:r>
            <a:endParaRPr dirty="0"/>
          </a:p>
        </p:txBody>
      </p:sp>
      <p:sp>
        <p:nvSpPr>
          <p:cNvPr id="588141789" name="テキスト ボックス 3">
            <a:extLst>
              <a:ext uri="{FF2B5EF4-FFF2-40B4-BE49-F238E27FC236}">
                <a16:creationId xmlns:a16="http://schemas.microsoft.com/office/drawing/2014/main" id="{D48AEEDA-77A4-1C5B-E4DF-C3042669B6BF}"/>
              </a:ext>
            </a:extLst>
          </p:cNvPr>
          <p:cNvSpPr txBox="1"/>
          <p:nvPr/>
        </p:nvSpPr>
        <p:spPr bwMode="auto">
          <a:xfrm>
            <a:off x="205415" y="874151"/>
            <a:ext cx="80794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今回は結果がそもそも６項目なので、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 dirty="0">
                <a:latin typeface="BIZ UDPゴシック"/>
                <a:ea typeface="BIZ UDPゴシック"/>
              </a:rPr>
              <a:t>PCA</a:t>
            </a:r>
            <a:r>
              <a:rPr lang="ja-JP" sz="2400" dirty="0">
                <a:latin typeface="BIZ UDPゴシック"/>
                <a:ea typeface="BIZ UDPゴシック"/>
              </a:rPr>
              <a:t>にかけて集約しなくてもそれぞれをターゲットに可能。</a:t>
            </a:r>
          </a:p>
        </p:txBody>
      </p:sp>
      <p:graphicFrame>
        <p:nvGraphicFramePr>
          <p:cNvPr id="1416226424" name="表 5">
            <a:extLst>
              <a:ext uri="{FF2B5EF4-FFF2-40B4-BE49-F238E27FC236}">
                <a16:creationId xmlns:a16="http://schemas.microsoft.com/office/drawing/2014/main" id="{28B4A017-4F28-2D49-CDAD-9AEC8ECD2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883964"/>
              </p:ext>
            </p:extLst>
          </p:nvPr>
        </p:nvGraphicFramePr>
        <p:xfrm>
          <a:off x="452468" y="3985407"/>
          <a:ext cx="5333050" cy="2332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98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0.5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0.2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-0.31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466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-0.2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0.3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-0.4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0.25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-0.57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0.7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1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-0.6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dirty="0"/>
                        <a:t>1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altLang="en-US" dirty="0"/>
                        <a:t>・・</a:t>
                      </a: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6733117" name="矢印: 下 6">
            <a:extLst>
              <a:ext uri="{FF2B5EF4-FFF2-40B4-BE49-F238E27FC236}">
                <a16:creationId xmlns:a16="http://schemas.microsoft.com/office/drawing/2014/main" id="{46887FD6-5950-D81A-1FB3-AABD3CE32BBB}"/>
              </a:ext>
            </a:extLst>
          </p:cNvPr>
          <p:cNvSpPr/>
          <p:nvPr/>
        </p:nvSpPr>
        <p:spPr bwMode="auto">
          <a:xfrm rot="10800000" flipV="1">
            <a:off x="1256990" y="3368347"/>
            <a:ext cx="628073" cy="461665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903752171" name="テキスト ボックス 7">
            <a:extLst>
              <a:ext uri="{FF2B5EF4-FFF2-40B4-BE49-F238E27FC236}">
                <a16:creationId xmlns:a16="http://schemas.microsoft.com/office/drawing/2014/main" id="{BD5D932C-00C3-E7BC-E855-5AC17885BEFE}"/>
              </a:ext>
            </a:extLst>
          </p:cNvPr>
          <p:cNvSpPr txBox="1"/>
          <p:nvPr/>
        </p:nvSpPr>
        <p:spPr bwMode="auto">
          <a:xfrm>
            <a:off x="6445395" y="3522355"/>
            <a:ext cx="4730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altLang="en-US" sz="2400" dirty="0">
                <a:latin typeface="BIZ UDPゴシック"/>
                <a:ea typeface="BIZ UDPゴシック"/>
              </a:rPr>
              <a:t>それぞれの項目に対する予測結果</a:t>
            </a:r>
            <a:endParaRPr lang="en-US" altLang="ja-JP" sz="2400" dirty="0">
              <a:latin typeface="BIZ UDPゴシック"/>
              <a:ea typeface="BIZ UDPゴシック"/>
            </a:endParaRPr>
          </a:p>
        </p:txBody>
      </p:sp>
      <p:sp>
        <p:nvSpPr>
          <p:cNvPr id="1671992736" name="テキスト ボックス 9">
            <a:extLst>
              <a:ext uri="{FF2B5EF4-FFF2-40B4-BE49-F238E27FC236}">
                <a16:creationId xmlns:a16="http://schemas.microsoft.com/office/drawing/2014/main" id="{23A0F5C8-6FEE-FE86-468C-3C44D14F99F3}"/>
              </a:ext>
            </a:extLst>
          </p:cNvPr>
          <p:cNvSpPr txBox="1"/>
          <p:nvPr/>
        </p:nvSpPr>
        <p:spPr bwMode="auto">
          <a:xfrm>
            <a:off x="6445395" y="5031870"/>
            <a:ext cx="57466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スクリーニングで血虚と気虚</a:t>
            </a:r>
            <a:r>
              <a:rPr lang="ja-JP" altLang="en-US" sz="2400" dirty="0">
                <a:latin typeface="BIZ UDPゴシック"/>
                <a:ea typeface="BIZ UDPゴシック"/>
              </a:rPr>
              <a:t>に可能性。</a:t>
            </a:r>
            <a:endParaRPr lang="en-US" altLang="ja-JP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 dirty="0">
                <a:latin typeface="BIZ UDPゴシック"/>
                <a:ea typeface="BIZ UDPゴシック"/>
              </a:rPr>
              <a:t>(S/N</a:t>
            </a:r>
            <a:r>
              <a:rPr lang="ja-JP" altLang="en-US" sz="2400" dirty="0">
                <a:latin typeface="BIZ UDPゴシック"/>
                <a:ea typeface="BIZ UDPゴシック"/>
              </a:rPr>
              <a:t>比</a:t>
            </a:r>
            <a:r>
              <a:rPr lang="en-US" altLang="ja-JP" sz="2400" dirty="0">
                <a:latin typeface="BIZ UDPゴシック"/>
                <a:ea typeface="BIZ UDPゴシック"/>
              </a:rPr>
              <a:t>2%</a:t>
            </a:r>
            <a:r>
              <a:rPr lang="ja-JP" altLang="en-US" sz="2400" dirty="0">
                <a:latin typeface="BIZ UDPゴシック"/>
                <a:ea typeface="BIZ UDPゴシック"/>
              </a:rPr>
              <a:t>程度</a:t>
            </a:r>
            <a:r>
              <a:rPr lang="en-US" sz="2400" dirty="0">
                <a:latin typeface="BIZ UDPゴシック"/>
                <a:ea typeface="BIZ UDPゴシック"/>
              </a:rPr>
              <a:t>)</a:t>
            </a:r>
          </a:p>
        </p:txBody>
      </p:sp>
      <p:graphicFrame>
        <p:nvGraphicFramePr>
          <p:cNvPr id="2" name="表 5">
            <a:extLst>
              <a:ext uri="{FF2B5EF4-FFF2-40B4-BE49-F238E27FC236}">
                <a16:creationId xmlns:a16="http://schemas.microsoft.com/office/drawing/2014/main" id="{4037353E-D560-9700-4000-8284D19AE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823498"/>
              </p:ext>
            </p:extLst>
          </p:nvPr>
        </p:nvGraphicFramePr>
        <p:xfrm>
          <a:off x="6406484" y="4165148"/>
          <a:ext cx="567790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3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76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 dirty="0"/>
                        <a:t>気虚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dirty="0"/>
                        <a:t>気鬱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dirty="0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dirty="0"/>
                        <a:t>水滞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R2</a:t>
                      </a:r>
                      <a:r>
                        <a:rPr lang="ja-JP" altLang="en-US" dirty="0"/>
                        <a:t>残差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+0.01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-0.15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-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+0.02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-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-</a:t>
                      </a: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DCC5AB1B-7B3D-BDEA-0595-B43F99FD9F8C}"/>
              </a:ext>
            </a:extLst>
          </p:cNvPr>
          <p:cNvGrpSpPr/>
          <p:nvPr/>
        </p:nvGrpSpPr>
        <p:grpSpPr>
          <a:xfrm>
            <a:off x="900744" y="1804387"/>
            <a:ext cx="1684514" cy="1506180"/>
            <a:chOff x="1066999" y="2201296"/>
            <a:chExt cx="2978132" cy="249203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455FE496-0394-0B18-117B-9D061ABC7BE0}"/>
                </a:ext>
              </a:extLst>
            </p:cNvPr>
            <p:cNvGrpSpPr/>
            <p:nvPr/>
          </p:nvGrpSpPr>
          <p:grpSpPr>
            <a:xfrm>
              <a:off x="1066999" y="2217806"/>
              <a:ext cx="2978132" cy="2475520"/>
              <a:chOff x="3613860" y="2521287"/>
              <a:chExt cx="2978132" cy="2475520"/>
            </a:xfrm>
          </p:grpSpPr>
          <p:sp>
            <p:nvSpPr>
              <p:cNvPr id="44" name="直方体 43">
                <a:extLst>
                  <a:ext uri="{FF2B5EF4-FFF2-40B4-BE49-F238E27FC236}">
                    <a16:creationId xmlns:a16="http://schemas.microsoft.com/office/drawing/2014/main" id="{82AA8A0A-B724-3CC6-78C7-4270B8279340}"/>
                  </a:ext>
                </a:extLst>
              </p:cNvPr>
              <p:cNvSpPr/>
              <p:nvPr/>
            </p:nvSpPr>
            <p:spPr>
              <a:xfrm>
                <a:off x="3613861" y="2521287"/>
                <a:ext cx="2978131" cy="2475520"/>
              </a:xfrm>
              <a:prstGeom prst="cube">
                <a:avLst>
                  <a:gd name="adj" fmla="val 27159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45" name="図 44">
                <a:extLst>
                  <a:ext uri="{FF2B5EF4-FFF2-40B4-BE49-F238E27FC236}">
                    <a16:creationId xmlns:a16="http://schemas.microsoft.com/office/drawing/2014/main" id="{49335986-3030-5A82-6D12-A47F74561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7" t="1266" r="610" b="1266"/>
              <a:stretch>
                <a:fillRect/>
              </a:stretch>
            </p:blipFill>
            <p:spPr>
              <a:xfrm>
                <a:off x="3613860" y="3190883"/>
                <a:ext cx="2307967" cy="180592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/>
              </a:sp3d>
            </p:spPr>
          </p:pic>
        </p:grp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BB1F8E3C-34AE-293A-1B7D-B4D5BDCF877A}"/>
                </a:ext>
              </a:extLst>
            </p:cNvPr>
            <p:cNvGrpSpPr/>
            <p:nvPr/>
          </p:nvGrpSpPr>
          <p:grpSpPr>
            <a:xfrm>
              <a:off x="1221971" y="2754399"/>
              <a:ext cx="2283824" cy="1809288"/>
              <a:chOff x="1221971" y="2754399"/>
              <a:chExt cx="2283824" cy="1809288"/>
            </a:xfrm>
          </p:grpSpPr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B919647A-46C0-2188-0A22-6328F77E75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直線コネクタ 42">
                <a:extLst>
                  <a:ext uri="{FF2B5EF4-FFF2-40B4-BE49-F238E27FC236}">
                    <a16:creationId xmlns:a16="http://schemas.microsoft.com/office/drawing/2014/main" id="{77CD83C2-C991-710E-1C96-BE48E0B9CD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45617914-8A94-1820-CC42-243A884C540D}"/>
                </a:ext>
              </a:extLst>
            </p:cNvPr>
            <p:cNvGrpSpPr/>
            <p:nvPr/>
          </p:nvGrpSpPr>
          <p:grpSpPr>
            <a:xfrm>
              <a:off x="1341119" y="2632480"/>
              <a:ext cx="2283824" cy="1809288"/>
              <a:chOff x="1221971" y="2754399"/>
              <a:chExt cx="2283824" cy="1809288"/>
            </a:xfrm>
          </p:grpSpPr>
          <p:cxnSp>
            <p:nvCxnSpPr>
              <p:cNvPr id="40" name="直線コネクタ 39">
                <a:extLst>
                  <a:ext uri="{FF2B5EF4-FFF2-40B4-BE49-F238E27FC236}">
                    <a16:creationId xmlns:a16="http://schemas.microsoft.com/office/drawing/2014/main" id="{550B2E0A-F695-5543-9E29-488534C8C8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直線コネクタ 40">
                <a:extLst>
                  <a:ext uri="{FF2B5EF4-FFF2-40B4-BE49-F238E27FC236}">
                    <a16:creationId xmlns:a16="http://schemas.microsoft.com/office/drawing/2014/main" id="{53A372AE-2BF4-C384-71A7-F9AAA001F8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104BEBC5-E118-59DE-E63D-6738EFDDB595}"/>
                </a:ext>
              </a:extLst>
            </p:cNvPr>
            <p:cNvGrpSpPr/>
            <p:nvPr/>
          </p:nvGrpSpPr>
          <p:grpSpPr>
            <a:xfrm>
              <a:off x="1451954" y="2518872"/>
              <a:ext cx="2283824" cy="1809288"/>
              <a:chOff x="1221971" y="2754399"/>
              <a:chExt cx="2283824" cy="1809288"/>
            </a:xfrm>
          </p:grpSpPr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F7D7BDAC-B3C1-8A5B-6DDF-9DC2347A08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44BF6F95-2971-0230-FA92-6ED56C52E6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7BF3BDD0-3D18-0ABA-8E67-2B4BBB9E2A4E}"/>
                </a:ext>
              </a:extLst>
            </p:cNvPr>
            <p:cNvGrpSpPr/>
            <p:nvPr/>
          </p:nvGrpSpPr>
          <p:grpSpPr>
            <a:xfrm>
              <a:off x="1562789" y="2405266"/>
              <a:ext cx="2283824" cy="1809288"/>
              <a:chOff x="1221971" y="2754399"/>
              <a:chExt cx="2283824" cy="1809288"/>
            </a:xfrm>
          </p:grpSpPr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EE10EB57-A8F9-5FA5-69B5-635DA148BC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872679BD-A26E-3F28-A319-F20574B9DB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E3CB6451-D0B7-0EEC-6A4A-E64E79BC23A2}"/>
                </a:ext>
              </a:extLst>
            </p:cNvPr>
            <p:cNvGrpSpPr/>
            <p:nvPr/>
          </p:nvGrpSpPr>
          <p:grpSpPr>
            <a:xfrm>
              <a:off x="1665311" y="2299972"/>
              <a:ext cx="2283824" cy="1809288"/>
              <a:chOff x="1221971" y="2754399"/>
              <a:chExt cx="2283824" cy="1809288"/>
            </a:xfrm>
          </p:grpSpPr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F4E3BA9F-8990-DB3E-BD38-4787CEE145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5795" y="2759825"/>
                <a:ext cx="0" cy="180386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線コネクタ 34">
                <a:extLst>
                  <a:ext uri="{FF2B5EF4-FFF2-40B4-BE49-F238E27FC236}">
                    <a16:creationId xmlns:a16="http://schemas.microsoft.com/office/drawing/2014/main" id="{6F8B5FC5-6D5D-3A67-9F48-AAD74B8F03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21971" y="2754399"/>
                <a:ext cx="228382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19AE2052-36D4-92BE-4F33-651DA805C9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3841" y="221238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997C3784-8087-940A-CADC-8DAED2B13DB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466241" y="2231776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AFACF8D5-F6D3-A2C5-675E-15555D4D50D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618641" y="2201296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F81A5E09-EC96-AC41-357C-97B8DAE565C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771041" y="221238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E13A07D4-41AC-CFF1-452E-EDE027FCACC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923441" y="221515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83D1735E-FF5C-BA9B-553C-9562055ED62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075841" y="2209610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A06328BA-32EA-5F14-E8F4-915A871342A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228241" y="2220694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97161FAE-E825-E149-E0BA-FE6EAA42494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380641" y="2215153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C594B552-5910-5CB7-08E3-C5DB614E316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33041" y="2209610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8BE89D0D-5111-AFBF-0DE8-53AD104C4D2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685441" y="2212382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D49BB6D9-D8C4-EA30-E596-66D0EE92CC2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837841" y="2206841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27DF6B37-DAED-16AA-9606-A0A8FEFFFE5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990241" y="2201299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E7F89C88-4F82-FE61-225A-9B3A5548EA6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142641" y="2220694"/>
              <a:ext cx="628100" cy="6699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C9C4BCAF-5B12-F515-4B17-7AA4E0B20E0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373094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6CBFD009-3DA5-B846-994C-E9DCC4A2C35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5338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F1F9BC16-C242-8A58-EF7A-D026AC77DBA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6862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1EC376D0-237F-ACA7-CFF4-AEA6C6A5EB7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8386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88488134-208D-1D90-CF7D-72491BC959C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29910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375B13C4-FF44-7E0C-05CE-3630EFC81A4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1434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1D1B2A46-C92C-738E-9380-6EC164E7B6D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2958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F5731F0A-5479-5475-0F6F-BC79E2F5093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4482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A2E20C27-FCBF-9B73-243A-E60A4300C47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6006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C42C0FFE-4403-8921-0AA6-D0F2F54A890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753007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49FD1B9E-0D91-77C8-D36B-6111718721F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344462" y="3872155"/>
              <a:ext cx="694845" cy="738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テキスト ボックス 3">
            <a:extLst>
              <a:ext uri="{FF2B5EF4-FFF2-40B4-BE49-F238E27FC236}">
                <a16:creationId xmlns:a16="http://schemas.microsoft.com/office/drawing/2014/main" id="{307F8DE9-6742-8B02-ADCD-70118F337408}"/>
              </a:ext>
            </a:extLst>
          </p:cNvPr>
          <p:cNvSpPr txBox="1"/>
          <p:nvPr/>
        </p:nvSpPr>
        <p:spPr bwMode="auto">
          <a:xfrm>
            <a:off x="3460313" y="2430331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altLang="en-US" sz="2400" dirty="0">
                <a:latin typeface="BIZ UDPゴシック"/>
                <a:ea typeface="BIZ UDPゴシック"/>
              </a:rPr>
              <a:t>年齢・性別</a:t>
            </a:r>
            <a:endParaRPr lang="ja-JP" sz="2400" dirty="0">
              <a:latin typeface="BIZ UDPゴシック"/>
              <a:ea typeface="BIZ UDPゴシック"/>
            </a:endParaRPr>
          </a:p>
        </p:txBody>
      </p:sp>
      <p:sp>
        <p:nvSpPr>
          <p:cNvPr id="47" name="矢印: 下 6">
            <a:extLst>
              <a:ext uri="{FF2B5EF4-FFF2-40B4-BE49-F238E27FC236}">
                <a16:creationId xmlns:a16="http://schemas.microsoft.com/office/drawing/2014/main" id="{D9733AB2-A341-A9A9-C1C9-36CFDD8D678A}"/>
              </a:ext>
            </a:extLst>
          </p:cNvPr>
          <p:cNvSpPr/>
          <p:nvPr/>
        </p:nvSpPr>
        <p:spPr bwMode="auto">
          <a:xfrm rot="5400000" flipV="1">
            <a:off x="3931107" y="3474501"/>
            <a:ext cx="628073" cy="461665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48" name="テキスト ボックス 3">
            <a:extLst>
              <a:ext uri="{FF2B5EF4-FFF2-40B4-BE49-F238E27FC236}">
                <a16:creationId xmlns:a16="http://schemas.microsoft.com/office/drawing/2014/main" id="{3EBF58D7-50AD-A47C-AF45-87C624D360CD}"/>
              </a:ext>
            </a:extLst>
          </p:cNvPr>
          <p:cNvSpPr txBox="1"/>
          <p:nvPr/>
        </p:nvSpPr>
        <p:spPr bwMode="auto">
          <a:xfrm>
            <a:off x="2914705" y="6216426"/>
            <a:ext cx="2885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ja-JP" sz="2400" dirty="0">
                <a:latin typeface="BIZ UDPゴシック"/>
                <a:ea typeface="BIZ UDPゴシック"/>
              </a:rPr>
              <a:t>(</a:t>
            </a:r>
            <a:r>
              <a:rPr lang="en-US" altLang="ja-JP" sz="2400" dirty="0" err="1">
                <a:latin typeface="BIZ UDPゴシック"/>
                <a:ea typeface="BIZ UDPゴシック"/>
              </a:rPr>
              <a:t>StandarScaler</a:t>
            </a:r>
            <a:r>
              <a:rPr lang="en-US" altLang="ja-JP" sz="2400" dirty="0">
                <a:latin typeface="BIZ UDPゴシック"/>
                <a:ea typeface="BIZ UDPゴシック"/>
              </a:rPr>
              <a:t>)</a:t>
            </a:r>
            <a:endParaRPr lang="ja-JP" sz="2400" dirty="0">
              <a:latin typeface="BIZ UDPゴシック"/>
              <a:ea typeface="BIZ UDPゴシック"/>
            </a:endParaRPr>
          </a:p>
        </p:txBody>
      </p:sp>
      <p:sp>
        <p:nvSpPr>
          <p:cNvPr id="49" name="矢印: 下 6">
            <a:extLst>
              <a:ext uri="{FF2B5EF4-FFF2-40B4-BE49-F238E27FC236}">
                <a16:creationId xmlns:a16="http://schemas.microsoft.com/office/drawing/2014/main" id="{E30CF6C1-D032-4E3C-43BC-B84A8AB741D7}"/>
              </a:ext>
            </a:extLst>
          </p:cNvPr>
          <p:cNvSpPr/>
          <p:nvPr/>
        </p:nvSpPr>
        <p:spPr bwMode="auto">
          <a:xfrm rot="5400000" flipV="1">
            <a:off x="5781964" y="4625361"/>
            <a:ext cx="628073" cy="461665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382774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69210AC-D415-87A4-901D-857B4BAF051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27454" name="タイトル 1">
            <a:extLst>
              <a:ext uri="{FF2B5EF4-FFF2-40B4-BE49-F238E27FC236}">
                <a16:creationId xmlns:a16="http://schemas.microsoft.com/office/drawing/2014/main" id="{E2EBA7FB-9453-FCC6-8E65-88A7AEF58131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2-4:</a:t>
            </a:r>
            <a:r>
              <a:rPr lang="ja-JP" altLang="en-US" dirty="0"/>
              <a:t>フルチューニング</a:t>
            </a:r>
            <a:endParaRPr lang="ja-JP" dirty="0"/>
          </a:p>
        </p:txBody>
      </p:sp>
      <p:pic>
        <p:nvPicPr>
          <p:cNvPr id="2087585562" name="図 3">
            <a:extLst>
              <a:ext uri="{FF2B5EF4-FFF2-40B4-BE49-F238E27FC236}">
                <a16:creationId xmlns:a16="http://schemas.microsoft.com/office/drawing/2014/main" id="{393D8FD2-B394-A717-1992-15535A0D2F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49" t="7497" r="26168" b="7706"/>
          <a:stretch/>
        </p:blipFill>
        <p:spPr bwMode="auto">
          <a:xfrm>
            <a:off x="244276" y="973281"/>
            <a:ext cx="5458692" cy="54275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460781156" name="正方形/長方形 4">
            <a:extLst>
              <a:ext uri="{FF2B5EF4-FFF2-40B4-BE49-F238E27FC236}">
                <a16:creationId xmlns:a16="http://schemas.microsoft.com/office/drawing/2014/main" id="{279A3708-41DE-A1F1-B124-F5F42CA3A223}"/>
              </a:ext>
            </a:extLst>
          </p:cNvPr>
          <p:cNvSpPr/>
          <p:nvPr/>
        </p:nvSpPr>
        <p:spPr bwMode="auto">
          <a:xfrm>
            <a:off x="655782" y="3897746"/>
            <a:ext cx="3398982" cy="1874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cxnSp>
        <p:nvCxnSpPr>
          <p:cNvPr id="176646561" name="直線コネクタ 6">
            <a:extLst>
              <a:ext uri="{FF2B5EF4-FFF2-40B4-BE49-F238E27FC236}">
                <a16:creationId xmlns:a16="http://schemas.microsoft.com/office/drawing/2014/main" id="{911EDA73-F326-21F9-DD57-86AF0063DF1A}"/>
              </a:ext>
            </a:extLst>
          </p:cNvPr>
          <p:cNvCxnSpPr/>
          <p:nvPr/>
        </p:nvCxnSpPr>
        <p:spPr bwMode="auto">
          <a:xfrm>
            <a:off x="655782" y="4239491"/>
            <a:ext cx="216130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3980042" name="テキスト ボックス 7">
            <a:extLst>
              <a:ext uri="{FF2B5EF4-FFF2-40B4-BE49-F238E27FC236}">
                <a16:creationId xmlns:a16="http://schemas.microsoft.com/office/drawing/2014/main" id="{F04855AC-58CB-309D-7AA3-CE909BDE195A}"/>
              </a:ext>
            </a:extLst>
          </p:cNvPr>
          <p:cNvSpPr txBox="1"/>
          <p:nvPr/>
        </p:nvSpPr>
        <p:spPr bwMode="auto">
          <a:xfrm>
            <a:off x="6096000" y="1108364"/>
            <a:ext cx="3991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dirty="0">
                <a:latin typeface="BIZ UDPゴシック"/>
                <a:ea typeface="BIZ UDPゴシック"/>
              </a:rPr>
              <a:t>Best Objective=0.025</a:t>
            </a:r>
            <a:endParaRPr lang="ja-JP" sz="2400" dirty="0">
              <a:solidFill>
                <a:srgbClr val="FF0000"/>
              </a:solidFill>
              <a:latin typeface="BIZ UDPゴシック"/>
              <a:ea typeface="BIZ UDPゴシック"/>
            </a:endParaRPr>
          </a:p>
        </p:txBody>
      </p:sp>
      <p:sp>
        <p:nvSpPr>
          <p:cNvPr id="462595104" name="テキスト ボックス 8">
            <a:extLst>
              <a:ext uri="{FF2B5EF4-FFF2-40B4-BE49-F238E27FC236}">
                <a16:creationId xmlns:a16="http://schemas.microsoft.com/office/drawing/2014/main" id="{8810706D-A2F3-AE48-A5A4-9112B07B506A}"/>
              </a:ext>
            </a:extLst>
          </p:cNvPr>
          <p:cNvSpPr txBox="1"/>
          <p:nvPr/>
        </p:nvSpPr>
        <p:spPr bwMode="auto">
          <a:xfrm>
            <a:off x="5920510" y="1570029"/>
            <a:ext cx="6370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dirty="0">
                <a:latin typeface="BIZ UDPゴシック"/>
                <a:ea typeface="BIZ UDPゴシック"/>
              </a:rPr>
              <a:t>(</a:t>
            </a:r>
            <a:r>
              <a:rPr lang="ja-JP" altLang="en-US" sz="2400" dirty="0">
                <a:latin typeface="BIZ UDPゴシック"/>
                <a:ea typeface="BIZ UDPゴシック"/>
              </a:rPr>
              <a:t>負値</a:t>
            </a:r>
            <a:r>
              <a:rPr lang="ja-JP" sz="2400" dirty="0">
                <a:latin typeface="BIZ UDPゴシック"/>
                <a:ea typeface="BIZ UDPゴシック"/>
              </a:rPr>
              <a:t>で何もわからない。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altLang="en-US" sz="2400" dirty="0">
                <a:latin typeface="BIZ UDPゴシック"/>
                <a:ea typeface="BIZ UDPゴシック"/>
              </a:rPr>
              <a:t>キューブデータに</a:t>
            </a:r>
            <a:r>
              <a:rPr lang="en-US" altLang="ja-JP" sz="2400" dirty="0">
                <a:latin typeface="BIZ UDPゴシック"/>
                <a:ea typeface="BIZ UDPゴシック"/>
              </a:rPr>
              <a:t>2.5%</a:t>
            </a:r>
            <a:r>
              <a:rPr lang="ja-JP" altLang="en-US" sz="2400" dirty="0">
                <a:latin typeface="BIZ UDPゴシック"/>
                <a:ea typeface="BIZ UDPゴシック"/>
              </a:rPr>
              <a:t>血虚に関する情報あり</a:t>
            </a:r>
            <a:endParaRPr lang="ja-JP" sz="2400" dirty="0">
              <a:latin typeface="BIZ UDPゴシック"/>
              <a:ea typeface="BIZ UDPゴシック"/>
            </a:endParaRPr>
          </a:p>
        </p:txBody>
      </p:sp>
      <p:sp>
        <p:nvSpPr>
          <p:cNvPr id="1941179781" name="テキスト ボックス 9">
            <a:extLst>
              <a:ext uri="{FF2B5EF4-FFF2-40B4-BE49-F238E27FC236}">
                <a16:creationId xmlns:a16="http://schemas.microsoft.com/office/drawing/2014/main" id="{02395493-1F19-5497-A6E4-4A988858DACF}"/>
              </a:ext>
            </a:extLst>
          </p:cNvPr>
          <p:cNvSpPr txBox="1"/>
          <p:nvPr/>
        </p:nvSpPr>
        <p:spPr bwMode="auto">
          <a:xfrm>
            <a:off x="5920510" y="2425650"/>
            <a:ext cx="57938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 dirty="0">
                <a:solidFill>
                  <a:srgbClr val="FF0000"/>
                </a:solidFill>
                <a:latin typeface="BIZ UDPゴシック"/>
                <a:ea typeface="BIZ UDPゴシック"/>
              </a:rPr>
              <a:t>「毛は血の余り」</a:t>
            </a:r>
            <a:endParaRPr lang="en-US" sz="2400" dirty="0">
              <a:solidFill>
                <a:srgbClr val="FF0000"/>
              </a:solidFill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髪の</a:t>
            </a:r>
            <a:r>
              <a:rPr lang="en-US" sz="2400" dirty="0">
                <a:latin typeface="BIZ UDPゴシック"/>
                <a:ea typeface="BIZ UDPゴシック"/>
              </a:rPr>
              <a:t>NIR-HSI</a:t>
            </a:r>
            <a:r>
              <a:rPr lang="ja-JP" sz="2400" dirty="0">
                <a:latin typeface="BIZ UDPゴシック"/>
                <a:ea typeface="BIZ UDPゴシック"/>
              </a:rPr>
              <a:t>データに血虚に関する情報が入っている可能性が見いだされた。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ただし非常に微小な情報量であることは変わらず、些細なばらつきで変わる状態。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・より信頼のあるデータとするため、データ数を増やすなどが必要</a:t>
            </a:r>
            <a:r>
              <a:rPr lang="en-US" sz="2400" dirty="0">
                <a:latin typeface="BIZ UDPゴシック"/>
                <a:ea typeface="BIZ UDPゴシック"/>
              </a:rPr>
              <a:t>(2026</a:t>
            </a:r>
            <a:r>
              <a:rPr lang="ja-JP" sz="2400" dirty="0">
                <a:latin typeface="BIZ UDPゴシック"/>
                <a:ea typeface="BIZ UDPゴシック"/>
              </a:rPr>
              <a:t>年分？</a:t>
            </a:r>
            <a:r>
              <a:rPr lang="en-US" sz="2400" dirty="0">
                <a:latin typeface="BIZ UDPゴシック"/>
                <a:ea typeface="BIZ UDPゴシック"/>
              </a:rPr>
              <a:t>)</a:t>
            </a:r>
            <a:r>
              <a:rPr lang="ja-JP" sz="2400" dirty="0">
                <a:latin typeface="BIZ UDPゴシック"/>
                <a:ea typeface="BIZ UDPゴシック"/>
              </a:rPr>
              <a:t>。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 dirty="0">
              <a:latin typeface="BIZ UDPゴシック"/>
              <a:ea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134114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FC576B-BA21-39A3-907A-24EEF3B3A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7727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305089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アンケートの俯瞰</a:t>
            </a:r>
            <a:endParaRPr/>
          </a:p>
        </p:txBody>
      </p:sp>
      <p:pic>
        <p:nvPicPr>
          <p:cNvPr id="1274833911" name="図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2463" y="1532909"/>
            <a:ext cx="3012504" cy="3012504"/>
          </a:xfrm>
          <a:prstGeom prst="rect">
            <a:avLst/>
          </a:prstGeom>
        </p:spPr>
      </p:pic>
      <p:sp>
        <p:nvSpPr>
          <p:cNvPr id="208724300" name="テキスト ボックス 3"/>
          <p:cNvSpPr txBox="1"/>
          <p:nvPr/>
        </p:nvSpPr>
        <p:spPr bwMode="auto">
          <a:xfrm>
            <a:off x="257629" y="814196"/>
            <a:ext cx="11120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相関分析で各項目ごとの相関を確認、年齢や性別との交絡も事前に把握しておく。</a:t>
            </a:r>
          </a:p>
        </p:txBody>
      </p:sp>
      <p:pic>
        <p:nvPicPr>
          <p:cNvPr id="441035979" name="図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817806" y="1559085"/>
            <a:ext cx="3215975" cy="2867773"/>
          </a:xfrm>
          <a:prstGeom prst="rect">
            <a:avLst/>
          </a:prstGeom>
        </p:spPr>
      </p:pic>
      <p:sp>
        <p:nvSpPr>
          <p:cNvPr id="877706372" name="テキスト ボックス 5"/>
          <p:cNvSpPr txBox="1"/>
          <p:nvPr/>
        </p:nvSpPr>
        <p:spPr bwMode="auto">
          <a:xfrm>
            <a:off x="2306631" y="5558971"/>
            <a:ext cx="7605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なんとなくいろんなところに正の相関ありそうだ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→相関する項目があればクラスターが作れる。</a:t>
            </a:r>
          </a:p>
        </p:txBody>
      </p:sp>
      <p:pic>
        <p:nvPicPr>
          <p:cNvPr id="509271351" name="図 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222667" y="1532909"/>
            <a:ext cx="2969332" cy="2969332"/>
          </a:xfrm>
          <a:prstGeom prst="rect">
            <a:avLst/>
          </a:prstGeom>
        </p:spPr>
      </p:pic>
      <p:pic>
        <p:nvPicPr>
          <p:cNvPr id="1072103177" name="図 7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096870" y="1559085"/>
            <a:ext cx="3012504" cy="3012504"/>
          </a:xfrm>
          <a:prstGeom prst="rect">
            <a:avLst/>
          </a:prstGeom>
        </p:spPr>
      </p:pic>
      <p:sp>
        <p:nvSpPr>
          <p:cNvPr id="859977340" name="テキスト ボックス 8"/>
          <p:cNvSpPr txBox="1"/>
          <p:nvPr/>
        </p:nvSpPr>
        <p:spPr bwMode="auto">
          <a:xfrm>
            <a:off x="620572" y="4494353"/>
            <a:ext cx="2116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young:male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329596226" name="テキスト ボックス 9"/>
          <p:cNvSpPr txBox="1"/>
          <p:nvPr/>
        </p:nvSpPr>
        <p:spPr bwMode="auto">
          <a:xfrm>
            <a:off x="3500729" y="4519587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senior:male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595463142" name="テキスト ボックス 10"/>
          <p:cNvSpPr txBox="1"/>
          <p:nvPr/>
        </p:nvSpPr>
        <p:spPr bwMode="auto">
          <a:xfrm>
            <a:off x="6625997" y="4401624"/>
            <a:ext cx="2481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young:female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1320741773" name="テキスト ボックス 11"/>
          <p:cNvSpPr txBox="1"/>
          <p:nvPr/>
        </p:nvSpPr>
        <p:spPr bwMode="auto">
          <a:xfrm>
            <a:off x="9506154" y="4426858"/>
            <a:ext cx="2501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senior:female</a:t>
            </a:r>
            <a:endParaRPr lang="ja-JP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059589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10"/>
            <a:ext cx="6093326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アンケートから作る体質分類</a:t>
            </a:r>
          </a:p>
        </p:txBody>
      </p:sp>
      <p:sp>
        <p:nvSpPr>
          <p:cNvPr id="1791450575" name="テキスト ボックス 3"/>
          <p:cNvSpPr txBox="1"/>
          <p:nvPr/>
        </p:nvSpPr>
        <p:spPr bwMode="auto">
          <a:xfrm>
            <a:off x="104274" y="900838"/>
            <a:ext cx="11258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アンケートの回答結果を機械学習的にむりやりいくつかのクラスターに分類させる。</a:t>
            </a:r>
            <a:endParaRPr/>
          </a:p>
        </p:txBody>
      </p:sp>
      <p:sp>
        <p:nvSpPr>
          <p:cNvPr id="2108423907" name="テキスト ボックス 4"/>
          <p:cNvSpPr txBox="1"/>
          <p:nvPr/>
        </p:nvSpPr>
        <p:spPr bwMode="auto">
          <a:xfrm flipH="1">
            <a:off x="916811" y="1343845"/>
            <a:ext cx="48165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PCA(</a:t>
            </a:r>
            <a:r>
              <a:rPr lang="ja-JP" sz="2400">
                <a:latin typeface="BIZ UDPゴシック"/>
                <a:ea typeface="BIZ UDPゴシック"/>
              </a:rPr>
              <a:t>可視化のため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endParaRPr/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→主成分スコアの決定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→</a:t>
            </a:r>
            <a:r>
              <a:rPr lang="en-US" sz="2400">
                <a:latin typeface="BIZ UDPゴシック"/>
                <a:ea typeface="BIZ UDPゴシック"/>
              </a:rPr>
              <a:t>GMM</a:t>
            </a:r>
            <a:r>
              <a:rPr lang="ja-JP" sz="2400">
                <a:latin typeface="BIZ UDPゴシック"/>
                <a:ea typeface="BIZ UDPゴシック"/>
              </a:rPr>
              <a:t>（クラスター分析の一種）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→可視化</a:t>
            </a:r>
            <a:endParaRPr/>
          </a:p>
        </p:txBody>
      </p:sp>
      <p:pic>
        <p:nvPicPr>
          <p:cNvPr id="1410457955" name="図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83731" y="2628088"/>
            <a:ext cx="3468914" cy="3099966"/>
          </a:xfrm>
          <a:prstGeom prst="rect">
            <a:avLst/>
          </a:prstGeom>
        </p:spPr>
      </p:pic>
      <p:pic>
        <p:nvPicPr>
          <p:cNvPr id="525634690" name="図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90391" y="2593971"/>
            <a:ext cx="3375099" cy="3168201"/>
          </a:xfrm>
          <a:prstGeom prst="rect">
            <a:avLst/>
          </a:prstGeom>
        </p:spPr>
      </p:pic>
      <p:sp>
        <p:nvSpPr>
          <p:cNvPr id="185255671" name="テキスト ボックス 7"/>
          <p:cNvSpPr txBox="1"/>
          <p:nvPr/>
        </p:nvSpPr>
        <p:spPr bwMode="auto">
          <a:xfrm>
            <a:off x="0" y="5779640"/>
            <a:ext cx="121049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漢方体質アンケートは数学的に</a:t>
            </a:r>
            <a:r>
              <a:rPr lang="en-US" sz="2400">
                <a:latin typeface="BIZ UDPゴシック"/>
                <a:ea typeface="BIZ UDPゴシック"/>
              </a:rPr>
              <a:t>3</a:t>
            </a:r>
            <a:r>
              <a:rPr lang="ja-JP" sz="2400">
                <a:latin typeface="BIZ UDPゴシック"/>
                <a:ea typeface="BIZ UDPゴシック"/>
              </a:rPr>
              <a:t>つの軸で分割して、「５つに分類」することが最適（可能）。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アンケートからは５つの体質が読み取れる。</a:t>
            </a:r>
          </a:p>
        </p:txBody>
      </p:sp>
      <p:cxnSp>
        <p:nvCxnSpPr>
          <p:cNvPr id="1118082679" name="直線矢印コネクタ 9"/>
          <p:cNvCxnSpPr/>
          <p:nvPr/>
        </p:nvCxnSpPr>
        <p:spPr bwMode="auto">
          <a:xfrm flipH="1">
            <a:off x="3449172" y="3303644"/>
            <a:ext cx="609600" cy="785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693875" name="テキスト ボックス 10"/>
          <p:cNvSpPr txBox="1"/>
          <p:nvPr/>
        </p:nvSpPr>
        <p:spPr bwMode="auto">
          <a:xfrm flipH="1">
            <a:off x="3449172" y="2913504"/>
            <a:ext cx="2284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>
                <a:latin typeface="BIZ UDPゴシック"/>
                <a:ea typeface="BIZ UDPゴシック"/>
              </a:rPr>
              <a:t>n_components=2</a:t>
            </a:r>
            <a:endParaRPr lang="ja-JP" sz="1600">
              <a:latin typeface="BIZ UDPゴシック"/>
              <a:ea typeface="BIZ UDPゴシック"/>
            </a:endParaRPr>
          </a:p>
        </p:txBody>
      </p:sp>
      <p:cxnSp>
        <p:nvCxnSpPr>
          <p:cNvPr id="1982322419" name="直線矢印コネクタ 11"/>
          <p:cNvCxnSpPr>
            <a:cxnSpLocks/>
          </p:cNvCxnSpPr>
          <p:nvPr/>
        </p:nvCxnSpPr>
        <p:spPr bwMode="auto">
          <a:xfrm flipH="1">
            <a:off x="7398327" y="3944931"/>
            <a:ext cx="120073" cy="1100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4496329" name="テキスト ボックス 14"/>
          <p:cNvSpPr txBox="1"/>
          <p:nvPr/>
        </p:nvSpPr>
        <p:spPr bwMode="auto">
          <a:xfrm flipH="1">
            <a:off x="6939808" y="3078625"/>
            <a:ext cx="1956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altLang="en-US" sz="1600" dirty="0">
                <a:latin typeface="BIZ UDPゴシック"/>
                <a:ea typeface="BIZ UDPゴシック"/>
              </a:rPr>
              <a:t>値が小さくなる</a:t>
            </a:r>
            <a:endParaRPr lang="en-US" sz="16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1600" dirty="0" err="1">
                <a:latin typeface="BIZ UDPゴシック"/>
                <a:ea typeface="BIZ UDPゴシック"/>
              </a:rPr>
              <a:t>n_clusters</a:t>
            </a:r>
            <a:r>
              <a:rPr lang="en-US" sz="1600" dirty="0">
                <a:latin typeface="BIZ UDPゴシック"/>
                <a:ea typeface="BIZ UDPゴシック"/>
              </a:rPr>
              <a:t>=5</a:t>
            </a:r>
            <a:r>
              <a:rPr lang="ja-JP" altLang="en-US" sz="1600" dirty="0">
                <a:latin typeface="BIZ UDPゴシック"/>
                <a:ea typeface="BIZ UDPゴシック"/>
              </a:rPr>
              <a:t>が最適クラスター数</a:t>
            </a:r>
            <a:endParaRPr lang="ja-JP" sz="1600" dirty="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0374520" name="図 2"/>
          <p:cNvPicPr>
            <a:picLocks noChangeAspect="1"/>
          </p:cNvPicPr>
          <p:nvPr/>
        </p:nvPicPr>
        <p:blipFill rotWithShape="1">
          <a:blip r:embed="rId3"/>
          <a:srcRect l="6486" t="9340"/>
          <a:stretch/>
        </p:blipFill>
        <p:spPr bwMode="auto">
          <a:xfrm>
            <a:off x="0" y="944824"/>
            <a:ext cx="3175954" cy="3131215"/>
          </a:xfrm>
          <a:prstGeom prst="rect">
            <a:avLst/>
          </a:prstGeom>
        </p:spPr>
      </p:pic>
      <p:sp>
        <p:nvSpPr>
          <p:cNvPr id="1271325787" name="テキスト ボックス 4"/>
          <p:cNvSpPr txBox="1"/>
          <p:nvPr/>
        </p:nvSpPr>
        <p:spPr bwMode="auto">
          <a:xfrm>
            <a:off x="104274" y="4653755"/>
            <a:ext cx="2392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第三主成分までにすると可視化しやすい</a:t>
            </a:r>
          </a:p>
        </p:txBody>
      </p:sp>
      <p:sp>
        <p:nvSpPr>
          <p:cNvPr id="2109773084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10"/>
            <a:ext cx="6093326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アンケートから作る体質分類</a:t>
            </a:r>
          </a:p>
        </p:txBody>
      </p:sp>
      <p:sp>
        <p:nvSpPr>
          <p:cNvPr id="1614914975" name="テキスト ボックス 6"/>
          <p:cNvSpPr txBox="1"/>
          <p:nvPr/>
        </p:nvSpPr>
        <p:spPr bwMode="auto">
          <a:xfrm>
            <a:off x="6256483" y="944824"/>
            <a:ext cx="528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5</a:t>
            </a:r>
            <a:r>
              <a:rPr lang="ja-JP" sz="2400">
                <a:latin typeface="BIZ UDPゴシック"/>
                <a:ea typeface="BIZ UDPゴシック"/>
              </a:rPr>
              <a:t>クラスターはこのような特徴</a:t>
            </a:r>
          </a:p>
        </p:txBody>
      </p:sp>
      <p:graphicFrame>
        <p:nvGraphicFramePr>
          <p:cNvPr id="1560157219" name="表 7"/>
          <p:cNvGraphicFramePr>
            <a:graphicFrameLocks noGrp="1"/>
          </p:cNvGraphicFramePr>
          <p:nvPr/>
        </p:nvGraphicFramePr>
        <p:xfrm>
          <a:off x="2702331" y="1522540"/>
          <a:ext cx="9242926" cy="4744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9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2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810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PC0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PC1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PC2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体質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10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cluster_0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気虚・瘀血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107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cluster_1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健康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107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cluster_2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虚寒、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107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cluster_3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軽度冷え性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107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cluster_4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+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気滞、水滞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6349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正の相関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・</a:t>
                      </a:r>
                      <a:r>
                        <a:rPr lang="en-US"/>
                        <a:t>A</a:t>
                      </a:r>
                      <a:r>
                        <a:rPr lang="ja-JP"/>
                        <a:t>項目</a:t>
                      </a:r>
                      <a:r>
                        <a:rPr lang="en-US"/>
                        <a:t>,B</a:t>
                      </a:r>
                      <a:r>
                        <a:rPr lang="ja-JP"/>
                        <a:t>項目</a:t>
                      </a:r>
                      <a:endParaRPr lang="en-US"/>
                    </a:p>
                    <a:p>
                      <a:pPr>
                        <a:defRPr/>
                      </a:pPr>
                      <a:r>
                        <a:rPr lang="ja-JP"/>
                        <a:t>・冷え性</a:t>
                      </a:r>
                      <a:endParaRPr lang="en-US"/>
                    </a:p>
                    <a:p>
                      <a:pPr>
                        <a:defRPr/>
                      </a:pPr>
                      <a:r>
                        <a:rPr lang="ja-JP"/>
                        <a:t>・冷え</a:t>
                      </a:r>
                      <a:r>
                        <a:rPr lang="en-US"/>
                        <a:t>Q1,2,3,14,17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・</a:t>
                      </a:r>
                      <a:r>
                        <a:rPr lang="en-US"/>
                        <a:t>A</a:t>
                      </a:r>
                      <a:r>
                        <a:rPr lang="ja-JP"/>
                        <a:t>項目</a:t>
                      </a:r>
                      <a:r>
                        <a:rPr lang="en-US"/>
                        <a:t>,B</a:t>
                      </a:r>
                      <a:r>
                        <a:rPr lang="ja-JP"/>
                        <a:t>項目</a:t>
                      </a:r>
                      <a:endParaRPr lang="en-US"/>
                    </a:p>
                    <a:p>
                      <a:pPr>
                        <a:defRPr/>
                      </a:pPr>
                      <a:r>
                        <a:rPr lang="ja-JP"/>
                        <a:t>・冷え性</a:t>
                      </a:r>
                      <a:endParaRPr lang="en-US"/>
                    </a:p>
                    <a:p>
                      <a:pPr>
                        <a:defRPr/>
                      </a:pPr>
                      <a:r>
                        <a:rPr lang="ja-JP"/>
                        <a:t>・冷え</a:t>
                      </a:r>
                      <a:r>
                        <a:rPr lang="en-US"/>
                        <a:t>Q1,3,7,8,14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体質</a:t>
                      </a:r>
                      <a:r>
                        <a:rPr lang="en-US"/>
                        <a:t>Q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US"/>
                        <a:t>1,3,13,27,43,44,47,51</a:t>
                      </a:r>
                      <a:endParaRPr/>
                    </a:p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018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負の相関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・体質</a:t>
                      </a:r>
                      <a:r>
                        <a:rPr lang="en-US"/>
                        <a:t>Q:1,2,3,13,25,33</a:t>
                      </a:r>
                      <a:r>
                        <a:rPr lang="ja-JP"/>
                        <a:t>、</a:t>
                      </a:r>
                      <a:r>
                        <a:rPr lang="en-US"/>
                        <a:t>36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・冷え</a:t>
                      </a:r>
                      <a:r>
                        <a:rPr lang="en-US"/>
                        <a:t>Q:15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ja-JP"/>
                        <a:t>・体質</a:t>
                      </a:r>
                      <a:r>
                        <a:rPr lang="en-US"/>
                        <a:t>Q:33,15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・体質</a:t>
                      </a:r>
                      <a:r>
                        <a:rPr lang="en-US"/>
                        <a:t>Q:57 ,23,39 ,50 ,42,10,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24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冷え、だるさ軸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(PC1</a:t>
                      </a:r>
                      <a:r>
                        <a:rPr lang="ja-JP"/>
                        <a:t>のノイズ？</a:t>
                      </a:r>
                      <a:r>
                        <a:rPr lang="en-US"/>
                        <a:t>)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頭痛、女性、尿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954874" name="タイトル 1"/>
          <p:cNvSpPr>
            <a:spLocks noGrp="1"/>
          </p:cNvSpPr>
          <p:nvPr>
            <p:ph type="title"/>
          </p:nvPr>
        </p:nvSpPr>
        <p:spPr bwMode="auto">
          <a:xfrm>
            <a:off x="104273" y="244810"/>
            <a:ext cx="6354583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毛髪からこれらの分類がひも解けるか</a:t>
            </a:r>
            <a:endParaRPr/>
          </a:p>
        </p:txBody>
      </p:sp>
      <p:pic>
        <p:nvPicPr>
          <p:cNvPr id="301368647" name="Picture 2" descr="Imaging of the Archimedes Palimpsest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670659" y="1959470"/>
            <a:ext cx="2432395" cy="2133559"/>
          </a:xfrm>
          <a:prstGeom prst="rect">
            <a:avLst/>
          </a:prstGeom>
          <a:noFill/>
        </p:spPr>
      </p:pic>
      <p:sp>
        <p:nvSpPr>
          <p:cNvPr id="590771713" name="テキスト ボックス 3"/>
          <p:cNvSpPr txBox="1"/>
          <p:nvPr/>
        </p:nvSpPr>
        <p:spPr bwMode="auto">
          <a:xfrm>
            <a:off x="1001486" y="4470400"/>
            <a:ext cx="1770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スペクトル</a:t>
            </a:r>
            <a:r>
              <a:rPr lang="en-US" sz="2400">
                <a:latin typeface="BIZ UDPゴシック"/>
                <a:ea typeface="BIZ UDPゴシック"/>
              </a:rPr>
              <a:t>(</a:t>
            </a:r>
            <a:r>
              <a:rPr lang="ja-JP" sz="2400">
                <a:latin typeface="BIZ UDPゴシック"/>
                <a:ea typeface="BIZ UDPゴシック"/>
              </a:rPr>
              <a:t>課題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endParaRPr/>
          </a:p>
        </p:txBody>
      </p:sp>
      <p:sp>
        <p:nvSpPr>
          <p:cNvPr id="679971849" name="右矢印 4"/>
          <p:cNvSpPr/>
          <p:nvPr/>
        </p:nvSpPr>
        <p:spPr bwMode="auto">
          <a:xfrm>
            <a:off x="7245060" y="2926753"/>
            <a:ext cx="1683657" cy="76925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23518897" name="テキスト ボックス 5"/>
          <p:cNvSpPr txBox="1"/>
          <p:nvPr/>
        </p:nvSpPr>
        <p:spPr bwMode="auto">
          <a:xfrm>
            <a:off x="4412258" y="4539140"/>
            <a:ext cx="22787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第三主成分スコア（教師データ）</a:t>
            </a:r>
            <a:endParaRPr/>
          </a:p>
        </p:txBody>
      </p:sp>
      <p:pic>
        <p:nvPicPr>
          <p:cNvPr id="1281998055" name="図 6"/>
          <p:cNvPicPr>
            <a:picLocks noChangeAspect="1"/>
          </p:cNvPicPr>
          <p:nvPr/>
        </p:nvPicPr>
        <p:blipFill rotWithShape="1">
          <a:blip r:embed="rId4"/>
          <a:srcRect l="6486" t="9340"/>
          <a:stretch/>
        </p:blipFill>
        <p:spPr bwMode="auto">
          <a:xfrm>
            <a:off x="3774965" y="1528041"/>
            <a:ext cx="3175954" cy="3131215"/>
          </a:xfrm>
          <a:prstGeom prst="rect">
            <a:avLst/>
          </a:prstGeom>
        </p:spPr>
      </p:pic>
      <p:sp>
        <p:nvSpPr>
          <p:cNvPr id="1797922903" name="テキスト ボックス 7"/>
          <p:cNvSpPr txBox="1"/>
          <p:nvPr/>
        </p:nvSpPr>
        <p:spPr bwMode="auto">
          <a:xfrm>
            <a:off x="7110651" y="3862196"/>
            <a:ext cx="2918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変形</a:t>
            </a:r>
            <a:r>
              <a:rPr lang="en-US" sz="2400">
                <a:latin typeface="BIZ UDPゴシック"/>
                <a:ea typeface="BIZ UDPゴシック"/>
              </a:rPr>
              <a:t>CNN</a:t>
            </a:r>
            <a:br>
              <a:rPr lang="en-US" sz="2400">
                <a:latin typeface="BIZ UDPゴシック"/>
                <a:ea typeface="BIZ UDPゴシック"/>
              </a:rPr>
            </a:br>
            <a:r>
              <a:rPr lang="en-US" sz="2400">
                <a:latin typeface="BIZ UDPゴシック"/>
                <a:ea typeface="BIZ UDPゴシック"/>
              </a:rPr>
              <a:t>(HSI</a:t>
            </a:r>
            <a:r>
              <a:rPr lang="ja-JP" sz="2400">
                <a:latin typeface="BIZ UDPゴシック"/>
                <a:ea typeface="BIZ UDPゴシック"/>
              </a:rPr>
              <a:t>を学習できるようにチューニング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1426674267" name="テキスト ボックス 9"/>
          <p:cNvSpPr txBox="1"/>
          <p:nvPr/>
        </p:nvSpPr>
        <p:spPr bwMode="auto">
          <a:xfrm>
            <a:off x="8928717" y="2467975"/>
            <a:ext cx="32632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モデルが成立するか。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＝漢方体質スコアが毛髪へ影響しているかどうか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227463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モデル評価</a:t>
            </a:r>
          </a:p>
        </p:txBody>
      </p:sp>
      <p:graphicFrame>
        <p:nvGraphicFramePr>
          <p:cNvPr id="1353352925" name="表 4"/>
          <p:cNvGraphicFramePr>
            <a:graphicFrameLocks noGrp="1"/>
          </p:cNvGraphicFramePr>
          <p:nvPr/>
        </p:nvGraphicFramePr>
        <p:xfrm>
          <a:off x="104274" y="1607784"/>
          <a:ext cx="6583680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Pearson R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N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PC0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PC1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PC2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dirty="0"/>
                        <a:t>overall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all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228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0.315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0.114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0.411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male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young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-0.351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-0.044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-0.195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middle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0.119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-0.051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-0.027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senior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-0.212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-0.105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0.107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female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young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0.109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-0.104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0.365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middle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0.041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-0.087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0.225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senior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-0.118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0.049</a:t>
                      </a:r>
                      <a:endParaRPr lang="ja-JP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0.386</a:t>
                      </a:r>
                      <a:endParaRPr lang="ja-JP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66593127" name="テキスト ボックス 5"/>
          <p:cNvSpPr txBox="1"/>
          <p:nvPr/>
        </p:nvSpPr>
        <p:spPr bwMode="auto">
          <a:xfrm flipH="1">
            <a:off x="104274" y="1087175"/>
            <a:ext cx="802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予測値と実測値を比べたピアソンンの相関関数</a:t>
            </a:r>
            <a:r>
              <a:rPr lang="en-US" sz="2400">
                <a:latin typeface="BIZ UDPゴシック"/>
                <a:ea typeface="BIZ UDPゴシック"/>
              </a:rPr>
              <a:t>R</a:t>
            </a:r>
            <a:r>
              <a:rPr lang="ja-JP" sz="2400">
                <a:latin typeface="BIZ UDPゴシック"/>
                <a:ea typeface="BIZ UDPゴシック"/>
              </a:rPr>
              <a:t>を指標</a:t>
            </a:r>
            <a:endParaRPr/>
          </a:p>
        </p:txBody>
      </p:sp>
      <p:graphicFrame>
        <p:nvGraphicFramePr>
          <p:cNvPr id="1888951721" name="グラフ 8"/>
          <p:cNvGraphicFramePr>
            <a:graphicFrameLocks/>
          </p:cNvGraphicFramePr>
          <p:nvPr/>
        </p:nvGraphicFramePr>
        <p:xfrm>
          <a:off x="6687954" y="1548840"/>
          <a:ext cx="5602513" cy="3153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17595733" name="テキスト ボックス 9"/>
          <p:cNvSpPr txBox="1"/>
          <p:nvPr/>
        </p:nvSpPr>
        <p:spPr bwMode="auto">
          <a:xfrm>
            <a:off x="291308" y="4761573"/>
            <a:ext cx="121494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PC0</a:t>
            </a:r>
            <a:r>
              <a:rPr lang="ja-JP" sz="2400">
                <a:latin typeface="BIZ UDPゴシック"/>
                <a:ea typeface="BIZ UDPゴシック"/>
              </a:rPr>
              <a:t>→判断が難しいライン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PC1</a:t>
            </a:r>
            <a:r>
              <a:rPr lang="ja-JP" sz="2400">
                <a:latin typeface="BIZ UDPゴシック"/>
                <a:ea typeface="BIZ UDPゴシック"/>
              </a:rPr>
              <a:t>→交絡を除去すると予測はほぼ不成立（</a:t>
            </a:r>
            <a:r>
              <a:rPr lang="en-US" sz="2400">
                <a:latin typeface="BIZ UDPゴシック"/>
                <a:ea typeface="BIZ UDPゴシック"/>
              </a:rPr>
              <a:t>PC3</a:t>
            </a:r>
            <a:r>
              <a:rPr lang="ja-JP" sz="2400">
                <a:latin typeface="BIZ UDPゴシック"/>
                <a:ea typeface="BIZ UDPゴシック"/>
              </a:rPr>
              <a:t>使った方が新たな分類できそう・・）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PC2</a:t>
            </a:r>
            <a:r>
              <a:rPr lang="ja-JP" sz="2400">
                <a:latin typeface="BIZ UDPゴシック"/>
                <a:ea typeface="BIZ UDPゴシック"/>
              </a:rPr>
              <a:t>→特に女性では予測ができるか？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ある程度髪の毛から体質は分類できそう（そんなに精度は高くない、交絡の可能性）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CC46A69-8F50-3969-0195-66D83F58E7F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025324" name="タイトル 1">
            <a:extLst>
              <a:ext uri="{FF2B5EF4-FFF2-40B4-BE49-F238E27FC236}">
                <a16:creationId xmlns:a16="http://schemas.microsoft.com/office/drawing/2014/main" id="{A67544B5-EEAA-F3DC-BD8C-2ECEB7A14AE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66396" y="235573"/>
            <a:ext cx="7353604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2-1.NIR-HSI(</a:t>
            </a:r>
            <a:r>
              <a:rPr lang="ja-JP"/>
              <a:t>毛髪データ</a:t>
            </a:r>
            <a:r>
              <a:rPr lang="en-US"/>
              <a:t>)</a:t>
            </a:r>
            <a:r>
              <a:rPr lang="ja-JP"/>
              <a:t>と漢方体質分類</a:t>
            </a:r>
            <a:endParaRPr/>
          </a:p>
        </p:txBody>
      </p:sp>
      <p:pic>
        <p:nvPicPr>
          <p:cNvPr id="1243817927" name="Picture 2" descr="Imaging of the Archimedes Palimpsest">
            <a:extLst>
              <a:ext uri="{FF2B5EF4-FFF2-40B4-BE49-F238E27FC236}">
                <a16:creationId xmlns:a16="http://schemas.microsoft.com/office/drawing/2014/main" id="{7A1CAF82-1937-8F65-3D97-0573C6E6DB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1101687" y="2100655"/>
            <a:ext cx="2432395" cy="2133559"/>
          </a:xfrm>
          <a:prstGeom prst="rect">
            <a:avLst/>
          </a:prstGeom>
          <a:noFill/>
        </p:spPr>
      </p:pic>
      <p:sp>
        <p:nvSpPr>
          <p:cNvPr id="699545637" name="テキスト ボックス 4">
            <a:extLst>
              <a:ext uri="{FF2B5EF4-FFF2-40B4-BE49-F238E27FC236}">
                <a16:creationId xmlns:a16="http://schemas.microsoft.com/office/drawing/2014/main" id="{1CFD0782-C265-C207-A5BF-9A87C46223AB}"/>
              </a:ext>
            </a:extLst>
          </p:cNvPr>
          <p:cNvSpPr txBox="1"/>
          <p:nvPr/>
        </p:nvSpPr>
        <p:spPr bwMode="auto">
          <a:xfrm>
            <a:off x="1101686" y="1596768"/>
            <a:ext cx="341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毛髪</a:t>
            </a: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キューブ</a:t>
            </a:r>
          </a:p>
        </p:txBody>
      </p:sp>
      <p:sp>
        <p:nvSpPr>
          <p:cNvPr id="1783692051" name="矢印: 右 5">
            <a:extLst>
              <a:ext uri="{FF2B5EF4-FFF2-40B4-BE49-F238E27FC236}">
                <a16:creationId xmlns:a16="http://schemas.microsoft.com/office/drawing/2014/main" id="{88EFD891-7DD8-B965-BF7A-D8FDCB81BBB8}"/>
              </a:ext>
            </a:extLst>
          </p:cNvPr>
          <p:cNvSpPr/>
          <p:nvPr/>
        </p:nvSpPr>
        <p:spPr bwMode="auto">
          <a:xfrm>
            <a:off x="4512512" y="2681263"/>
            <a:ext cx="1533236" cy="11176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graphicFrame>
        <p:nvGraphicFramePr>
          <p:cNvPr id="657960617" name="表 7">
            <a:extLst>
              <a:ext uri="{FF2B5EF4-FFF2-40B4-BE49-F238E27FC236}">
                <a16:creationId xmlns:a16="http://schemas.microsoft.com/office/drawing/2014/main" id="{98D80D6D-D763-8B45-BEFF-071A191B494A}"/>
              </a:ext>
            </a:extLst>
          </p:cNvPr>
          <p:cNvGraphicFramePr>
            <a:graphicFrameLocks noGrp="1"/>
          </p:cNvGraphicFramePr>
          <p:nvPr/>
        </p:nvGraphicFramePr>
        <p:xfrm>
          <a:off x="6614776" y="2346926"/>
          <a:ext cx="5250500" cy="232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1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39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97553246" name="テキスト ボックス 8">
            <a:extLst>
              <a:ext uri="{FF2B5EF4-FFF2-40B4-BE49-F238E27FC236}">
                <a16:creationId xmlns:a16="http://schemas.microsoft.com/office/drawing/2014/main" id="{765793BE-299F-1764-6B46-4FA8097FE9D3}"/>
              </a:ext>
            </a:extLst>
          </p:cNvPr>
          <p:cNvSpPr txBox="1"/>
          <p:nvPr/>
        </p:nvSpPr>
        <p:spPr bwMode="auto">
          <a:xfrm>
            <a:off x="7324435" y="1596766"/>
            <a:ext cx="4304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漢方体質分類が予測可能か？</a:t>
            </a:r>
            <a:endParaRPr/>
          </a:p>
        </p:txBody>
      </p:sp>
      <p:sp>
        <p:nvSpPr>
          <p:cNvPr id="2059282283" name="テキスト ボックス 9">
            <a:extLst>
              <a:ext uri="{FF2B5EF4-FFF2-40B4-BE49-F238E27FC236}">
                <a16:creationId xmlns:a16="http://schemas.microsoft.com/office/drawing/2014/main" id="{055E9757-754F-87D3-0912-5CC896706B47}"/>
              </a:ext>
            </a:extLst>
          </p:cNvPr>
          <p:cNvSpPr txBox="1"/>
          <p:nvPr/>
        </p:nvSpPr>
        <p:spPr bwMode="auto">
          <a:xfrm>
            <a:off x="797277" y="5065135"/>
            <a:ext cx="10597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Efficientnet</a:t>
            </a:r>
            <a:r>
              <a:rPr lang="ja-JP" sz="2400">
                <a:latin typeface="BIZ UDPゴシック"/>
                <a:ea typeface="BIZ UDPゴシック"/>
              </a:rPr>
              <a:t>の頭部にスペクトル折り畳み層を挿入した</a:t>
            </a:r>
            <a:r>
              <a:rPr lang="en-US" sz="2400">
                <a:latin typeface="BIZ UDPゴシック"/>
                <a:ea typeface="BIZ UDPゴシック"/>
              </a:rPr>
              <a:t>CNN</a:t>
            </a:r>
            <a:r>
              <a:rPr lang="ja-JP" sz="2400">
                <a:latin typeface="BIZ UDPゴシック"/>
                <a:ea typeface="BIZ UDPゴシック"/>
              </a:rPr>
              <a:t>で学習させる。</a:t>
            </a:r>
            <a:endParaRPr lang="en-US" sz="2400">
              <a:latin typeface="BIZ UDPゴシック"/>
              <a:ea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03693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80BC074-9D57-FFD5-D65C-FF99523C2CC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168381" name="タイトル 1">
            <a:extLst>
              <a:ext uri="{FF2B5EF4-FFF2-40B4-BE49-F238E27FC236}">
                <a16:creationId xmlns:a16="http://schemas.microsoft.com/office/drawing/2014/main" id="{C38EF18C-3761-A6ED-32AD-665D61616E5B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2-2:</a:t>
            </a:r>
            <a:r>
              <a:rPr lang="ja-JP"/>
              <a:t>結果</a:t>
            </a:r>
            <a:endParaRPr/>
          </a:p>
        </p:txBody>
      </p:sp>
      <p:sp>
        <p:nvSpPr>
          <p:cNvPr id="59066189" name="テキスト ボックス 2">
            <a:extLst>
              <a:ext uri="{FF2B5EF4-FFF2-40B4-BE49-F238E27FC236}">
                <a16:creationId xmlns:a16="http://schemas.microsoft.com/office/drawing/2014/main" id="{A6068F69-B5AC-9F88-61DB-73DBF8147284}"/>
              </a:ext>
            </a:extLst>
          </p:cNvPr>
          <p:cNvSpPr txBox="1"/>
          <p:nvPr/>
        </p:nvSpPr>
        <p:spPr bwMode="auto">
          <a:xfrm>
            <a:off x="221673" y="1043707"/>
            <a:ext cx="93474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・層別分類にかけると１群のデータ数が少なくなる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・層の中でも年齢の影響はあるかもしれない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↓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交絡除去のため、残渣予測</a:t>
            </a:r>
            <a:r>
              <a:rPr lang="en-US" sz="2400" dirty="0">
                <a:latin typeface="BIZ UDPゴシック"/>
                <a:ea typeface="BIZ UDPゴシック"/>
              </a:rPr>
              <a:t>(</a:t>
            </a:r>
            <a:r>
              <a:rPr lang="ja-JP" sz="2400" dirty="0">
                <a:latin typeface="BIZ UDPゴシック"/>
                <a:ea typeface="BIZ UDPゴシック"/>
              </a:rPr>
              <a:t>年齢性別で予測した後の差分ターゲット</a:t>
            </a:r>
            <a:r>
              <a:rPr lang="en-US" sz="2400" dirty="0">
                <a:latin typeface="BIZ UDPゴシック"/>
                <a:ea typeface="BIZ UDPゴシック"/>
              </a:rPr>
              <a:t>)</a:t>
            </a:r>
            <a:endParaRPr dirty="0"/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＋</a:t>
            </a:r>
            <a:r>
              <a:rPr lang="en-US" sz="2400" dirty="0">
                <a:latin typeface="BIZ UDPゴシック"/>
                <a:ea typeface="BIZ UDPゴシック"/>
              </a:rPr>
              <a:t>GRL(</a:t>
            </a:r>
            <a:r>
              <a:rPr lang="ja-JP" sz="2400" dirty="0">
                <a:latin typeface="BIZ UDPゴシック"/>
                <a:ea typeface="BIZ UDPゴシック"/>
              </a:rPr>
              <a:t>年齢性別から予測されたとき、罰を与える</a:t>
            </a:r>
            <a:r>
              <a:rPr lang="en-US" sz="2400" dirty="0">
                <a:latin typeface="BIZ UDPゴシック"/>
                <a:ea typeface="BIZ UDPゴシック"/>
              </a:rPr>
              <a:t>)</a:t>
            </a:r>
            <a:r>
              <a:rPr lang="ja-JP" sz="2400" dirty="0">
                <a:latin typeface="BIZ UDPゴシック"/>
                <a:ea typeface="BIZ UDPゴシック"/>
              </a:rPr>
              <a:t>を導入。</a:t>
            </a:r>
            <a:endParaRPr dirty="0"/>
          </a:p>
        </p:txBody>
      </p:sp>
      <p:sp>
        <p:nvSpPr>
          <p:cNvPr id="1495115831" name="テキスト ボックス 4">
            <a:extLst>
              <a:ext uri="{FF2B5EF4-FFF2-40B4-BE49-F238E27FC236}">
                <a16:creationId xmlns:a16="http://schemas.microsoft.com/office/drawing/2014/main" id="{F0876FF1-A0CC-4D9B-469A-1CA827AEECC7}"/>
              </a:ext>
            </a:extLst>
          </p:cNvPr>
          <p:cNvSpPr txBox="1"/>
          <p:nvPr/>
        </p:nvSpPr>
        <p:spPr bwMode="auto">
          <a:xfrm>
            <a:off x="775854" y="3321680"/>
            <a:ext cx="7515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まずは前回と同様に各主成分軸の値を予測ターゲット。</a:t>
            </a:r>
            <a:endParaRPr/>
          </a:p>
        </p:txBody>
      </p:sp>
      <p:pic>
        <p:nvPicPr>
          <p:cNvPr id="574980943" name="図 8">
            <a:extLst>
              <a:ext uri="{FF2B5EF4-FFF2-40B4-BE49-F238E27FC236}">
                <a16:creationId xmlns:a16="http://schemas.microsoft.com/office/drawing/2014/main" id="{0A1E35BF-C68C-4E72-EECE-D7A7F5959E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639" r="16335"/>
          <a:stretch/>
        </p:blipFill>
        <p:spPr bwMode="auto">
          <a:xfrm>
            <a:off x="517236" y="3731444"/>
            <a:ext cx="3331834" cy="2881746"/>
          </a:xfrm>
          <a:prstGeom prst="rect">
            <a:avLst/>
          </a:prstGeom>
        </p:spPr>
      </p:pic>
      <p:cxnSp>
        <p:nvCxnSpPr>
          <p:cNvPr id="1137616825" name="直線矢印コネクタ 10">
            <a:extLst>
              <a:ext uri="{FF2B5EF4-FFF2-40B4-BE49-F238E27FC236}">
                <a16:creationId xmlns:a16="http://schemas.microsoft.com/office/drawing/2014/main" id="{8082E75A-3D1F-DDCF-2EA9-4D65B93DE71D}"/>
              </a:ext>
            </a:extLst>
          </p:cNvPr>
          <p:cNvCxnSpPr/>
          <p:nvPr/>
        </p:nvCxnSpPr>
        <p:spPr bwMode="auto">
          <a:xfrm flipV="1">
            <a:off x="2142837" y="4193109"/>
            <a:ext cx="0" cy="95134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9472381" name="直線矢印コネクタ 11">
            <a:extLst>
              <a:ext uri="{FF2B5EF4-FFF2-40B4-BE49-F238E27FC236}">
                <a16:creationId xmlns:a16="http://schemas.microsoft.com/office/drawing/2014/main" id="{BC8AA878-7589-4D5D-2C64-BF4747799B3B}"/>
              </a:ext>
            </a:extLst>
          </p:cNvPr>
          <p:cNvCxnSpPr/>
          <p:nvPr/>
        </p:nvCxnSpPr>
        <p:spPr bwMode="auto">
          <a:xfrm flipH="1">
            <a:off x="1108364" y="5181378"/>
            <a:ext cx="1034473" cy="4528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1819673" name="直線矢印コネクタ 13">
            <a:extLst>
              <a:ext uri="{FF2B5EF4-FFF2-40B4-BE49-F238E27FC236}">
                <a16:creationId xmlns:a16="http://schemas.microsoft.com/office/drawing/2014/main" id="{0A009DC7-5CF8-490F-46E3-C9F2FF3D9CAF}"/>
              </a:ext>
            </a:extLst>
          </p:cNvPr>
          <p:cNvCxnSpPr/>
          <p:nvPr/>
        </p:nvCxnSpPr>
        <p:spPr bwMode="auto">
          <a:xfrm>
            <a:off x="2142837" y="5181378"/>
            <a:ext cx="1339272" cy="6329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10526740" name="テキスト ボックス 17">
            <a:extLst>
              <a:ext uri="{FF2B5EF4-FFF2-40B4-BE49-F238E27FC236}">
                <a16:creationId xmlns:a16="http://schemas.microsoft.com/office/drawing/2014/main" id="{0B3BED00-122A-9D1A-8CA6-CE88AF2CBF9D}"/>
              </a:ext>
            </a:extLst>
          </p:cNvPr>
          <p:cNvSpPr txBox="1"/>
          <p:nvPr/>
        </p:nvSpPr>
        <p:spPr bwMode="auto">
          <a:xfrm>
            <a:off x="2050502" y="3714184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PC1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1092757982" name="テキスト ボックス 19">
            <a:extLst>
              <a:ext uri="{FF2B5EF4-FFF2-40B4-BE49-F238E27FC236}">
                <a16:creationId xmlns:a16="http://schemas.microsoft.com/office/drawing/2014/main" id="{D93A0626-CED2-0887-88C3-690F2B5E16E9}"/>
              </a:ext>
            </a:extLst>
          </p:cNvPr>
          <p:cNvSpPr txBox="1"/>
          <p:nvPr/>
        </p:nvSpPr>
        <p:spPr bwMode="auto">
          <a:xfrm>
            <a:off x="3073579" y="5259944"/>
            <a:ext cx="893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PC3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418776984" name="テキスト ボックス 21">
            <a:extLst>
              <a:ext uri="{FF2B5EF4-FFF2-40B4-BE49-F238E27FC236}">
                <a16:creationId xmlns:a16="http://schemas.microsoft.com/office/drawing/2014/main" id="{FD7AD990-44B7-4190-B298-77A29C23D8DD}"/>
              </a:ext>
            </a:extLst>
          </p:cNvPr>
          <p:cNvSpPr txBox="1"/>
          <p:nvPr/>
        </p:nvSpPr>
        <p:spPr bwMode="auto">
          <a:xfrm>
            <a:off x="3924209" y="4341320"/>
            <a:ext cx="31009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←この軸の向きを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ターゲットにして予測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・・・→難しかった。</a:t>
            </a:r>
          </a:p>
        </p:txBody>
      </p:sp>
      <p:sp>
        <p:nvSpPr>
          <p:cNvPr id="1268331615" name="テキスト ボックス 31">
            <a:extLst>
              <a:ext uri="{FF2B5EF4-FFF2-40B4-BE49-F238E27FC236}">
                <a16:creationId xmlns:a16="http://schemas.microsoft.com/office/drawing/2014/main" id="{EA841A11-2D7C-3319-C89E-6CF983AE8CBE}"/>
              </a:ext>
            </a:extLst>
          </p:cNvPr>
          <p:cNvSpPr txBox="1"/>
          <p:nvPr/>
        </p:nvSpPr>
        <p:spPr bwMode="auto">
          <a:xfrm>
            <a:off x="634939" y="5031740"/>
            <a:ext cx="893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PC2</a:t>
            </a:r>
            <a:endParaRPr lang="ja-JP" sz="2400">
              <a:latin typeface="BIZ UDPゴシック"/>
              <a:ea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145203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82F7EB7-7C3D-F935-9ECA-E896C7EA6C7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331692" name="タイトル 1">
            <a:extLst>
              <a:ext uri="{FF2B5EF4-FFF2-40B4-BE49-F238E27FC236}">
                <a16:creationId xmlns:a16="http://schemas.microsoft.com/office/drawing/2014/main" id="{C36C1131-1D25-4348-8DAB-3EB7895E27A6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2-3:</a:t>
            </a:r>
            <a:r>
              <a:rPr lang="ja-JP"/>
              <a:t>結果</a:t>
            </a:r>
            <a:endParaRPr/>
          </a:p>
        </p:txBody>
      </p:sp>
      <p:sp>
        <p:nvSpPr>
          <p:cNvPr id="588141789" name="テキスト ボックス 3">
            <a:extLst>
              <a:ext uri="{FF2B5EF4-FFF2-40B4-BE49-F238E27FC236}">
                <a16:creationId xmlns:a16="http://schemas.microsoft.com/office/drawing/2014/main" id="{5E4D16BD-21BF-2E34-5F82-E1AF100075F5}"/>
              </a:ext>
            </a:extLst>
          </p:cNvPr>
          <p:cNvSpPr txBox="1"/>
          <p:nvPr/>
        </p:nvSpPr>
        <p:spPr bwMode="auto">
          <a:xfrm>
            <a:off x="230908" y="957171"/>
            <a:ext cx="80794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今回は結果がそもそも６項目なので、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PCA</a:t>
            </a:r>
            <a:r>
              <a:rPr lang="ja-JP" sz="2400">
                <a:latin typeface="BIZ UDPゴシック"/>
                <a:ea typeface="BIZ UDPゴシック"/>
              </a:rPr>
              <a:t>にかけて集約しなくてもそれぞれをターゲットに可能。</a:t>
            </a:r>
          </a:p>
        </p:txBody>
      </p:sp>
      <p:graphicFrame>
        <p:nvGraphicFramePr>
          <p:cNvPr id="1416226424" name="表 5">
            <a:extLst>
              <a:ext uri="{FF2B5EF4-FFF2-40B4-BE49-F238E27FC236}">
                <a16:creationId xmlns:a16="http://schemas.microsoft.com/office/drawing/2014/main" id="{7DD499E8-81D1-813D-CC4F-F3541E427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533652"/>
              </p:ext>
            </p:extLst>
          </p:nvPr>
        </p:nvGraphicFramePr>
        <p:xfrm>
          <a:off x="518776" y="1949762"/>
          <a:ext cx="5250500" cy="232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dirty="0"/>
                        <a:t>6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1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39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dirty="0"/>
                        <a:t>23</a:t>
                      </a: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6733117" name="矢印: 下 6">
            <a:extLst>
              <a:ext uri="{FF2B5EF4-FFF2-40B4-BE49-F238E27FC236}">
                <a16:creationId xmlns:a16="http://schemas.microsoft.com/office/drawing/2014/main" id="{17971173-A7B0-C088-0F15-1361EB0E2557}"/>
              </a:ext>
            </a:extLst>
          </p:cNvPr>
          <p:cNvSpPr/>
          <p:nvPr/>
        </p:nvSpPr>
        <p:spPr bwMode="auto">
          <a:xfrm rot="16200000" flipV="1">
            <a:off x="5686072" y="2012608"/>
            <a:ext cx="628073" cy="461665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903752171" name="テキスト ボックス 7">
            <a:extLst>
              <a:ext uri="{FF2B5EF4-FFF2-40B4-BE49-F238E27FC236}">
                <a16:creationId xmlns:a16="http://schemas.microsoft.com/office/drawing/2014/main" id="{89CC91F8-C16B-B192-7328-6E7008B3A49B}"/>
              </a:ext>
            </a:extLst>
          </p:cNvPr>
          <p:cNvSpPr txBox="1"/>
          <p:nvPr/>
        </p:nvSpPr>
        <p:spPr bwMode="auto">
          <a:xfrm>
            <a:off x="6422726" y="1881396"/>
            <a:ext cx="50113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この値を直接予測にかける</a:t>
            </a:r>
            <a:r>
              <a:rPr lang="ja-JP" altLang="en-US" sz="2400" dirty="0">
                <a:latin typeface="BIZ UDPゴシック"/>
                <a:ea typeface="BIZ UDPゴシック"/>
              </a:rPr>
              <a:t>と</a:t>
            </a:r>
            <a:endParaRPr lang="en-US" altLang="ja-JP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altLang="en-US" sz="2400" dirty="0">
                <a:latin typeface="BIZ UDPゴシック"/>
                <a:ea typeface="BIZ UDPゴシック"/>
              </a:rPr>
              <a:t>それぞれの項目に対して予測結果が</a:t>
            </a:r>
            <a:endParaRPr lang="en-US" altLang="ja-JP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altLang="en-US" sz="2400" dirty="0">
                <a:latin typeface="BIZ UDPゴシック"/>
                <a:ea typeface="BIZ UDPゴシック"/>
              </a:rPr>
              <a:t>返される</a:t>
            </a:r>
            <a:r>
              <a:rPr lang="ja-JP" sz="2400" dirty="0">
                <a:latin typeface="BIZ UDPゴシック"/>
                <a:ea typeface="BIZ UDPゴシック"/>
              </a:rPr>
              <a:t>。</a:t>
            </a:r>
          </a:p>
        </p:txBody>
      </p:sp>
      <p:sp>
        <p:nvSpPr>
          <p:cNvPr id="1671992736" name="テキスト ボックス 9">
            <a:extLst>
              <a:ext uri="{FF2B5EF4-FFF2-40B4-BE49-F238E27FC236}">
                <a16:creationId xmlns:a16="http://schemas.microsoft.com/office/drawing/2014/main" id="{5ADBE5F7-073A-2E08-4D1E-6BF41FF1C989}"/>
              </a:ext>
            </a:extLst>
          </p:cNvPr>
          <p:cNvSpPr txBox="1"/>
          <p:nvPr/>
        </p:nvSpPr>
        <p:spPr bwMode="auto">
          <a:xfrm>
            <a:off x="4576708" y="6613190"/>
            <a:ext cx="59112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プレスクリーニングで血虚と気虚に可能性あり。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↓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まずは血虚単独にターゲットを絞って、注力。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パラメータ最適化プログラムを使って、時間をかけて（</a:t>
            </a:r>
            <a:r>
              <a:rPr lang="en-US" sz="2400" dirty="0">
                <a:latin typeface="BIZ UDPゴシック"/>
                <a:ea typeface="BIZ UDPゴシック"/>
              </a:rPr>
              <a:t>3</a:t>
            </a:r>
            <a:r>
              <a:rPr lang="ja-JP" sz="2400" dirty="0">
                <a:latin typeface="BIZ UDPゴシック"/>
                <a:ea typeface="BIZ UDPゴシック"/>
              </a:rPr>
              <a:t>日くらい回しっぱなし）自動的に最適化。</a:t>
            </a:r>
            <a:endParaRPr lang="en-US" sz="2400" dirty="0">
              <a:latin typeface="BIZ UDPゴシック"/>
              <a:ea typeface="BIZ UDPゴシック"/>
            </a:endParaRPr>
          </a:p>
        </p:txBody>
      </p:sp>
      <p:graphicFrame>
        <p:nvGraphicFramePr>
          <p:cNvPr id="2" name="表 5">
            <a:extLst>
              <a:ext uri="{FF2B5EF4-FFF2-40B4-BE49-F238E27FC236}">
                <a16:creationId xmlns:a16="http://schemas.microsoft.com/office/drawing/2014/main" id="{D2A83079-C6A1-2CC8-52A7-9C648B695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156822"/>
              </p:ext>
            </p:extLst>
          </p:nvPr>
        </p:nvGraphicFramePr>
        <p:xfrm>
          <a:off x="6376235" y="3174953"/>
          <a:ext cx="52505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 dirty="0"/>
                        <a:t>気虚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 dirty="0"/>
                        <a:t>水滞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altLang="ja-JP" dirty="0"/>
                        <a:t>R2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dirty="0"/>
                        <a:t>6</a:t>
                      </a:r>
                      <a:endParaRPr 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dirty="0"/>
                        <a:t>21</a:t>
                      </a:r>
                      <a:endParaRPr 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723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481715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まとめ</a:t>
            </a:r>
            <a:endParaRPr/>
          </a:p>
        </p:txBody>
      </p:sp>
      <p:sp>
        <p:nvSpPr>
          <p:cNvPr id="1998830385" name="テキスト ボックス 5"/>
          <p:cNvSpPr txBox="1"/>
          <p:nvPr/>
        </p:nvSpPr>
        <p:spPr bwMode="auto">
          <a:xfrm flipH="1">
            <a:off x="333827" y="1219200"/>
            <a:ext cx="111034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・弘前健診での体質分類結果をクラスタリングにかけると、体質によって特徴づけられる５分類にクラスタリングすることができると判明。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・これらのスコアは条件次第だが、</a:t>
            </a: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で予測</a:t>
            </a:r>
            <a:r>
              <a:rPr lang="en-US" sz="2400">
                <a:latin typeface="BIZ UDPゴシック"/>
                <a:ea typeface="BIZ UDPゴシック"/>
              </a:rPr>
              <a:t>/</a:t>
            </a:r>
            <a:r>
              <a:rPr lang="ja-JP" sz="2400">
                <a:latin typeface="BIZ UDPゴシック"/>
                <a:ea typeface="BIZ UDPゴシック"/>
              </a:rPr>
              <a:t>診断ができる可能性がある。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・ただし、情報量としては非常に微小。注意深く検証する必要がある。</a:t>
            </a:r>
            <a:endParaRPr lang="en-US" sz="2400">
              <a:latin typeface="BIZ UDPゴシック"/>
              <a:ea typeface="BIZ UDPゴシック"/>
            </a:endParaRPr>
          </a:p>
        </p:txBody>
      </p:sp>
      <p:sp>
        <p:nvSpPr>
          <p:cNvPr id="1081043507" name="テキスト ボックス 6"/>
          <p:cNvSpPr txBox="1"/>
          <p:nvPr/>
        </p:nvSpPr>
        <p:spPr bwMode="auto">
          <a:xfrm flipH="1">
            <a:off x="333827" y="3840843"/>
            <a:ext cx="111034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今後の課題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・他の体質軸（他の主成分）について未検討。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・スペクトルが重要か？それとも毛髪形状が重要か？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・交絡の可能性はもっと慎重に判断したい。</a:t>
            </a:r>
            <a:endParaRPr lang="en-US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976971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ja-JP"/>
              <a:t>漢方体質アンケート</a:t>
            </a:r>
            <a:endParaRPr/>
          </a:p>
        </p:txBody>
      </p:sp>
      <p:sp>
        <p:nvSpPr>
          <p:cNvPr id="16393879" name="テキスト ボックス 3"/>
          <p:cNvSpPr txBox="1"/>
          <p:nvPr/>
        </p:nvSpPr>
        <p:spPr bwMode="auto">
          <a:xfrm>
            <a:off x="457200" y="932289"/>
            <a:ext cx="11281815" cy="82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dirty="0">
                <a:latin typeface="BIZ UDPゴシック"/>
                <a:ea typeface="BIZ UDPゴシック"/>
              </a:rPr>
              <a:t>2024</a:t>
            </a:r>
            <a:r>
              <a:rPr lang="ja-JP" sz="2400" dirty="0">
                <a:latin typeface="BIZ UDPゴシック"/>
                <a:ea typeface="BIZ UDPゴシック"/>
              </a:rPr>
              <a:t>年の弘前健診の漢方体質アンケート</a:t>
            </a:r>
            <a:r>
              <a:rPr lang="en-US" sz="2400" dirty="0">
                <a:latin typeface="BIZ UDPゴシック"/>
                <a:ea typeface="BIZ UDPゴシック"/>
              </a:rPr>
              <a:t>(69</a:t>
            </a:r>
            <a:r>
              <a:rPr lang="ja-JP" sz="2400" dirty="0">
                <a:latin typeface="BIZ UDPゴシック"/>
                <a:ea typeface="BIZ UDPゴシック"/>
              </a:rPr>
              <a:t>項目</a:t>
            </a:r>
            <a:r>
              <a:rPr lang="en-US" sz="2400" dirty="0">
                <a:latin typeface="BIZ UDPゴシック"/>
                <a:ea typeface="BIZ UDPゴシック"/>
              </a:rPr>
              <a:t>)</a:t>
            </a:r>
            <a:r>
              <a:rPr lang="ja-JP" sz="2400" dirty="0">
                <a:latin typeface="BIZ UDPゴシック"/>
                <a:ea typeface="BIZ UDPゴシック"/>
              </a:rPr>
              <a:t>をスコア化して足し合わせ、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被験者ごとに６分類それぞれのスコアを割り振る</a:t>
            </a:r>
            <a:r>
              <a:rPr dirty="0"/>
              <a:t>。</a:t>
            </a: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各ステージごとにクラスタリング</a:t>
            </a:r>
            <a:r>
              <a:rPr sz="2400" dirty="0">
                <a:latin typeface="BIZ UDPゴシック"/>
                <a:ea typeface="BIZ UDPゴシック"/>
                <a:cs typeface="BIZ UDPゴシック"/>
              </a:rPr>
              <a:t>。</a:t>
            </a:r>
            <a:endParaRPr sz="2400" dirty="0">
              <a:latin typeface="BIZ UDPゴシック"/>
              <a:cs typeface="BIZ UDPゴシック"/>
            </a:endParaRPr>
          </a:p>
        </p:txBody>
      </p:sp>
      <p:graphicFrame>
        <p:nvGraphicFramePr>
          <p:cNvPr id="1921626355" name="表 4"/>
          <p:cNvGraphicFramePr>
            <a:graphicFrameLocks noGrp="1"/>
          </p:cNvGraphicFramePr>
          <p:nvPr/>
        </p:nvGraphicFramePr>
        <p:xfrm>
          <a:off x="104274" y="1972733"/>
          <a:ext cx="37433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15990185" name="表 5"/>
          <p:cNvGraphicFramePr>
            <a:graphicFrameLocks noGrp="1"/>
          </p:cNvGraphicFramePr>
          <p:nvPr/>
        </p:nvGraphicFramePr>
        <p:xfrm>
          <a:off x="7105850" y="1882128"/>
          <a:ext cx="4595814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項目</a:t>
                      </a: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+0.5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r>
                        <a:rPr lang="en-US"/>
                        <a:t>+3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水滞</a:t>
                      </a:r>
                      <a:r>
                        <a:rPr lang="en-US"/>
                        <a:t>+1.5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血虚</a:t>
                      </a:r>
                      <a:r>
                        <a:rPr lang="en-US"/>
                        <a:t>+0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58091636" name="表 6"/>
          <p:cNvGraphicFramePr>
            <a:graphicFrameLocks noGrp="1"/>
          </p:cNvGraphicFramePr>
          <p:nvPr/>
        </p:nvGraphicFramePr>
        <p:xfrm>
          <a:off x="6508054" y="4398230"/>
          <a:ext cx="5250500" cy="232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1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39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92289458" name="矢印: 右 7"/>
          <p:cNvSpPr/>
          <p:nvPr/>
        </p:nvSpPr>
        <p:spPr bwMode="auto">
          <a:xfrm>
            <a:off x="4220498" y="2353734"/>
            <a:ext cx="2722534" cy="5588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392733194" name="矢印: 右 8"/>
          <p:cNvSpPr/>
          <p:nvPr/>
        </p:nvSpPr>
        <p:spPr bwMode="auto">
          <a:xfrm>
            <a:off x="3043401" y="5002537"/>
            <a:ext cx="3052599" cy="5588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29182275" name="テキスト ボックス 9"/>
          <p:cNvSpPr txBox="1"/>
          <p:nvPr/>
        </p:nvSpPr>
        <p:spPr bwMode="auto">
          <a:xfrm>
            <a:off x="4010418" y="3007081"/>
            <a:ext cx="32116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項目それぞれが</a:t>
            </a:r>
            <a:r>
              <a:rPr lang="en-US" sz="2400" dirty="0">
                <a:latin typeface="BIZ UDPゴシック"/>
                <a:ea typeface="BIZ UDPゴシック"/>
              </a:rPr>
              <a:t>6</a:t>
            </a:r>
            <a:r>
              <a:rPr lang="ja-JP" sz="2400" dirty="0">
                <a:latin typeface="BIZ UDPゴシック"/>
                <a:ea typeface="BIZ UDPゴシック"/>
              </a:rPr>
              <a:t>分類いずれかに該当。</a:t>
            </a:r>
            <a:endParaRPr lang="en-US" sz="2400" dirty="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 dirty="0">
                <a:latin typeface="BIZ UDPゴシック"/>
                <a:ea typeface="BIZ UDPゴシック"/>
              </a:rPr>
              <a:t>係数を付けてスコア化</a:t>
            </a:r>
            <a:endParaRPr dirty="0"/>
          </a:p>
        </p:txBody>
      </p:sp>
      <p:sp>
        <p:nvSpPr>
          <p:cNvPr id="515044624" name="テキスト ボックス 10"/>
          <p:cNvSpPr txBox="1"/>
          <p:nvPr/>
        </p:nvSpPr>
        <p:spPr bwMode="auto">
          <a:xfrm>
            <a:off x="2449798" y="5403302"/>
            <a:ext cx="3541397" cy="118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項目ごとに足し合わせることで、それぞれの体質の総合得点を算出</a:t>
            </a:r>
            <a:endParaRPr lang="en-US" sz="2400">
              <a:latin typeface="BIZ UDPゴシック"/>
              <a:ea typeface="BIZ UDPゴシック"/>
            </a:endParaRPr>
          </a:p>
        </p:txBody>
      </p:sp>
      <p:sp>
        <p:nvSpPr>
          <p:cNvPr id="301711481" name="テキスト ボックス 301711480"/>
          <p:cNvSpPr txBox="1"/>
          <p:nvPr/>
        </p:nvSpPr>
        <p:spPr bwMode="auto">
          <a:xfrm>
            <a:off x="22222" y="1606612"/>
            <a:ext cx="86995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stage1</a:t>
            </a:r>
          </a:p>
        </p:txBody>
      </p:sp>
      <p:sp>
        <p:nvSpPr>
          <p:cNvPr id="594033579" name="テキスト ボックス 594033578"/>
          <p:cNvSpPr txBox="1"/>
          <p:nvPr/>
        </p:nvSpPr>
        <p:spPr bwMode="auto">
          <a:xfrm>
            <a:off x="7105849" y="1606612"/>
            <a:ext cx="86995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stage2</a:t>
            </a:r>
          </a:p>
        </p:txBody>
      </p:sp>
      <p:sp>
        <p:nvSpPr>
          <p:cNvPr id="697824479" name="テキスト ボックス 697824478"/>
          <p:cNvSpPr txBox="1"/>
          <p:nvPr/>
        </p:nvSpPr>
        <p:spPr bwMode="auto">
          <a:xfrm>
            <a:off x="6508054" y="4107411"/>
            <a:ext cx="869955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stage3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133415" name="タイトル 1"/>
          <p:cNvSpPr>
            <a:spLocks noGrp="1"/>
          </p:cNvSpPr>
          <p:nvPr/>
        </p:nvSpPr>
        <p:spPr bwMode="auto">
          <a:xfrm>
            <a:off x="348028" y="244810"/>
            <a:ext cx="8471848" cy="45991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pPr>
              <a:defRPr/>
            </a:pPr>
            <a:r>
              <a:rPr lang="en-US">
                <a:latin typeface="BIZ UDPゴシック"/>
                <a:ea typeface="BIZ UDPゴシック"/>
                <a:cs typeface="BIZ UDPゴシック"/>
              </a:rPr>
              <a:t>1-</a:t>
            </a:r>
            <a:r>
              <a:rPr lang="ja-JP">
                <a:latin typeface="BIZ UDPゴシック"/>
                <a:ea typeface="BIZ UDPゴシック"/>
                <a:cs typeface="BIZ UDPゴシック"/>
              </a:rPr>
              <a:t>1</a:t>
            </a:r>
            <a:r>
              <a:rPr lang="en-US">
                <a:latin typeface="BIZ UDPゴシック"/>
                <a:ea typeface="BIZ UDPゴシック"/>
                <a:cs typeface="BIZ UDPゴシック"/>
              </a:rPr>
              <a:t>.</a:t>
            </a:r>
            <a:r>
              <a:rPr lang="ja-JP">
                <a:latin typeface="BIZ UDPゴシック"/>
                <a:ea typeface="BIZ UDPゴシック"/>
                <a:cs typeface="BIZ UDPゴシック"/>
              </a:rPr>
              <a:t> Stage1:体質アンケート68項目</a:t>
            </a:r>
            <a:endParaRPr>
              <a:latin typeface="BIZ UDPゴシック"/>
              <a:cs typeface="BIZ UDPゴシック"/>
            </a:endParaRPr>
          </a:p>
        </p:txBody>
      </p:sp>
      <p:pic>
        <p:nvPicPr>
          <p:cNvPr id="1967329794" name="図 196732979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62" y="1608495"/>
            <a:ext cx="2874435" cy="2874435"/>
          </a:xfrm>
          <a:prstGeom prst="rect">
            <a:avLst/>
          </a:prstGeom>
        </p:spPr>
      </p:pic>
      <p:pic>
        <p:nvPicPr>
          <p:cNvPr id="629403346" name="図 629403345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02741" y="1685310"/>
            <a:ext cx="2874435" cy="2874435"/>
          </a:xfrm>
          <a:prstGeom prst="rect">
            <a:avLst/>
          </a:prstGeom>
        </p:spPr>
      </p:pic>
      <p:pic>
        <p:nvPicPr>
          <p:cNvPr id="1180055867" name="図 1180055866"/>
          <p:cNvPicPr>
            <a:picLocks noChangeAspect="1"/>
          </p:cNvPicPr>
          <p:nvPr/>
        </p:nvPicPr>
        <p:blipFill rotWithShape="1">
          <a:blip r:embed="rId5"/>
          <a:srcRect t="17811" r="15876" b="11129"/>
          <a:stretch/>
        </p:blipFill>
        <p:spPr bwMode="auto">
          <a:xfrm>
            <a:off x="7398774" y="1685310"/>
            <a:ext cx="3492024" cy="2949677"/>
          </a:xfrm>
          <a:prstGeom prst="rect">
            <a:avLst/>
          </a:prstGeom>
        </p:spPr>
      </p:pic>
      <p:sp>
        <p:nvSpPr>
          <p:cNvPr id="882280249" name="テキスト ボックス 882280248"/>
          <p:cNvSpPr txBox="1"/>
          <p:nvPr/>
        </p:nvSpPr>
        <p:spPr bwMode="auto">
          <a:xfrm>
            <a:off x="934319" y="4750245"/>
            <a:ext cx="10569524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 dirty="0">
                <a:latin typeface="BIZ UDPゴシック"/>
                <a:ea typeface="BIZ UDPゴシック"/>
                <a:cs typeface="BIZ UDPゴシック"/>
              </a:rPr>
              <a:t>PC0は全体的な不調度を示す。（</a:t>
            </a: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どれか悪い人はどれも悪い</a:t>
            </a:r>
            <a:r>
              <a:rPr sz="2400" dirty="0">
                <a:latin typeface="BIZ UDPゴシック"/>
                <a:ea typeface="BIZ UDPゴシック"/>
                <a:cs typeface="BIZ UDPゴシック"/>
              </a:rPr>
              <a:t>）</a:t>
            </a:r>
            <a:endParaRPr sz="2400" dirty="0">
              <a:latin typeface="BIZ UDPゴシック"/>
              <a:cs typeface="BIZ UDPゴシック"/>
            </a:endParaRPr>
          </a:p>
          <a:p>
            <a:pPr>
              <a:defRPr/>
            </a:pPr>
            <a:r>
              <a:rPr sz="2400" dirty="0">
                <a:latin typeface="BIZ UDPゴシック"/>
                <a:ea typeface="BIZ UDPゴシック"/>
                <a:cs typeface="BIZ UDPゴシック"/>
              </a:rPr>
              <a:t>PC1,2,3で可視化すると、各軸、クラスの特徴がわかる。</a:t>
            </a:r>
          </a:p>
          <a:p>
            <a:pPr>
              <a:defRPr/>
            </a:pP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一部の項目</a:t>
            </a:r>
            <a:r>
              <a:rPr lang="ja-JP" sz="2400" b="0" i="0" u="none" strike="noStrike" cap="none" spc="0" dirty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（食欲と物事への興味、残尿感と下が赤黒い、頭痛と月経など）</a:t>
            </a:r>
            <a:endParaRPr sz="2400" dirty="0">
              <a:latin typeface="BIZ UDPゴシック"/>
              <a:ea typeface="BIZ UDPゴシック"/>
              <a:cs typeface="BIZ UDPゴシック"/>
            </a:endParaRPr>
          </a:p>
          <a:p>
            <a:pPr>
              <a:defRPr/>
            </a:pPr>
            <a:r>
              <a:rPr sz="2400" dirty="0" err="1">
                <a:latin typeface="BIZ UDPゴシック"/>
                <a:ea typeface="BIZ UDPゴシック"/>
                <a:cs typeface="BIZ UDPゴシック"/>
              </a:rPr>
              <a:t>で相関が取れていることが可視化可能</a:t>
            </a:r>
            <a:r>
              <a:rPr sz="2400" dirty="0">
                <a:latin typeface="BIZ UDPゴシック"/>
                <a:ea typeface="BIZ UDPゴシック"/>
                <a:cs typeface="BIZ UDPゴシック"/>
              </a:rPr>
              <a:t>。</a:t>
            </a:r>
          </a:p>
        </p:txBody>
      </p:sp>
      <p:sp>
        <p:nvSpPr>
          <p:cNvPr id="1068766824" name="テキスト ボックス 1068766823"/>
          <p:cNvSpPr txBox="1"/>
          <p:nvPr/>
        </p:nvSpPr>
        <p:spPr bwMode="auto">
          <a:xfrm>
            <a:off x="1242895" y="2577895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n_cluster=5,7</a:t>
            </a:r>
            <a:endParaRPr>
              <a:latin typeface="BIZ UDPゴシック"/>
              <a:cs typeface="BIZ UDPゴシック"/>
            </a:endParaRPr>
          </a:p>
        </p:txBody>
      </p:sp>
      <p:sp>
        <p:nvSpPr>
          <p:cNvPr id="1267890395" name="左矢印 1267890394"/>
          <p:cNvSpPr/>
          <p:nvPr/>
        </p:nvSpPr>
        <p:spPr bwMode="auto">
          <a:xfrm rot="16199998">
            <a:off x="1168367" y="3144786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9524304" name="テキスト ボックス 1049524303"/>
          <p:cNvSpPr txBox="1"/>
          <p:nvPr/>
        </p:nvSpPr>
        <p:spPr bwMode="auto">
          <a:xfrm>
            <a:off x="569998" y="785175"/>
            <a:ext cx="8562061" cy="823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体質アンケート68項目に対し重みつけをせずクラスタリング</a:t>
            </a:r>
            <a:endParaRPr sz="2400">
              <a:latin typeface="BIZ UDPゴシック"/>
              <a:cs typeface="BIZ UDPゴシック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値の反転→StandardScaler→PCA→GMMClustering</a:t>
            </a:r>
            <a:endParaRPr sz="2400">
              <a:latin typeface="BIZ UDPゴシック"/>
              <a:cs typeface="BIZ UDPゴシック"/>
            </a:endParaRPr>
          </a:p>
        </p:txBody>
      </p:sp>
      <p:sp>
        <p:nvSpPr>
          <p:cNvPr id="1619161722" name="左矢印 1619161721"/>
          <p:cNvSpPr/>
          <p:nvPr/>
        </p:nvSpPr>
        <p:spPr bwMode="auto">
          <a:xfrm rot="16199998">
            <a:off x="1496383" y="3421318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947893" name="左矢印 572947892"/>
          <p:cNvSpPr/>
          <p:nvPr/>
        </p:nvSpPr>
        <p:spPr bwMode="auto">
          <a:xfrm rot="16199998">
            <a:off x="4712763" y="2753273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0020059" name="左矢印 1240020058"/>
          <p:cNvSpPr/>
          <p:nvPr/>
        </p:nvSpPr>
        <p:spPr bwMode="auto">
          <a:xfrm rot="16199998">
            <a:off x="5004658" y="3038032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6881242" name="テキスト ボックス 486881241"/>
          <p:cNvSpPr txBox="1"/>
          <p:nvPr/>
        </p:nvSpPr>
        <p:spPr bwMode="auto">
          <a:xfrm>
            <a:off x="4507647" y="2394835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n_cluster=5,7</a:t>
            </a:r>
            <a:endParaRPr>
              <a:latin typeface="BIZ UDPゴシック"/>
              <a:cs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533808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09"/>
            <a:ext cx="6703064" cy="45991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1-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1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.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 Stage1:体質アンケート68項目</a:t>
            </a:r>
            <a:endParaRPr/>
          </a:p>
        </p:txBody>
      </p:sp>
      <p:graphicFrame>
        <p:nvGraphicFramePr>
          <p:cNvPr id="739705908" name="表 739705907"/>
          <p:cNvGraphicFramePr>
            <a:graphicFrameLocks/>
          </p:cNvGraphicFramePr>
          <p:nvPr/>
        </p:nvGraphicFramePr>
        <p:xfrm>
          <a:off x="104274" y="868506"/>
          <a:ext cx="12005222" cy="5011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1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5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2071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クラスター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人数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構成比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PC0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PC1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PC2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PC3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体質分類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78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寄与率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100%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18.19%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3.6%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3.25%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2.96%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65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ｃｌｓ_0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17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1.5%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10.780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4.539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2.108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0.681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高症状・複合不調群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071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953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83.7%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-0.757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0.083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-0.116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0.032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低症状群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65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44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3.9%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3.149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0.081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-1.095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-0.756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血行・水分・末梢症状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3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78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6.9%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2.063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-2.479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-0.237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0.043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月経・疲労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657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ｃｌｓ_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 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4%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5.183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0.733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3.073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-0.266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気力・意欲・食欲低下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6853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正の負荷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ja-JP" sz="1800" b="0" i="0" u="none" strike="noStrike" cap="none" spc="0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全項目の症状が相対多い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残尿感、舌が赤黒い、嘔吐、胸・喉のつかえ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興味低下、食欲不振、吐き気、気力低下、だるさ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下痢、水様便、腹痛、腹鳴</a:t>
                      </a:r>
                      <a:endParaRPr sz="18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68534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負の負荷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全項目の症状が相対的に少ない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月経異常、疲労、朝起きにくい、頭重い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血管の浮き、手が赤い、青あざ、痰、足のつり、むくみ、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腹筋の弱さ、足のつり、動悸、めまい、朝のこわばり</a:t>
                      </a: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800" b="0" i="0" u="none">
                        <a:solidFill>
                          <a:srgbClr val="000000"/>
                        </a:solidFill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47798141" name="テキスト ボックス 647798140"/>
          <p:cNvSpPr txBox="1"/>
          <p:nvPr/>
        </p:nvSpPr>
        <p:spPr bwMode="auto">
          <a:xfrm>
            <a:off x="167171" y="5909193"/>
            <a:ext cx="11875924" cy="823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多くは「特に不調のない群」に分類される。PC3まででも累積30%行かず解釈は難しい。</a:t>
            </a:r>
          </a:p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主成分分析にて可視化される「足のつりとむくみに相関がある」などのの解釈が重要？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477641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09"/>
            <a:ext cx="8239354" cy="45991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1-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2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.</a:t>
            </a:r>
            <a:r>
              <a:rPr lang="ja-JP" sz="3200" b="0" i="0" u="none" strike="noStrike" cap="none" spc="0">
                <a:solidFill>
                  <a:schemeClr val="tx1"/>
                </a:solidFill>
                <a:latin typeface="BIZ UDPゴシック"/>
                <a:ea typeface="BIZ UDPゴシック"/>
                <a:cs typeface="BIZ UDPゴシック"/>
              </a:rPr>
              <a:t> Stage2:体質アンケート重みつけ71項目</a:t>
            </a:r>
            <a:endParaRPr/>
          </a:p>
        </p:txBody>
      </p:sp>
      <p:pic>
        <p:nvPicPr>
          <p:cNvPr id="663720455" name="図 66372045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6158" y="1799166"/>
            <a:ext cx="2451919" cy="2451919"/>
          </a:xfrm>
          <a:prstGeom prst="rect">
            <a:avLst/>
          </a:prstGeom>
        </p:spPr>
      </p:pic>
      <p:pic>
        <p:nvPicPr>
          <p:cNvPr id="1977074067" name="図 197707406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929029" y="1799166"/>
            <a:ext cx="2451919" cy="2451919"/>
          </a:xfrm>
          <a:prstGeom prst="rect">
            <a:avLst/>
          </a:prstGeom>
        </p:spPr>
      </p:pic>
      <p:pic>
        <p:nvPicPr>
          <p:cNvPr id="723738521" name="図 723738520"/>
          <p:cNvPicPr>
            <a:picLocks noChangeAspect="1"/>
          </p:cNvPicPr>
          <p:nvPr/>
        </p:nvPicPr>
        <p:blipFill rotWithShape="1">
          <a:blip r:embed="rId5"/>
          <a:srcRect l="7280" t="30241" r="27978" b="13082"/>
          <a:stretch/>
        </p:blipFill>
        <p:spPr bwMode="auto">
          <a:xfrm>
            <a:off x="6726545" y="1662276"/>
            <a:ext cx="4254499" cy="3724527"/>
          </a:xfrm>
          <a:prstGeom prst="rect">
            <a:avLst/>
          </a:prstGeom>
        </p:spPr>
      </p:pic>
      <p:sp>
        <p:nvSpPr>
          <p:cNvPr id="57151199" name="楕円 57151198"/>
          <p:cNvSpPr/>
          <p:nvPr/>
        </p:nvSpPr>
        <p:spPr bwMode="auto">
          <a:xfrm rot="2700000">
            <a:off x="8620432" y="1798253"/>
            <a:ext cx="466725" cy="22394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233098942" name="テキスト ボックス 1233098941"/>
          <p:cNvSpPr txBox="1"/>
          <p:nvPr/>
        </p:nvSpPr>
        <p:spPr bwMode="auto">
          <a:xfrm>
            <a:off x="2592057" y="5386804"/>
            <a:ext cx="7218519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データが筋状にまとまっている</a:t>
            </a:r>
          </a:p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→重みの強いいくつかの項目が支配的になっており、</a:t>
            </a:r>
          </a:p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クラスタリングに適したデータ構造ではない。</a:t>
            </a:r>
          </a:p>
        </p:txBody>
      </p:sp>
      <p:sp>
        <p:nvSpPr>
          <p:cNvPr id="583834543" name="テキスト ボックス 583834542"/>
          <p:cNvSpPr txBox="1"/>
          <p:nvPr/>
        </p:nvSpPr>
        <p:spPr bwMode="auto">
          <a:xfrm>
            <a:off x="1275572" y="2108167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n_cluster=3,6</a:t>
            </a:r>
            <a:endParaRPr>
              <a:latin typeface="BIZ UDPゴシック"/>
              <a:cs typeface="BIZ UDPゴシック"/>
            </a:endParaRPr>
          </a:p>
        </p:txBody>
      </p:sp>
      <p:sp>
        <p:nvSpPr>
          <p:cNvPr id="483751795" name="左矢印 483751794"/>
          <p:cNvSpPr/>
          <p:nvPr/>
        </p:nvSpPr>
        <p:spPr bwMode="auto">
          <a:xfrm rot="16199998">
            <a:off x="1283253" y="2527538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238731" name="左矢印 156238730"/>
          <p:cNvSpPr/>
          <p:nvPr/>
        </p:nvSpPr>
        <p:spPr bwMode="auto">
          <a:xfrm rot="16199998">
            <a:off x="1693851" y="3240327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7121156" name="テキスト ボックス 967121155"/>
          <p:cNvSpPr txBox="1"/>
          <p:nvPr/>
        </p:nvSpPr>
        <p:spPr bwMode="auto">
          <a:xfrm>
            <a:off x="3818500" y="2047234"/>
            <a:ext cx="1562447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t>n_cluster=3,6</a:t>
            </a:r>
            <a:endParaRPr>
              <a:latin typeface="BIZ UDPゴシック"/>
              <a:cs typeface="BIZ UDPゴシック"/>
            </a:endParaRPr>
          </a:p>
        </p:txBody>
      </p:sp>
      <p:sp>
        <p:nvSpPr>
          <p:cNvPr id="763879101" name="左矢印 763879100"/>
          <p:cNvSpPr/>
          <p:nvPr/>
        </p:nvSpPr>
        <p:spPr bwMode="auto">
          <a:xfrm rot="16199998">
            <a:off x="3675087" y="2283545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3339466" name="左矢印 1393339465"/>
          <p:cNvSpPr/>
          <p:nvPr/>
        </p:nvSpPr>
        <p:spPr bwMode="auto">
          <a:xfrm rot="16199998">
            <a:off x="4085685" y="2996334"/>
            <a:ext cx="276531" cy="29189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8805960" name="テキスト ボックス 1158805959"/>
          <p:cNvSpPr txBox="1"/>
          <p:nvPr/>
        </p:nvSpPr>
        <p:spPr bwMode="auto">
          <a:xfrm>
            <a:off x="88868" y="891009"/>
            <a:ext cx="8662660" cy="8233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重みつけ71項目値をそのままクラスタリング</a:t>
            </a:r>
            <a:endParaRPr sz="2400">
              <a:latin typeface="BIZ UDPゴシック"/>
              <a:cs typeface="BIZ UDPゴシック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>
                <a:latin typeface="BIZ UDPゴシック"/>
                <a:ea typeface="BIZ UDPゴシック"/>
                <a:cs typeface="BIZ UDPゴシック"/>
              </a:rPr>
              <a:t>重み付きスコア→（scalerなし）→PCA→GMMClustering</a:t>
            </a:r>
            <a:endParaRPr sz="2400">
              <a:latin typeface="BIZ UDPゴシック"/>
              <a:cs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4090790" name="図 185409078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820394" y="1636269"/>
            <a:ext cx="3429000" cy="3429000"/>
          </a:xfrm>
          <a:prstGeom prst="rect">
            <a:avLst/>
          </a:prstGeom>
        </p:spPr>
      </p:pic>
      <p:pic>
        <p:nvPicPr>
          <p:cNvPr id="1487860015" name="図 148786001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-190499" y="1636269"/>
            <a:ext cx="3429000" cy="3429000"/>
          </a:xfrm>
          <a:prstGeom prst="rect">
            <a:avLst/>
          </a:prstGeom>
        </p:spPr>
      </p:pic>
      <p:sp>
        <p:nvSpPr>
          <p:cNvPr id="682818561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169333"/>
            <a:ext cx="7009892" cy="53539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/>
              <a:t>1-</a:t>
            </a:r>
            <a:r>
              <a:rPr lang="ja-JP"/>
              <a:t>3</a:t>
            </a:r>
            <a:r>
              <a:rPr lang="en-US"/>
              <a:t>.</a:t>
            </a:r>
            <a:r>
              <a:rPr lang="ja-JP"/>
              <a:t>Stage3クラスタリング:総合６分類</a:t>
            </a:r>
            <a:endParaRPr/>
          </a:p>
        </p:txBody>
      </p:sp>
      <p:sp>
        <p:nvSpPr>
          <p:cNvPr id="257613362" name="タイトル 1"/>
          <p:cNvSpPr txBox="1"/>
          <p:nvPr/>
        </p:nvSpPr>
        <p:spPr bwMode="auto">
          <a:xfrm>
            <a:off x="104274" y="891047"/>
            <a:ext cx="12217612" cy="420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BIZ UDPゴシック"/>
                <a:ea typeface="BIZ UDPゴシック"/>
                <a:cs typeface="+mj-cs"/>
              </a:defRPr>
            </a:lvl1pPr>
          </a:lstStyle>
          <a:p>
            <a:pPr>
              <a:defRPr/>
            </a:pPr>
            <a:r>
              <a:rPr lang="en-US" sz="2400"/>
              <a:t>6</a:t>
            </a:r>
            <a:r>
              <a:rPr lang="ja-JP" sz="2400"/>
              <a:t>項目について、クラスタリング（</a:t>
            </a:r>
            <a:r>
              <a:rPr lang="en-US" sz="2400"/>
              <a:t>Scaler</a:t>
            </a:r>
            <a:r>
              <a:rPr lang="ja-JP" sz="2400"/>
              <a:t>→PCA→PC0削除→</a:t>
            </a:r>
            <a:r>
              <a:rPr lang="en-US" sz="2400"/>
              <a:t>GMMCluster</a:t>
            </a:r>
            <a:r>
              <a:rPr lang="ja-JP" sz="2400"/>
              <a:t>）を実施。</a:t>
            </a:r>
            <a:endParaRPr lang="en-US" sz="2400"/>
          </a:p>
        </p:txBody>
      </p:sp>
      <p:sp>
        <p:nvSpPr>
          <p:cNvPr id="492182204" name="テキスト ボックス 7"/>
          <p:cNvSpPr txBox="1"/>
          <p:nvPr/>
        </p:nvSpPr>
        <p:spPr bwMode="auto">
          <a:xfrm>
            <a:off x="2019462" y="1266131"/>
            <a:ext cx="2515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クラスター数決定</a:t>
            </a:r>
            <a:endParaRPr/>
          </a:p>
        </p:txBody>
      </p:sp>
      <p:sp>
        <p:nvSpPr>
          <p:cNvPr id="1162629766" name="テキスト ボックス 8"/>
          <p:cNvSpPr txBox="1"/>
          <p:nvPr/>
        </p:nvSpPr>
        <p:spPr bwMode="auto">
          <a:xfrm>
            <a:off x="697584" y="5065270"/>
            <a:ext cx="5307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AIC,BIC</a:t>
            </a:r>
            <a:r>
              <a:rPr lang="ja-JP" sz="2400">
                <a:latin typeface="BIZ UDPゴシック"/>
                <a:ea typeface="BIZ UDPゴシック"/>
              </a:rPr>
              <a:t>で、</a:t>
            </a:r>
            <a:r>
              <a:rPr lang="en-US" sz="2400">
                <a:latin typeface="BIZ UDPゴシック"/>
                <a:ea typeface="BIZ UDPゴシック"/>
              </a:rPr>
              <a:t>n_cluster =7</a:t>
            </a:r>
            <a:r>
              <a:rPr lang="ja-JP" sz="2400">
                <a:latin typeface="BIZ UDPゴシック"/>
                <a:ea typeface="BIZ UDPゴシック"/>
              </a:rPr>
              <a:t>において当てはまりの良さを確認。</a:t>
            </a:r>
          </a:p>
        </p:txBody>
      </p:sp>
      <p:sp>
        <p:nvSpPr>
          <p:cNvPr id="842289188" name="テキスト ボックス 13"/>
          <p:cNvSpPr txBox="1"/>
          <p:nvPr/>
        </p:nvSpPr>
        <p:spPr bwMode="auto">
          <a:xfrm>
            <a:off x="1050198" y="2535091"/>
            <a:ext cx="1180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latin typeface="BIZ UDPゴシック"/>
                <a:ea typeface="BIZ UDPゴシック"/>
              </a:rPr>
              <a:t>n_cluster=7</a:t>
            </a:r>
            <a:endParaRPr lang="ja-JP" sz="1200">
              <a:latin typeface="BIZ UDPゴシック"/>
              <a:ea typeface="BIZ UDPゴシック"/>
            </a:endParaRPr>
          </a:p>
        </p:txBody>
      </p:sp>
      <p:sp>
        <p:nvSpPr>
          <p:cNvPr id="1852665225" name="テキスト ボックス 16"/>
          <p:cNvSpPr txBox="1"/>
          <p:nvPr/>
        </p:nvSpPr>
        <p:spPr bwMode="auto">
          <a:xfrm>
            <a:off x="4246517" y="2396592"/>
            <a:ext cx="1180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latin typeface="BIZ UDPゴシック"/>
                <a:ea typeface="BIZ UDPゴシック"/>
              </a:rPr>
              <a:t>n_cluster=7</a:t>
            </a:r>
            <a:endParaRPr lang="ja-JP" sz="1200">
              <a:latin typeface="BIZ UDPゴシック"/>
              <a:ea typeface="BIZ UDPゴシック"/>
            </a:endParaRPr>
          </a:p>
        </p:txBody>
      </p:sp>
      <p:sp>
        <p:nvSpPr>
          <p:cNvPr id="1241072989" name="左矢印 1241072988"/>
          <p:cNvSpPr/>
          <p:nvPr/>
        </p:nvSpPr>
        <p:spPr bwMode="auto">
          <a:xfrm rot="16199999">
            <a:off x="1238249" y="3128519"/>
            <a:ext cx="571500" cy="444499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245881" name="左矢印 650245880"/>
          <p:cNvSpPr/>
          <p:nvPr/>
        </p:nvSpPr>
        <p:spPr bwMode="auto">
          <a:xfrm rot="16199999">
            <a:off x="4328583" y="2815101"/>
            <a:ext cx="571500" cy="444499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61551100" name="図 1261551099"/>
          <p:cNvPicPr>
            <a:picLocks noChangeAspect="1"/>
          </p:cNvPicPr>
          <p:nvPr/>
        </p:nvPicPr>
        <p:blipFill rotWithShape="1">
          <a:blip r:embed="rId5"/>
          <a:srcRect l="8333" t="31481" r="24659" b="9567"/>
          <a:stretch/>
        </p:blipFill>
        <p:spPr bwMode="auto">
          <a:xfrm>
            <a:off x="7356681" y="1496964"/>
            <a:ext cx="4138985" cy="3641352"/>
          </a:xfrm>
          <a:prstGeom prst="rect">
            <a:avLst/>
          </a:prstGeom>
        </p:spPr>
      </p:pic>
      <p:sp>
        <p:nvSpPr>
          <p:cNvPr id="1540850257" name="テキスト ボックス 8"/>
          <p:cNvSpPr txBox="1"/>
          <p:nvPr/>
        </p:nvSpPr>
        <p:spPr bwMode="auto">
          <a:xfrm>
            <a:off x="6261874" y="5065269"/>
            <a:ext cx="5899005" cy="118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PC0は「全体不調度」を示すため、</a:t>
            </a: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除外して特徴を持つ要素でクラスター化。</a:t>
            </a: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それでも「健康群」は形成される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461172" name="タイトル 1"/>
          <p:cNvSpPr>
            <a:spLocks noGrp="1"/>
          </p:cNvSpPr>
          <p:nvPr>
            <p:ph type="title"/>
          </p:nvPr>
        </p:nvSpPr>
        <p:spPr bwMode="auto">
          <a:xfrm>
            <a:off x="104274" y="244809"/>
            <a:ext cx="7947459" cy="45991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0000"/>
          </a:bodyPr>
          <a:lstStyle/>
          <a:p>
            <a:pPr>
              <a:defRPr/>
            </a:pPr>
            <a:r>
              <a:rPr lang="en-US"/>
              <a:t>1-</a:t>
            </a:r>
            <a:r>
              <a:rPr lang="ja-JP"/>
              <a:t>3.クラスター分析(総合６分類)の結果</a:t>
            </a:r>
          </a:p>
        </p:txBody>
      </p:sp>
      <p:sp>
        <p:nvSpPr>
          <p:cNvPr id="933846835" name="テキスト ボックス 8"/>
          <p:cNvSpPr txBox="1"/>
          <p:nvPr/>
        </p:nvSpPr>
        <p:spPr bwMode="auto">
          <a:xfrm>
            <a:off x="580193" y="5316725"/>
            <a:ext cx="11465605" cy="1189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PC0</a:t>
            </a:r>
            <a:r>
              <a:rPr lang="ja-JP" sz="2400">
                <a:latin typeface="BIZ UDPゴシック"/>
                <a:ea typeface="BIZ UDPゴシック"/>
              </a:rPr>
              <a:t>は全てプラス→特定症状ではなく全体的な不調度。非常に大きく除外。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</a:t>
            </a:r>
            <a:r>
              <a:rPr lang="en-US" sz="2400">
                <a:latin typeface="BIZ UDPゴシック"/>
                <a:ea typeface="BIZ UDPゴシック"/>
              </a:rPr>
              <a:t>PC1</a:t>
            </a:r>
            <a:r>
              <a:rPr lang="ja-JP" sz="2400">
                <a:latin typeface="BIZ UDPゴシック"/>
                <a:ea typeface="BIZ UDPゴシック"/>
              </a:rPr>
              <a:t>-5を使いn_cls=7とすると、健康群+6分類が可能。漢方体質ごとの特徴あり。</a:t>
            </a: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・血虚は特定の群の第一体質には出現せず、第２体質として現れている。</a:t>
            </a:r>
          </a:p>
        </p:txBody>
      </p:sp>
      <p:graphicFrame>
        <p:nvGraphicFramePr>
          <p:cNvPr id="643700990" name="表 643700989"/>
          <p:cNvGraphicFramePr>
            <a:graphicFrameLocks/>
          </p:cNvGraphicFramePr>
          <p:nvPr/>
        </p:nvGraphicFramePr>
        <p:xfrm>
          <a:off x="14003" y="907397"/>
          <a:ext cx="12733868" cy="4264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7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38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人数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構成比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PC1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PC2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PC3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PC4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 PC5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第一体質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第2体質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相対的特徴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70.32%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8.48%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6.33%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5.56%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4.87%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4.45%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3.20%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0.562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-0.143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1.235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水滞 +1.150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瘀血 +0.184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PC5が突出した水滞群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cls_1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5%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-0.511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-0.507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1.063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-0.253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0.006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 +0.600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 +0.314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PC3正側による気虚群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cls_2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3.90%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-1.327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-0.019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0.091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0.912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-0.392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気鬱 +1.257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 +0.389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PC4正側の気鬱が明瞭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268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cls_3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6.10%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1.246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0.438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0.179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 +1.435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―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PC2・PC3正側の明瞭な気虚群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cls_4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92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8.10%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1.371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0.197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0.077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-0.248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瘀血 +1.315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 +0.413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PC1正側の明瞭な瘀血群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268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cls_5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33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2.90%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-0.903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-0.519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-0.169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-1.204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-0.314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気逆 +1.112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 +0.183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PC4負側を中心とした気逆群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cls_6 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808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70.80%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+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-0.003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-0.123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0.026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-0.008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ほぼ偏りなし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―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全PC中心がほぼ0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ctr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瘀血スコア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0.7999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-0.3556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0.0985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0.1639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-0.2341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血虚スコア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0.196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-0.3157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0.1952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-0.1839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-0.0249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8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水滞スコア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0.0267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-0.1331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-0.2494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-0.0327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0.857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08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気逆スコア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-0.2052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-0.1443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-0.5679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-0.5204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-0.4106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085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気鬱スコア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-0.3574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0.0882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-0.165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0.7898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-0.2011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気虚スコア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-0.389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0.853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0.735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-0.209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-0.0337</a:t>
                      </a: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sz="1200">
                        <a:latin typeface="BIZ UDPゴシック"/>
                        <a:cs typeface="BIZ UDPゴシック"/>
                      </a:endParaRPr>
                    </a:p>
                  </a:txBody>
                  <a:tcPr marL="0" marR="0" marT="0" marB="0" anchor="b">
                    <a:lnL algn="ctr">
                      <a:noFill/>
                    </a:lnL>
                    <a:lnR algn="ctr">
                      <a:noFill/>
                    </a:lnR>
                    <a:lnT algn="ctr">
                      <a:noFill/>
                    </a:lnT>
                    <a:lnB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025324" name="タイトル 1"/>
          <p:cNvSpPr>
            <a:spLocks noGrp="1"/>
          </p:cNvSpPr>
          <p:nvPr>
            <p:ph type="title"/>
          </p:nvPr>
        </p:nvSpPr>
        <p:spPr bwMode="auto">
          <a:xfrm>
            <a:off x="266396" y="235573"/>
            <a:ext cx="7353604" cy="45991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2-1.NIR-HSI(</a:t>
            </a:r>
            <a:r>
              <a:rPr lang="ja-JP"/>
              <a:t>毛髪データ</a:t>
            </a:r>
            <a:r>
              <a:rPr lang="en-US"/>
              <a:t>)</a:t>
            </a:r>
            <a:r>
              <a:rPr lang="ja-JP"/>
              <a:t>と漢方体質分類</a:t>
            </a:r>
            <a:endParaRPr/>
          </a:p>
        </p:txBody>
      </p:sp>
      <p:pic>
        <p:nvPicPr>
          <p:cNvPr id="1243817927" name="Picture 2" descr="Imaging of the Archimedes Palimpsest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1101687" y="2100655"/>
            <a:ext cx="2432395" cy="2133559"/>
          </a:xfrm>
          <a:prstGeom prst="rect">
            <a:avLst/>
          </a:prstGeom>
          <a:noFill/>
        </p:spPr>
      </p:pic>
      <p:sp>
        <p:nvSpPr>
          <p:cNvPr id="699545637" name="テキスト ボックス 4"/>
          <p:cNvSpPr txBox="1"/>
          <p:nvPr/>
        </p:nvSpPr>
        <p:spPr bwMode="auto">
          <a:xfrm>
            <a:off x="1101686" y="1596768"/>
            <a:ext cx="341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毛髪</a:t>
            </a: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キューブ</a:t>
            </a:r>
          </a:p>
        </p:txBody>
      </p:sp>
      <p:sp>
        <p:nvSpPr>
          <p:cNvPr id="1783692051" name="矢印: 右 5"/>
          <p:cNvSpPr/>
          <p:nvPr/>
        </p:nvSpPr>
        <p:spPr bwMode="auto">
          <a:xfrm>
            <a:off x="4512512" y="2681263"/>
            <a:ext cx="1533236" cy="11176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graphicFrame>
        <p:nvGraphicFramePr>
          <p:cNvPr id="657960617" name="表 7"/>
          <p:cNvGraphicFramePr>
            <a:graphicFrameLocks noGrp="1"/>
          </p:cNvGraphicFramePr>
          <p:nvPr/>
        </p:nvGraphicFramePr>
        <p:xfrm>
          <a:off x="6614776" y="2346926"/>
          <a:ext cx="5250500" cy="232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1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39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97553246" name="テキスト ボックス 8"/>
          <p:cNvSpPr txBox="1"/>
          <p:nvPr/>
        </p:nvSpPr>
        <p:spPr bwMode="auto">
          <a:xfrm>
            <a:off x="7324435" y="1596766"/>
            <a:ext cx="4304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漢方体質分類が予測可能か？</a:t>
            </a:r>
            <a:endParaRPr/>
          </a:p>
        </p:txBody>
      </p:sp>
      <p:sp>
        <p:nvSpPr>
          <p:cNvPr id="2059282283" name="テキスト ボックス 9"/>
          <p:cNvSpPr txBox="1"/>
          <p:nvPr/>
        </p:nvSpPr>
        <p:spPr bwMode="auto">
          <a:xfrm>
            <a:off x="797277" y="5065135"/>
            <a:ext cx="10597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Efficientnet</a:t>
            </a:r>
            <a:r>
              <a:rPr lang="ja-JP" sz="2400">
                <a:latin typeface="BIZ UDPゴシック"/>
                <a:ea typeface="BIZ UDPゴシック"/>
              </a:rPr>
              <a:t>の頭部にスペクトル折り畳み層を挿入した</a:t>
            </a:r>
            <a:r>
              <a:rPr lang="en-US" sz="2400">
                <a:latin typeface="BIZ UDPゴシック"/>
                <a:ea typeface="BIZ UDPゴシック"/>
              </a:rPr>
              <a:t>CNN</a:t>
            </a:r>
            <a:r>
              <a:rPr lang="ja-JP" sz="2400">
                <a:latin typeface="BIZ UDPゴシック"/>
                <a:ea typeface="BIZ UDPゴシック"/>
              </a:rPr>
              <a:t>で学習させる。</a:t>
            </a:r>
            <a:endParaRPr lang="en-US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168381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2-2:</a:t>
            </a:r>
            <a:r>
              <a:rPr lang="ja-JP"/>
              <a:t>結果</a:t>
            </a:r>
            <a:endParaRPr/>
          </a:p>
        </p:txBody>
      </p:sp>
      <p:sp>
        <p:nvSpPr>
          <p:cNvPr id="59066189" name="テキスト ボックス 2"/>
          <p:cNvSpPr txBox="1"/>
          <p:nvPr/>
        </p:nvSpPr>
        <p:spPr bwMode="auto">
          <a:xfrm>
            <a:off x="221673" y="1043707"/>
            <a:ext cx="93474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・層別分類にかけると１群のデータ数が少なくなる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・層の中でも年齢の影響はあるかもしれない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↓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交絡除去のため、残渣予測</a:t>
            </a:r>
            <a:r>
              <a:rPr lang="en-US" sz="2400">
                <a:latin typeface="BIZ UDPゴシック"/>
                <a:ea typeface="BIZ UDPゴシック"/>
              </a:rPr>
              <a:t>(</a:t>
            </a:r>
            <a:r>
              <a:rPr lang="ja-JP" sz="2400">
                <a:latin typeface="BIZ UDPゴシック"/>
                <a:ea typeface="BIZ UDPゴシック"/>
              </a:rPr>
              <a:t>年齢性別で予測した後の差分ターゲット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endParaRPr/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＋</a:t>
            </a:r>
            <a:r>
              <a:rPr lang="en-US" sz="2400">
                <a:latin typeface="BIZ UDPゴシック"/>
                <a:ea typeface="BIZ UDPゴシック"/>
              </a:rPr>
              <a:t>GRL(</a:t>
            </a:r>
            <a:r>
              <a:rPr lang="ja-JP" sz="2400">
                <a:latin typeface="BIZ UDPゴシック"/>
                <a:ea typeface="BIZ UDPゴシック"/>
              </a:rPr>
              <a:t>年齢性別から予測されたとき、罰を与える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r>
              <a:rPr lang="ja-JP" sz="2400">
                <a:latin typeface="BIZ UDPゴシック"/>
                <a:ea typeface="BIZ UDPゴシック"/>
              </a:rPr>
              <a:t>を導入。</a:t>
            </a:r>
            <a:endParaRPr/>
          </a:p>
        </p:txBody>
      </p:sp>
      <p:sp>
        <p:nvSpPr>
          <p:cNvPr id="1495115831" name="テキスト ボックス 4"/>
          <p:cNvSpPr txBox="1"/>
          <p:nvPr/>
        </p:nvSpPr>
        <p:spPr bwMode="auto">
          <a:xfrm>
            <a:off x="775854" y="3321680"/>
            <a:ext cx="7515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まずは前回と同様に各主成分軸の値を予測ターゲット。</a:t>
            </a:r>
            <a:endParaRPr/>
          </a:p>
        </p:txBody>
      </p:sp>
      <p:pic>
        <p:nvPicPr>
          <p:cNvPr id="574980943" name="図 8"/>
          <p:cNvPicPr>
            <a:picLocks noChangeAspect="1"/>
          </p:cNvPicPr>
          <p:nvPr/>
        </p:nvPicPr>
        <p:blipFill rotWithShape="1">
          <a:blip r:embed="rId3"/>
          <a:srcRect t="27639" r="16335"/>
          <a:stretch/>
        </p:blipFill>
        <p:spPr bwMode="auto">
          <a:xfrm>
            <a:off x="517236" y="3731444"/>
            <a:ext cx="3331834" cy="2881746"/>
          </a:xfrm>
          <a:prstGeom prst="rect">
            <a:avLst/>
          </a:prstGeom>
        </p:spPr>
      </p:pic>
      <p:cxnSp>
        <p:nvCxnSpPr>
          <p:cNvPr id="1137616825" name="直線矢印コネクタ 10"/>
          <p:cNvCxnSpPr/>
          <p:nvPr/>
        </p:nvCxnSpPr>
        <p:spPr bwMode="auto">
          <a:xfrm flipV="1">
            <a:off x="2142837" y="4193109"/>
            <a:ext cx="0" cy="95134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9472381" name="直線矢印コネクタ 11"/>
          <p:cNvCxnSpPr/>
          <p:nvPr/>
        </p:nvCxnSpPr>
        <p:spPr bwMode="auto">
          <a:xfrm flipH="1">
            <a:off x="1108364" y="5181378"/>
            <a:ext cx="1034473" cy="4528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1819673" name="直線矢印コネクタ 13"/>
          <p:cNvCxnSpPr/>
          <p:nvPr/>
        </p:nvCxnSpPr>
        <p:spPr bwMode="auto">
          <a:xfrm>
            <a:off x="2142837" y="5181378"/>
            <a:ext cx="1339272" cy="63291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10526740" name="テキスト ボックス 17"/>
          <p:cNvSpPr txBox="1"/>
          <p:nvPr/>
        </p:nvSpPr>
        <p:spPr bwMode="auto">
          <a:xfrm>
            <a:off x="2050502" y="3714184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PC1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1092757982" name="テキスト ボックス 19"/>
          <p:cNvSpPr txBox="1"/>
          <p:nvPr/>
        </p:nvSpPr>
        <p:spPr bwMode="auto">
          <a:xfrm>
            <a:off x="3073579" y="5259944"/>
            <a:ext cx="893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PC3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418776984" name="テキスト ボックス 21"/>
          <p:cNvSpPr txBox="1"/>
          <p:nvPr/>
        </p:nvSpPr>
        <p:spPr bwMode="auto">
          <a:xfrm>
            <a:off x="3924209" y="4341320"/>
            <a:ext cx="31009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←この軸の向きを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ターゲットにして予測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・・・→難しかった。</a:t>
            </a:r>
          </a:p>
        </p:txBody>
      </p:sp>
      <p:sp>
        <p:nvSpPr>
          <p:cNvPr id="1268331615" name="テキスト ボックス 31"/>
          <p:cNvSpPr txBox="1"/>
          <p:nvPr/>
        </p:nvSpPr>
        <p:spPr bwMode="auto">
          <a:xfrm>
            <a:off x="634939" y="5031740"/>
            <a:ext cx="893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PC2</a:t>
            </a:r>
            <a:endParaRPr lang="ja-JP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331692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2-3:</a:t>
            </a:r>
            <a:r>
              <a:rPr lang="ja-JP"/>
              <a:t>結果</a:t>
            </a:r>
            <a:endParaRPr/>
          </a:p>
        </p:txBody>
      </p:sp>
      <p:sp>
        <p:nvSpPr>
          <p:cNvPr id="588141789" name="テキスト ボックス 3"/>
          <p:cNvSpPr txBox="1"/>
          <p:nvPr/>
        </p:nvSpPr>
        <p:spPr bwMode="auto">
          <a:xfrm>
            <a:off x="230908" y="957171"/>
            <a:ext cx="80794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今回は結果がそもそも６項目なので、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PCA</a:t>
            </a:r>
            <a:r>
              <a:rPr lang="ja-JP" sz="2400">
                <a:latin typeface="BIZ UDPゴシック"/>
                <a:ea typeface="BIZ UDPゴシック"/>
              </a:rPr>
              <a:t>にかけて集約しなくてもそれぞれをターゲットに可能。</a:t>
            </a:r>
          </a:p>
        </p:txBody>
      </p:sp>
      <p:graphicFrame>
        <p:nvGraphicFramePr>
          <p:cNvPr id="1416226424" name="表 5"/>
          <p:cNvGraphicFramePr>
            <a:graphicFrameLocks noGrp="1"/>
          </p:cNvGraphicFramePr>
          <p:nvPr/>
        </p:nvGraphicFramePr>
        <p:xfrm>
          <a:off x="518776" y="1949762"/>
          <a:ext cx="5250500" cy="232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ID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/>
                        <a:t>気虚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気鬱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気滞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血虚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瘀血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ja-JP"/>
                        <a:t>水滞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6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01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39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35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51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18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41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…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1200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10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1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4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32</a:t>
                      </a:r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23</a:t>
                      </a:r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6733117" name="矢印: 下 6"/>
          <p:cNvSpPr/>
          <p:nvPr/>
        </p:nvSpPr>
        <p:spPr bwMode="auto">
          <a:xfrm flipV="1">
            <a:off x="2752436" y="4275974"/>
            <a:ext cx="628073" cy="748144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sp>
        <p:nvSpPr>
          <p:cNvPr id="1903752171" name="テキスト ボックス 7"/>
          <p:cNvSpPr txBox="1"/>
          <p:nvPr/>
        </p:nvSpPr>
        <p:spPr bwMode="auto">
          <a:xfrm>
            <a:off x="1300412" y="5152960"/>
            <a:ext cx="3983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この値を直接予測にかける。</a:t>
            </a:r>
          </a:p>
        </p:txBody>
      </p:sp>
      <p:sp>
        <p:nvSpPr>
          <p:cNvPr id="1671992736" name="テキスト ボックス 9"/>
          <p:cNvSpPr txBox="1"/>
          <p:nvPr/>
        </p:nvSpPr>
        <p:spPr bwMode="auto">
          <a:xfrm>
            <a:off x="5938981" y="1967650"/>
            <a:ext cx="59112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プレスクリーニングで血虚と気虚に可能性あり。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↓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まずは血虚単独にターゲットを絞って、注力。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パラメータ最適化プログラムを使って、時間をかけて（</a:t>
            </a:r>
            <a:r>
              <a:rPr lang="en-US" sz="2400">
                <a:latin typeface="BIZ UDPゴシック"/>
                <a:ea typeface="BIZ UDPゴシック"/>
              </a:rPr>
              <a:t>3</a:t>
            </a:r>
            <a:r>
              <a:rPr lang="ja-JP" sz="2400">
                <a:latin typeface="BIZ UDPゴシック"/>
                <a:ea typeface="BIZ UDPゴシック"/>
              </a:rPr>
              <a:t>日くらい回しっぱなし）自動的に最適化。</a:t>
            </a:r>
            <a:endParaRPr lang="en-US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27454" name="タイトル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2-4:</a:t>
            </a:r>
            <a:endParaRPr lang="ja-JP"/>
          </a:p>
        </p:txBody>
      </p:sp>
      <p:pic>
        <p:nvPicPr>
          <p:cNvPr id="2087585562" name="図 3"/>
          <p:cNvPicPr>
            <a:picLocks noChangeAspect="1"/>
          </p:cNvPicPr>
          <p:nvPr/>
        </p:nvPicPr>
        <p:blipFill rotWithShape="1">
          <a:blip r:embed="rId3"/>
          <a:srcRect l="22049" t="7497" r="26168" b="7706"/>
          <a:stretch/>
        </p:blipFill>
        <p:spPr bwMode="auto">
          <a:xfrm>
            <a:off x="244276" y="973281"/>
            <a:ext cx="5458692" cy="54275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460781156" name="正方形/長方形 4"/>
          <p:cNvSpPr/>
          <p:nvPr/>
        </p:nvSpPr>
        <p:spPr bwMode="auto">
          <a:xfrm>
            <a:off x="655782" y="3897746"/>
            <a:ext cx="3398982" cy="1874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ja-JP"/>
          </a:p>
        </p:txBody>
      </p:sp>
      <p:cxnSp>
        <p:nvCxnSpPr>
          <p:cNvPr id="176646561" name="直線コネクタ 6"/>
          <p:cNvCxnSpPr/>
          <p:nvPr/>
        </p:nvCxnSpPr>
        <p:spPr bwMode="auto">
          <a:xfrm>
            <a:off x="655782" y="4239491"/>
            <a:ext cx="216130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3980042" name="テキスト ボックス 7"/>
          <p:cNvSpPr txBox="1"/>
          <p:nvPr/>
        </p:nvSpPr>
        <p:spPr bwMode="auto">
          <a:xfrm>
            <a:off x="6096000" y="1108364"/>
            <a:ext cx="48429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Best Objective(1-Mean R2)</a:t>
            </a:r>
            <a:endParaRPr/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 = </a:t>
            </a:r>
            <a:r>
              <a:rPr lang="en-US" sz="2400">
                <a:solidFill>
                  <a:srgbClr val="FF0000"/>
                </a:solidFill>
                <a:latin typeface="BIZ UDPゴシック"/>
                <a:ea typeface="BIZ UDPゴシック"/>
              </a:rPr>
              <a:t>0.9765</a:t>
            </a:r>
            <a:endParaRPr lang="ja-JP" sz="2400">
              <a:solidFill>
                <a:srgbClr val="FF0000"/>
              </a:solidFill>
              <a:latin typeface="BIZ UDPゴシック"/>
              <a:ea typeface="BIZ UDPゴシック"/>
            </a:endParaRPr>
          </a:p>
        </p:txBody>
      </p:sp>
      <p:sp>
        <p:nvSpPr>
          <p:cNvPr id="462595104" name="テキスト ボックス 8"/>
          <p:cNvSpPr txBox="1"/>
          <p:nvPr/>
        </p:nvSpPr>
        <p:spPr bwMode="auto">
          <a:xfrm>
            <a:off x="8140054" y="1523862"/>
            <a:ext cx="3732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(1</a:t>
            </a:r>
            <a:r>
              <a:rPr lang="ja-JP" sz="2400">
                <a:latin typeface="BIZ UDPゴシック"/>
                <a:ea typeface="BIZ UDPゴシック"/>
              </a:rPr>
              <a:t>以上で何もわからない。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en-US" sz="2400">
                <a:latin typeface="BIZ UDPゴシック"/>
                <a:ea typeface="BIZ UDPゴシック"/>
              </a:rPr>
              <a:t>0.97</a:t>
            </a:r>
            <a:r>
              <a:rPr lang="ja-JP" sz="2400">
                <a:latin typeface="BIZ UDPゴシック"/>
                <a:ea typeface="BIZ UDPゴシック"/>
              </a:rPr>
              <a:t>５だと</a:t>
            </a:r>
            <a:r>
              <a:rPr lang="en-US" sz="2400">
                <a:latin typeface="BIZ UDPゴシック"/>
                <a:ea typeface="BIZ UDPゴシック"/>
              </a:rPr>
              <a:t>2.5%</a:t>
            </a:r>
            <a:r>
              <a:rPr lang="ja-JP" sz="2400">
                <a:latin typeface="BIZ UDPゴシック"/>
                <a:ea typeface="BIZ UDPゴシック"/>
              </a:rPr>
              <a:t>わかる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endParaRPr lang="ja-JP" sz="2400">
              <a:latin typeface="BIZ UDPゴシック"/>
              <a:ea typeface="BIZ UDPゴシック"/>
            </a:endParaRPr>
          </a:p>
        </p:txBody>
      </p:sp>
      <p:sp>
        <p:nvSpPr>
          <p:cNvPr id="1941179781" name="テキスト ボックス 9"/>
          <p:cNvSpPr txBox="1"/>
          <p:nvPr/>
        </p:nvSpPr>
        <p:spPr bwMode="auto">
          <a:xfrm>
            <a:off x="5920510" y="2425650"/>
            <a:ext cx="579387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ja-JP" sz="2400">
                <a:solidFill>
                  <a:srgbClr val="FF0000"/>
                </a:solidFill>
                <a:latin typeface="BIZ UDPゴシック"/>
                <a:ea typeface="BIZ UDPゴシック"/>
              </a:rPr>
              <a:t>「毛は血の余り」</a:t>
            </a:r>
            <a:endParaRPr lang="en-US" sz="2400">
              <a:solidFill>
                <a:srgbClr val="FF0000"/>
              </a:solidFill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髪の</a:t>
            </a:r>
            <a:r>
              <a:rPr lang="en-US" sz="2400">
                <a:latin typeface="BIZ UDPゴシック"/>
                <a:ea typeface="BIZ UDPゴシック"/>
              </a:rPr>
              <a:t>NIR-HSI</a:t>
            </a:r>
            <a:r>
              <a:rPr lang="ja-JP" sz="2400">
                <a:latin typeface="BIZ UDPゴシック"/>
                <a:ea typeface="BIZ UDPゴシック"/>
              </a:rPr>
              <a:t>データに血虚に関する情報が入っている可能性が見いだされた。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ただし非常に微小な情報量であることは変わらず、些細なばらつきで変わる状態。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・より信頼のあるデータとするため、データ数を増やすなどが必要</a:t>
            </a:r>
            <a:r>
              <a:rPr lang="en-US" sz="2400">
                <a:latin typeface="BIZ UDPゴシック"/>
                <a:ea typeface="BIZ UDPゴシック"/>
              </a:rPr>
              <a:t>(2026</a:t>
            </a:r>
            <a:r>
              <a:rPr lang="ja-JP" sz="2400">
                <a:latin typeface="BIZ UDPゴシック"/>
                <a:ea typeface="BIZ UDPゴシック"/>
              </a:rPr>
              <a:t>年分？</a:t>
            </a:r>
            <a:r>
              <a:rPr lang="en-US" sz="2400">
                <a:latin typeface="BIZ UDPゴシック"/>
                <a:ea typeface="BIZ UDPゴシック"/>
              </a:rPr>
              <a:t>)</a:t>
            </a:r>
            <a:r>
              <a:rPr lang="ja-JP" sz="2400">
                <a:latin typeface="BIZ UDPゴシック"/>
                <a:ea typeface="BIZ UDPゴシック"/>
              </a:rPr>
              <a:t>。</a:t>
            </a:r>
            <a:endParaRPr lang="en-US" sz="2400">
              <a:latin typeface="BIZ UDPゴシック"/>
              <a:ea typeface="BIZ UDPゴシック"/>
            </a:endParaRPr>
          </a:p>
          <a:p>
            <a:pPr>
              <a:defRPr/>
            </a:pPr>
            <a:r>
              <a:rPr lang="ja-JP" sz="2400">
                <a:latin typeface="BIZ UDPゴシック"/>
                <a:ea typeface="BIZ UDPゴシック"/>
              </a:rPr>
              <a:t>・もう一つ可能性の見えた気虚に関しては未着手。</a:t>
            </a:r>
            <a:endParaRPr lang="en-US" sz="2400">
              <a:latin typeface="BIZ UDPゴシック"/>
              <a:ea typeface="BIZ UDPゴシック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Arial"/>
        <a:cs typeface="Arial"/>
      </a:majorFont>
      <a:minorFont>
        <a:latin typeface="游ゴシック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prstGeom prst="rect">
          <a:avLst/>
        </a:prstGeom>
        <a:noFill/>
      </a:spPr>
      <a:bodyPr/>
      <a:lstStyle/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Arial"/>
        <a:cs typeface="Arial"/>
      </a:majorFont>
      <a:minorFont>
        <a:latin typeface="游ゴシック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3554</Words>
  <Application>Microsoft Office PowerPoint</Application>
  <PresentationFormat>ワイド画面</PresentationFormat>
  <Paragraphs>1164</Paragraphs>
  <Slides>32</Slides>
  <Notes>31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32</vt:i4>
      </vt:variant>
    </vt:vector>
  </HeadingPairs>
  <TitlesOfParts>
    <vt:vector size="36" baseType="lpstr">
      <vt:lpstr>BIZ UDPゴシック</vt:lpstr>
      <vt:lpstr>游ゴシック</vt:lpstr>
      <vt:lpstr>Arial</vt:lpstr>
      <vt:lpstr>Office テーマ</vt:lpstr>
      <vt:lpstr>PowerPoint プレゼンテーション</vt:lpstr>
      <vt:lpstr>毛髪から漢方体質分類が可能か？</vt:lpstr>
      <vt:lpstr>PowerPoint プレゼンテーション</vt:lpstr>
      <vt:lpstr>漢方体質アンケート</vt:lpstr>
      <vt:lpstr>PowerPoint プレゼンテーション</vt:lpstr>
      <vt:lpstr>1-1. Stage1:体質アンケート68項目</vt:lpstr>
      <vt:lpstr>1-2. Stage2:体質アンケート重みつけ71項目</vt:lpstr>
      <vt:lpstr>1-3.Stage3クラスタリング:総合６分類</vt:lpstr>
      <vt:lpstr>1-3.クラスター分析(総合６分類)の結果</vt:lpstr>
      <vt:lpstr>2-1.NIR-HSI(毛髪データ)と漢方体質分類</vt:lpstr>
      <vt:lpstr>2-3:結果(スクリーニング)</vt:lpstr>
      <vt:lpstr>2-4:フルチューニング</vt:lpstr>
      <vt:lpstr>PowerPoint プレゼンテーション</vt:lpstr>
      <vt:lpstr>アンケートの俯瞰</vt:lpstr>
      <vt:lpstr>アンケートから作る体質分類</vt:lpstr>
      <vt:lpstr>アンケートから作る体質分類</vt:lpstr>
      <vt:lpstr>毛髪からこれらの分類がひも解けるか</vt:lpstr>
      <vt:lpstr>モデル評価</vt:lpstr>
      <vt:lpstr>2-1.NIR-HSI(毛髪データ)と漢方体質分類</vt:lpstr>
      <vt:lpstr>2-2:結果</vt:lpstr>
      <vt:lpstr>2-3:結果</vt:lpstr>
      <vt:lpstr>まとめ</vt:lpstr>
      <vt:lpstr>漢方体質アンケート</vt:lpstr>
      <vt:lpstr>PowerPoint プレゼンテーション</vt:lpstr>
      <vt:lpstr>1-1. Stage1:体質アンケート68項目</vt:lpstr>
      <vt:lpstr>1-2. Stage2:体質アンケート重みつけ71項目</vt:lpstr>
      <vt:lpstr>1-3.Stage3クラスタリング:総合６分類</vt:lpstr>
      <vt:lpstr>1-3.クラスター分析(総合６分類)の結果</vt:lpstr>
      <vt:lpstr>2-1.NIR-HSI(毛髪データ)と漢方体質分類</vt:lpstr>
      <vt:lpstr>2-2:結果</vt:lpstr>
      <vt:lpstr>2-3:結果</vt:lpstr>
      <vt:lpstr>2-4: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礒辺　真人</dc:creator>
  <cp:lastModifiedBy>真人 礒辺</cp:lastModifiedBy>
  <cp:revision>13</cp:revision>
  <dcterms:created xsi:type="dcterms:W3CDTF">2023-12-18T01:43:22Z</dcterms:created>
  <dcterms:modified xsi:type="dcterms:W3CDTF">2026-09-02T23:23:19Z</dcterms:modified>
</cp:coreProperties>
</file>