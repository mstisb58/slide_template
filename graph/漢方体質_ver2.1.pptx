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ja-JP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568" y="5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PC0</c:v>
                </c:pt>
              </c:strCache>
            </c:strRef>
          </c:tx>
          <c:spPr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overall</c:v>
                </c:pt>
                <c:pt idx="1">
                  <c:v>male/young</c:v>
                </c:pt>
                <c:pt idx="2">
                  <c:v>male/middle</c:v>
                </c:pt>
                <c:pt idx="3">
                  <c:v>male/senior</c:v>
                </c:pt>
                <c:pt idx="4">
                  <c:v>female/young</c:v>
                </c:pt>
                <c:pt idx="5">
                  <c:v>female/middle</c:v>
                </c:pt>
                <c:pt idx="6">
                  <c:v>female/senior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0.315</c:v>
                </c:pt>
                <c:pt idx="1">
                  <c:v>-0.35099999999999998</c:v>
                </c:pt>
                <c:pt idx="2">
                  <c:v>0.11899999999999999</c:v>
                </c:pt>
                <c:pt idx="3">
                  <c:v>-0.21199999999999999</c:v>
                </c:pt>
                <c:pt idx="4">
                  <c:v>0.109</c:v>
                </c:pt>
                <c:pt idx="5">
                  <c:v>4.1000000000000002E-2</c:v>
                </c:pt>
                <c:pt idx="6">
                  <c:v>-0.11799999999999999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FC-44E1-975C-3327BDAAA83C}"/>
            </c:ext>
          </c:extLst>
        </c:ser>
        <c:ser>
          <c:idx val="1"/>
          <c:order val="1"/>
          <c:tx>
            <c:strRef>
              <c:f>Sheet1!$E$1</c:f>
              <c:strCache>
                <c:ptCount val="1"/>
                <c:pt idx="0">
                  <c:v>PC1</c:v>
                </c:pt>
              </c:strCache>
            </c:strRef>
          </c:tx>
          <c:spPr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overall</c:v>
                </c:pt>
                <c:pt idx="1">
                  <c:v>male/young</c:v>
                </c:pt>
                <c:pt idx="2">
                  <c:v>male/middle</c:v>
                </c:pt>
                <c:pt idx="3">
                  <c:v>male/senior</c:v>
                </c:pt>
                <c:pt idx="4">
                  <c:v>female/young</c:v>
                </c:pt>
                <c:pt idx="5">
                  <c:v>female/middle</c:v>
                </c:pt>
                <c:pt idx="6">
                  <c:v>female/senior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0.114</c:v>
                </c:pt>
                <c:pt idx="1">
                  <c:v>-4.3999999999999997E-2</c:v>
                </c:pt>
                <c:pt idx="2">
                  <c:v>-5.0999999999999997E-2</c:v>
                </c:pt>
                <c:pt idx="3">
                  <c:v>-0.105</c:v>
                </c:pt>
                <c:pt idx="4">
                  <c:v>-0.104</c:v>
                </c:pt>
                <c:pt idx="5">
                  <c:v>-8.6999999999999994E-2</c:v>
                </c:pt>
                <c:pt idx="6">
                  <c:v>4.9000000000000002E-2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FC-44E1-975C-3327BDAAA83C}"/>
            </c:ext>
          </c:extLst>
        </c:ser>
        <c:ser>
          <c:idx val="2"/>
          <c:order val="2"/>
          <c:tx>
            <c:strRef>
              <c:f>Sheet1!$F$1</c:f>
              <c:strCache>
                <c:ptCount val="1"/>
                <c:pt idx="0">
                  <c:v>PC2</c:v>
                </c:pt>
              </c:strCache>
            </c:strRef>
          </c:tx>
          <c:spPr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overall</c:v>
                </c:pt>
                <c:pt idx="1">
                  <c:v>male/young</c:v>
                </c:pt>
                <c:pt idx="2">
                  <c:v>male/middle</c:v>
                </c:pt>
                <c:pt idx="3">
                  <c:v>male/senior</c:v>
                </c:pt>
                <c:pt idx="4">
                  <c:v>female/young</c:v>
                </c:pt>
                <c:pt idx="5">
                  <c:v>female/middle</c:v>
                </c:pt>
                <c:pt idx="6">
                  <c:v>female/senior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0.41099999999999998</c:v>
                </c:pt>
                <c:pt idx="1">
                  <c:v>-0.19500000000000001</c:v>
                </c:pt>
                <c:pt idx="2">
                  <c:v>-2.7E-2</c:v>
                </c:pt>
                <c:pt idx="3">
                  <c:v>0.107</c:v>
                </c:pt>
                <c:pt idx="4">
                  <c:v>0.36499999999999999</c:v>
                </c:pt>
                <c:pt idx="5">
                  <c:v>0.22500000000000001</c:v>
                </c:pt>
                <c:pt idx="6">
                  <c:v>0.38600000000000001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1FC-44E1-975C-3327BDAAA8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46549487"/>
        <c:axId val="246549903"/>
      </c:barChart>
      <c:catAx>
        <c:axId val="246549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46549903"/>
        <c:crosses val="autoZero"/>
        <c:auto val="1"/>
        <c:lblAlgn val="ctr"/>
        <c:lblOffset val="100"/>
        <c:noMultiLvlLbl val="0"/>
      </c:catAx>
      <c:valAx>
        <c:axId val="246549903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46549487"/>
        <c:crosses val="autoZero"/>
        <c:crossBetween val="between"/>
      </c:valAx>
      <c:spPr>
        <a:prstGeom prst="rect">
          <a:avLst/>
        </a:prstGeom>
        <a:noFill/>
        <a:ln>
          <a:noFill/>
        </a:ln>
        <a:effectLst/>
      </c:spPr>
    </c:plotArea>
    <c:legend>
      <c:legendPos val="b"/>
      <c:overlay val="0"/>
      <c:spPr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</c:chart>
  <c:spPr bwMode="auto">
    <a:xfrm>
      <a:off x="6687954" y="1548840"/>
      <a:ext cx="5602513" cy="3153789"/>
    </a:xfrm>
    <a:prstGeom prst="rect">
      <a:avLst/>
    </a:prstGeom>
    <a:noFill/>
    <a:ln w="9525" cap="flat" cmpd="sng" algn="ctr">
      <a:noFill/>
      <a:round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MarkerLayout/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161743" name="ヘッダー プレースホルダー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ja-JP"/>
          </a:p>
        </p:txBody>
      </p:sp>
      <p:sp>
        <p:nvSpPr>
          <p:cNvPr id="759249227" name="日付プレースホルダー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F1D0CCF-8D68-49AB-8FC4-261B3E5B68D5}" type="datetimeFigureOut">
              <a:rPr lang="en-US" altLang="ja-JP"/>
              <a:t>9/2/2026</a:t>
            </a:fld>
            <a:endParaRPr lang="ja-JP"/>
          </a:p>
        </p:txBody>
      </p:sp>
      <p:sp>
        <p:nvSpPr>
          <p:cNvPr id="1164994570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ja-JP"/>
          </a:p>
        </p:txBody>
      </p:sp>
      <p:sp>
        <p:nvSpPr>
          <p:cNvPr id="908972799" name="ノート プレースホルダー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  <a:p>
            <a:pPr lvl="1">
              <a:defRPr/>
            </a:pPr>
            <a:r>
              <a:rPr lang="ja-JP"/>
              <a:t>第 </a:t>
            </a:r>
            <a:r>
              <a:rPr lang="en-US"/>
              <a:t>2 </a:t>
            </a:r>
            <a:r>
              <a:rPr lang="ja-JP"/>
              <a:t>レベル</a:t>
            </a:r>
            <a:endParaRPr/>
          </a:p>
          <a:p>
            <a:pPr lvl="2">
              <a:defRPr/>
            </a:pPr>
            <a:r>
              <a:rPr lang="ja-JP"/>
              <a:t>第 </a:t>
            </a:r>
            <a:r>
              <a:rPr lang="en-US"/>
              <a:t>3 </a:t>
            </a:r>
            <a:r>
              <a:rPr lang="ja-JP"/>
              <a:t>レベル</a:t>
            </a:r>
            <a:endParaRPr/>
          </a:p>
          <a:p>
            <a:pPr lvl="3">
              <a:defRPr/>
            </a:pPr>
            <a:r>
              <a:rPr lang="ja-JP"/>
              <a:t>第 </a:t>
            </a:r>
            <a:r>
              <a:rPr lang="en-US"/>
              <a:t>4 </a:t>
            </a:r>
            <a:r>
              <a:rPr lang="ja-JP"/>
              <a:t>レベル</a:t>
            </a:r>
            <a:endParaRPr/>
          </a:p>
          <a:p>
            <a:pPr lvl="4">
              <a:defRPr/>
            </a:pPr>
            <a:r>
              <a:rPr lang="ja-JP"/>
              <a:t>第 </a:t>
            </a:r>
            <a:r>
              <a:rPr lang="en-US"/>
              <a:t>5 </a:t>
            </a:r>
            <a:r>
              <a:rPr lang="ja-JP"/>
              <a:t>レベル</a:t>
            </a:r>
            <a:endParaRPr/>
          </a:p>
        </p:txBody>
      </p:sp>
      <p:sp>
        <p:nvSpPr>
          <p:cNvPr id="56869548" name="フッター プレースホルダー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ja-JP"/>
          </a:p>
        </p:txBody>
      </p:sp>
      <p:sp>
        <p:nvSpPr>
          <p:cNvPr id="1969819915" name="スライド番号プレースホルダー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6298169-DE98-4E01-B5A2-0C443F6BCCA7}" type="slidenum">
              <a:rPr lang="ja-JP"/>
              <a:t>‹#›</a:t>
            </a:fld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57635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827775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00953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013C9A-4EB6-3F7C-6003-E048E4092195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52261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85573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3761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7C4C87-38C6-CE81-BE01-36C59D855DAF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45772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046496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300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5CD8FC-4B63-C725-4914-C546B512624A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385101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26803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194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C47CA8-8B9F-F7C5-FB66-540DCFDBFC5A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271310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400221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24593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2180B4-8A7F-1CAA-499E-148E5835ACAB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857669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23654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7319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93BBF3-0814-97FD-117D-A5CC60B2C9F7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228975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34829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2903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619AEC-9EF9-C466-30FC-C4B2FE9CB622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06493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09942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0980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A54008-B86B-940B-73D2-0758A520A914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52121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44963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3188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7CD3C6-6117-6839-BC01-63219E0EFD26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67422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80180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8534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D9458A-C17B-57E2-40A5-587D9581EC71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75155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78177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14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BB1783-4396-07AB-B15A-6B77DF50B974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55609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116165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77268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947049-DB69-B487-3316-DC4E598662E1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2420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64481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357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9243E0-2B73-B4E8-AF78-3B62D4DE7D2B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0B9A24-B2A5-74D7-56C9-D9B99BAD150D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53A9F7-52E4-ABEC-E92F-303F2155B379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30917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1498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92042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CB8261-E624-3317-EEF4-7C4CBD80BBB3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10072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022298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74686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A43D74-0D83-F5AF-2356-7CC365DA8250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490660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47129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2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4E4E6F-762E-64F6-F99D-CD01F9A8C666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64725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355949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7958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89374F-9382-1A76-9CB7-63B4B0ABD42E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387971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344615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42601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84670C-9AC8-04A4-869A-54F8E9261CCD}" type="slidenum">
              <a:rPr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4099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35492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9756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B8A08-57CB-20C9-589A-38A7623221E8}" type="slidenum">
              <a:rPr/>
              <a:t>21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タイトル スライド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1667865" name="タイトル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BIZ UDPゴシック"/>
                <a:ea typeface="BIZ UDPゴシック"/>
              </a:defRPr>
            </a:lvl1pPr>
          </a:lstStyle>
          <a:p>
            <a:pPr>
              <a:defRPr/>
            </a:pPr>
            <a:r>
              <a:rPr lang="ja-JP"/>
              <a:t>マスター タイトルの書式設定</a:t>
            </a:r>
            <a:endParaRPr/>
          </a:p>
        </p:txBody>
      </p:sp>
      <p:sp>
        <p:nvSpPr>
          <p:cNvPr id="394223223" name="サブタイトル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BIZ UDPゴシック"/>
                <a:ea typeface="BIZ UDPゴシック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ja-JP"/>
              <a:t>マスター サブタイトルの書式設定</a:t>
            </a:r>
            <a:endParaRPr/>
          </a:p>
        </p:txBody>
      </p:sp>
      <p:sp>
        <p:nvSpPr>
          <p:cNvPr id="836637166" name="日付プレースホルダー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latin typeface="BIZ UDPゴシック"/>
                <a:ea typeface="BIZ UDPゴシック"/>
              </a:defRPr>
            </a:lvl1pPr>
          </a:lstStyle>
          <a:p>
            <a:pPr>
              <a:defRPr/>
            </a:pPr>
            <a:fld id="{0170BF8F-7D5B-4E0A-8D9F-5F7FFC045F9B}" type="datetimeFigureOut">
              <a:rPr lang="en-US" altLang="ja-JP"/>
              <a:t>9/2/2026</a:t>
            </a:fld>
            <a:endParaRPr lang="ja-JP"/>
          </a:p>
        </p:txBody>
      </p:sp>
      <p:sp>
        <p:nvSpPr>
          <p:cNvPr id="989676735" name="フッター プレースホルダー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latin typeface="BIZ UDPゴシック"/>
                <a:ea typeface="BIZ UDPゴシック"/>
              </a:defRPr>
            </a:lvl1pPr>
          </a:lstStyle>
          <a:p>
            <a:pPr>
              <a:defRPr/>
            </a:pPr>
            <a:endParaRPr lang="ja-JP"/>
          </a:p>
        </p:txBody>
      </p:sp>
      <p:sp>
        <p:nvSpPr>
          <p:cNvPr id="2065662690" name="スライド番号プレースホルダー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latin typeface="BIZ UDPゴシック"/>
                <a:ea typeface="BIZ UDPゴシック"/>
              </a:defRPr>
            </a:lvl1pPr>
          </a:lstStyle>
          <a:p>
            <a:pPr>
              <a:defRPr/>
            </a:pPr>
            <a:fld id="{524D4FBF-0467-4B3D-97FA-C89E89B9CD99}" type="slidenum">
              <a:rPr lang="ja-JP"/>
              <a:t>‹#›</a:t>
            </a:fld>
            <a:endParaRPr lang="ja-JP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タイトルとコンテンツ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680216" name="タイトル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latin typeface="BIZ UDPゴシック"/>
                <a:ea typeface="BIZ UDPゴシック"/>
              </a:defRPr>
            </a:lvl1pPr>
          </a:lstStyle>
          <a:p>
            <a:pPr>
              <a:defRPr/>
            </a:pPr>
            <a:r>
              <a:rPr lang="ja-JP"/>
              <a:t>マスター タイトルの書式設定</a:t>
            </a:r>
            <a:endParaRPr/>
          </a:p>
        </p:txBody>
      </p:sp>
      <p:sp>
        <p:nvSpPr>
          <p:cNvPr id="155997899" name="コンテンツ プレースホルダー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1pPr>
              <a:defRPr>
                <a:latin typeface="BIZ UDPゴシック"/>
                <a:ea typeface="BIZ UDPゴシック"/>
              </a:defRPr>
            </a:lvl1pPr>
            <a:lvl2pPr>
              <a:defRPr>
                <a:latin typeface="BIZ UDPゴシック"/>
                <a:ea typeface="BIZ UDPゴシック"/>
              </a:defRPr>
            </a:lvl2pPr>
            <a:lvl3pPr>
              <a:defRPr>
                <a:latin typeface="BIZ UDPゴシック"/>
                <a:ea typeface="BIZ UDPゴシック"/>
              </a:defRPr>
            </a:lvl3pPr>
            <a:lvl4pPr>
              <a:defRPr>
                <a:latin typeface="BIZ UDPゴシック"/>
                <a:ea typeface="BIZ UDPゴシック"/>
              </a:defRPr>
            </a:lvl4pPr>
            <a:lvl5pPr>
              <a:defRPr>
                <a:latin typeface="BIZ UDPゴシック"/>
                <a:ea typeface="BIZ UDPゴシック"/>
              </a:defRPr>
            </a:lvl5pPr>
          </a:lstStyle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  <a:p>
            <a:pPr lvl="1">
              <a:defRPr/>
            </a:pPr>
            <a:r>
              <a:rPr lang="ja-JP"/>
              <a:t>第 </a:t>
            </a:r>
            <a:r>
              <a:rPr lang="en-US"/>
              <a:t>2 </a:t>
            </a:r>
            <a:r>
              <a:rPr lang="ja-JP"/>
              <a:t>レベル</a:t>
            </a:r>
            <a:endParaRPr/>
          </a:p>
          <a:p>
            <a:pPr lvl="2">
              <a:defRPr/>
            </a:pPr>
            <a:r>
              <a:rPr lang="ja-JP"/>
              <a:t>第 </a:t>
            </a:r>
            <a:r>
              <a:rPr lang="en-US"/>
              <a:t>3 </a:t>
            </a:r>
            <a:r>
              <a:rPr lang="ja-JP"/>
              <a:t>レベル</a:t>
            </a:r>
            <a:endParaRPr/>
          </a:p>
          <a:p>
            <a:pPr lvl="3">
              <a:defRPr/>
            </a:pPr>
            <a:r>
              <a:rPr lang="ja-JP"/>
              <a:t>第 </a:t>
            </a:r>
            <a:r>
              <a:rPr lang="en-US"/>
              <a:t>4 </a:t>
            </a:r>
            <a:r>
              <a:rPr lang="ja-JP"/>
              <a:t>レベル</a:t>
            </a:r>
            <a:endParaRPr/>
          </a:p>
          <a:p>
            <a:pPr lvl="4">
              <a:defRPr/>
            </a:pPr>
            <a:r>
              <a:rPr lang="ja-JP"/>
              <a:t>第 </a:t>
            </a:r>
            <a:r>
              <a:rPr lang="en-US"/>
              <a:t>5 </a:t>
            </a:r>
            <a:r>
              <a:rPr lang="ja-JP"/>
              <a:t>レベル</a:t>
            </a:r>
            <a:endParaRPr/>
          </a:p>
        </p:txBody>
      </p:sp>
      <p:sp>
        <p:nvSpPr>
          <p:cNvPr id="1612946514" name="日付プレースホルダー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latin typeface="BIZ UDPゴシック"/>
                <a:ea typeface="BIZ UDPゴシック"/>
              </a:defRPr>
            </a:lvl1pPr>
          </a:lstStyle>
          <a:p>
            <a:pPr>
              <a:defRPr/>
            </a:pPr>
            <a:fld id="{0170BF8F-7D5B-4E0A-8D9F-5F7FFC045F9B}" type="datetimeFigureOut">
              <a:rPr lang="en-US" altLang="ja-JP"/>
              <a:t>9/2/2026</a:t>
            </a:fld>
            <a:endParaRPr lang="ja-JP"/>
          </a:p>
        </p:txBody>
      </p:sp>
      <p:sp>
        <p:nvSpPr>
          <p:cNvPr id="1659990595" name="フッター プレースホルダー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latin typeface="BIZ UDPゴシック"/>
                <a:ea typeface="BIZ UDPゴシック"/>
              </a:defRPr>
            </a:lvl1pPr>
          </a:lstStyle>
          <a:p>
            <a:pPr>
              <a:defRPr/>
            </a:pPr>
            <a:endParaRPr lang="ja-JP"/>
          </a:p>
        </p:txBody>
      </p:sp>
      <p:sp>
        <p:nvSpPr>
          <p:cNvPr id="205493881" name="スライド番号プレースホルダー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latin typeface="BIZ UDPゴシック"/>
                <a:ea typeface="BIZ UDPゴシック"/>
              </a:defRPr>
            </a:lvl1pPr>
          </a:lstStyle>
          <a:p>
            <a:pPr>
              <a:defRPr/>
            </a:pPr>
            <a:fld id="{524D4FBF-0467-4B3D-97FA-C89E89B9CD99}" type="slidenum">
              <a:rPr lang="ja-JP"/>
              <a:t>‹#›</a:t>
            </a:fld>
            <a:endParaRPr lang="ja-JP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ユーザー設定レイアウト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2323" name="タイトル 1"/>
          <p:cNvSpPr>
            <a:spLocks noGrp="1"/>
          </p:cNvSpPr>
          <p:nvPr>
            <p:ph type="title"/>
          </p:nvPr>
        </p:nvSpPr>
        <p:spPr bwMode="auto">
          <a:xfrm>
            <a:off x="104274" y="244810"/>
            <a:ext cx="5598694" cy="459917"/>
          </a:xfrm>
        </p:spPr>
        <p:txBody>
          <a:bodyPr>
            <a:normAutofit/>
          </a:bodyPr>
          <a:lstStyle>
            <a:lvl1pPr>
              <a:defRPr sz="3200">
                <a:latin typeface="BIZ UDPゴシック"/>
                <a:ea typeface="BIZ UDPゴシック"/>
              </a:defRPr>
            </a:lvl1pPr>
          </a:lstStyle>
          <a:p>
            <a:pPr>
              <a:defRPr/>
            </a:pPr>
            <a:r>
              <a:rPr lang="ja-JP"/>
              <a:t>マスター タイトルの書式設定</a:t>
            </a:r>
            <a:endParaRPr/>
          </a:p>
        </p:txBody>
      </p:sp>
      <p:cxnSp>
        <p:nvCxnSpPr>
          <p:cNvPr id="1743788248" name="直線コネクタ 5"/>
          <p:cNvCxnSpPr/>
          <p:nvPr userDrawn="1"/>
        </p:nvCxnSpPr>
        <p:spPr bwMode="auto">
          <a:xfrm>
            <a:off x="0" y="825043"/>
            <a:ext cx="1219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4574870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ja-JP"/>
              <a:t>マスター タイトルの書式設定</a:t>
            </a:r>
            <a:endParaRPr/>
          </a:p>
        </p:txBody>
      </p:sp>
      <p:sp>
        <p:nvSpPr>
          <p:cNvPr id="60023579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  <a:p>
            <a:pPr lvl="1">
              <a:defRPr/>
            </a:pPr>
            <a:r>
              <a:rPr lang="ja-JP"/>
              <a:t>第 </a:t>
            </a:r>
            <a:r>
              <a:rPr lang="en-US"/>
              <a:t>2 </a:t>
            </a:r>
            <a:r>
              <a:rPr lang="ja-JP"/>
              <a:t>レベル</a:t>
            </a:r>
            <a:endParaRPr/>
          </a:p>
          <a:p>
            <a:pPr lvl="2">
              <a:defRPr/>
            </a:pPr>
            <a:r>
              <a:rPr lang="ja-JP"/>
              <a:t>第 </a:t>
            </a:r>
            <a:r>
              <a:rPr lang="en-US"/>
              <a:t>3 </a:t>
            </a:r>
            <a:r>
              <a:rPr lang="ja-JP"/>
              <a:t>レベル</a:t>
            </a:r>
            <a:endParaRPr/>
          </a:p>
          <a:p>
            <a:pPr lvl="3">
              <a:defRPr/>
            </a:pPr>
            <a:r>
              <a:rPr lang="ja-JP"/>
              <a:t>第 </a:t>
            </a:r>
            <a:r>
              <a:rPr lang="en-US"/>
              <a:t>4 </a:t>
            </a:r>
            <a:r>
              <a:rPr lang="ja-JP"/>
              <a:t>レベル</a:t>
            </a:r>
            <a:endParaRPr/>
          </a:p>
          <a:p>
            <a:pPr lvl="4">
              <a:defRPr/>
            </a:pPr>
            <a:r>
              <a:rPr lang="ja-JP"/>
              <a:t>第 </a:t>
            </a:r>
            <a:r>
              <a:rPr lang="en-US"/>
              <a:t>5 </a:t>
            </a:r>
            <a:r>
              <a:rPr lang="ja-JP"/>
              <a:t>レベル</a:t>
            </a:r>
            <a:endParaRPr/>
          </a:p>
        </p:txBody>
      </p:sp>
      <p:sp>
        <p:nvSpPr>
          <p:cNvPr id="1994374080" name="日付プレースホルダー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</a:defRPr>
            </a:lvl1pPr>
          </a:lstStyle>
          <a:p>
            <a:pPr>
              <a:defRPr/>
            </a:pPr>
            <a:fld id="{0170BF8F-7D5B-4E0A-8D9F-5F7FFC045F9B}" type="datetimeFigureOut">
              <a:rPr lang="en-US" altLang="ja-JP"/>
              <a:t>9/2/2026</a:t>
            </a:fld>
            <a:endParaRPr lang="ja-JP"/>
          </a:p>
        </p:txBody>
      </p:sp>
      <p:sp>
        <p:nvSpPr>
          <p:cNvPr id="63190824" name="フッター プレースホルダー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</a:defRPr>
            </a:lvl1pPr>
          </a:lstStyle>
          <a:p>
            <a:pPr>
              <a:defRPr/>
            </a:pPr>
            <a:endParaRPr lang="ja-JP"/>
          </a:p>
        </p:txBody>
      </p:sp>
      <p:sp>
        <p:nvSpPr>
          <p:cNvPr id="829317575" name="スライド番号プレースホルダー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</a:defRPr>
            </a:lvl1pPr>
          </a:lstStyle>
          <a:p>
            <a:pPr>
              <a:defRPr/>
            </a:pPr>
            <a:fld id="{524D4FBF-0467-4B3D-97FA-C89E89B9CD99}" type="slidenum">
              <a:rPr lang="ja-JP"/>
              <a:t>‹#›</a:t>
            </a:fld>
            <a:endParaRPr lang="ja-JP"/>
          </a:p>
        </p:txBody>
      </p:sp>
      <p:pic>
        <p:nvPicPr>
          <p:cNvPr id="1012996308" name="図 6"/>
          <p:cNvPicPr>
            <a:picLocks noChangeAspect="1"/>
          </p:cNvPicPr>
          <p:nvPr userDrawn="1"/>
        </p:nvPicPr>
        <p:blipFill rotWithShape="1">
          <a:blip r:embed="rId5"/>
          <a:stretch/>
        </p:blipFill>
        <p:spPr bwMode="auto">
          <a:xfrm flipV="1">
            <a:off x="0" y="-2"/>
            <a:ext cx="12192000" cy="230189"/>
          </a:xfrm>
          <a:prstGeom prst="rect">
            <a:avLst/>
          </a:prstGeom>
        </p:spPr>
      </p:pic>
      <p:pic>
        <p:nvPicPr>
          <p:cNvPr id="898917283" name="図 7"/>
          <p:cNvPicPr>
            <a:picLocks noChangeAspect="1"/>
          </p:cNvPicPr>
          <p:nvPr userDrawn="1"/>
        </p:nvPicPr>
        <p:blipFill rotWithShape="1">
          <a:blip r:embed="rId5"/>
          <a:stretch/>
        </p:blipFill>
        <p:spPr bwMode="auto">
          <a:xfrm rot="10800000" flipV="1">
            <a:off x="0" y="6605337"/>
            <a:ext cx="12192000" cy="266317"/>
          </a:xfrm>
          <a:prstGeom prst="rect">
            <a:avLst/>
          </a:prstGeom>
        </p:spPr>
      </p:pic>
      <p:pic>
        <p:nvPicPr>
          <p:cNvPr id="1232132966" name="図 8"/>
          <p:cNvPicPr>
            <a:picLocks noChangeAspect="1"/>
          </p:cNvPicPr>
          <p:nvPr userDrawn="1"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/>
        </p:blipFill>
        <p:spPr bwMode="auto">
          <a:xfrm>
            <a:off x="9854465" y="100314"/>
            <a:ext cx="2148840" cy="43913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BIZ UDPゴシック"/>
          <a:ea typeface="BIZ UDPゴシック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BIZ UDPゴシック"/>
          <a:ea typeface="BIZ UDPゴシック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BIZ UDPゴシック"/>
          <a:ea typeface="BIZ UDPゴシック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BIZ UDPゴシック"/>
          <a:ea typeface="BIZ UDPゴシック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BIZ UDPゴシック"/>
          <a:ea typeface="BIZ UDPゴシック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BIZ UDPゴシック"/>
          <a:ea typeface="BIZ UDPゴシック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7358896" name="テキスト ボックス 3"/>
          <p:cNvSpPr txBox="1"/>
          <p:nvPr/>
        </p:nvSpPr>
        <p:spPr bwMode="auto">
          <a:xfrm>
            <a:off x="3365500" y="2997200"/>
            <a:ext cx="5262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3600">
                <a:latin typeface="BIZ UDPゴシック"/>
                <a:ea typeface="BIZ UDPゴシック"/>
              </a:rPr>
              <a:t>毛髪でひも解く漢方体質</a:t>
            </a:r>
          </a:p>
        </p:txBody>
      </p:sp>
      <p:sp>
        <p:nvSpPr>
          <p:cNvPr id="2077407642" name="テキスト ボックス 4"/>
          <p:cNvSpPr txBox="1"/>
          <p:nvPr/>
        </p:nvSpPr>
        <p:spPr bwMode="auto">
          <a:xfrm>
            <a:off x="10198100" y="523240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礒辺真人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0380809" name="Picture 4" descr="薬膳の基本の考え方を知ろう★ | 薬膳レストランの【然の膳】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/>
        </p:blipFill>
        <p:spPr bwMode="auto">
          <a:xfrm>
            <a:off x="7258730" y="1990788"/>
            <a:ext cx="3295750" cy="2929556"/>
          </a:xfrm>
          <a:prstGeom prst="rect">
            <a:avLst/>
          </a:prstGeom>
          <a:noFill/>
        </p:spPr>
      </p:pic>
      <p:sp>
        <p:nvSpPr>
          <p:cNvPr id="1584340364" name="テキスト ボックス 3"/>
          <p:cNvSpPr txBox="1"/>
          <p:nvPr/>
        </p:nvSpPr>
        <p:spPr bwMode="auto">
          <a:xfrm>
            <a:off x="166947" y="772413"/>
            <a:ext cx="10731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 dirty="0">
                <a:latin typeface="BIZ UDPゴシック"/>
                <a:ea typeface="BIZ UDPゴシック"/>
              </a:rPr>
              <a:t>弘前健診で取得した</a:t>
            </a:r>
            <a:r>
              <a:rPr lang="en-US" sz="2400" dirty="0">
                <a:latin typeface="BIZ UDPゴシック"/>
                <a:ea typeface="BIZ UDPゴシック"/>
              </a:rPr>
              <a:t>NIR-HSI</a:t>
            </a:r>
            <a:r>
              <a:rPr lang="ja-JP" sz="2400" dirty="0">
                <a:latin typeface="BIZ UDPゴシック"/>
                <a:ea typeface="BIZ UDPゴシック"/>
              </a:rPr>
              <a:t>のデータを使って漢方体質が診断できるのか？</a:t>
            </a:r>
            <a:endParaRPr lang="en-US" sz="2400" dirty="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 dirty="0">
                <a:latin typeface="BIZ UDPゴシック"/>
                <a:ea typeface="BIZ UDPゴシック"/>
              </a:rPr>
              <a:t>新たな分類が可能なのか？</a:t>
            </a:r>
            <a:endParaRPr lang="en-US" sz="2400" dirty="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 dirty="0">
                <a:latin typeface="BIZ UDPゴシック"/>
                <a:ea typeface="BIZ UDPゴシック"/>
              </a:rPr>
              <a:t>毛髪でわかることをデータの力で検証する。</a:t>
            </a:r>
          </a:p>
        </p:txBody>
      </p:sp>
      <p:sp>
        <p:nvSpPr>
          <p:cNvPr id="517960500" name="タイトル 4"/>
          <p:cNvSpPr>
            <a:spLocks noGrp="1"/>
          </p:cNvSpPr>
          <p:nvPr>
            <p:ph type="title"/>
          </p:nvPr>
        </p:nvSpPr>
        <p:spPr bwMode="auto">
          <a:xfrm>
            <a:off x="104274" y="244810"/>
            <a:ext cx="6004426" cy="45991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ja-JP" dirty="0"/>
              <a:t>毛髪から漢方体質分類が可能か？</a:t>
            </a:r>
          </a:p>
        </p:txBody>
      </p:sp>
      <p:sp>
        <p:nvSpPr>
          <p:cNvPr id="415814326" name="テキスト ボックス 6"/>
          <p:cNvSpPr txBox="1"/>
          <p:nvPr/>
        </p:nvSpPr>
        <p:spPr bwMode="auto">
          <a:xfrm>
            <a:off x="781761" y="4723579"/>
            <a:ext cx="2832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NIR-HSI</a:t>
            </a:r>
            <a:r>
              <a:rPr lang="ja-JP" sz="2400">
                <a:latin typeface="BIZ UDPゴシック"/>
                <a:ea typeface="BIZ UDPゴシック"/>
              </a:rPr>
              <a:t>キューブ</a:t>
            </a:r>
          </a:p>
        </p:txBody>
      </p:sp>
      <p:sp>
        <p:nvSpPr>
          <p:cNvPr id="1635813252" name="テキスト ボックス 8"/>
          <p:cNvSpPr txBox="1"/>
          <p:nvPr/>
        </p:nvSpPr>
        <p:spPr bwMode="auto">
          <a:xfrm>
            <a:off x="7899751" y="3182527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4000" dirty="0">
                <a:latin typeface="BIZ UDPゴシック"/>
                <a:ea typeface="BIZ UDPゴシック"/>
              </a:rPr>
              <a:t>漢方体質</a:t>
            </a:r>
            <a:endParaRPr dirty="0"/>
          </a:p>
        </p:txBody>
      </p:sp>
      <p:sp>
        <p:nvSpPr>
          <p:cNvPr id="1712969744" name="テキスト ボックス 9"/>
          <p:cNvSpPr txBox="1"/>
          <p:nvPr/>
        </p:nvSpPr>
        <p:spPr bwMode="auto">
          <a:xfrm>
            <a:off x="6019428" y="4827071"/>
            <a:ext cx="59971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・冷え、体質に関するアンケート（約</a:t>
            </a:r>
            <a:r>
              <a:rPr lang="en-US" sz="2400">
                <a:latin typeface="BIZ UDPゴシック"/>
                <a:ea typeface="BIZ UDPゴシック"/>
              </a:rPr>
              <a:t>90</a:t>
            </a:r>
            <a:r>
              <a:rPr lang="ja-JP" sz="2400">
                <a:latin typeface="BIZ UDPゴシック"/>
                <a:ea typeface="BIZ UDPゴシック"/>
              </a:rPr>
              <a:t>項目）</a:t>
            </a:r>
            <a:endParaRPr/>
          </a:p>
        </p:txBody>
      </p:sp>
      <p:sp>
        <p:nvSpPr>
          <p:cNvPr id="790581655" name="十字形 10"/>
          <p:cNvSpPr/>
          <p:nvPr/>
        </p:nvSpPr>
        <p:spPr bwMode="auto">
          <a:xfrm rot="18900000">
            <a:off x="4742223" y="3207054"/>
            <a:ext cx="1283496" cy="1283496"/>
          </a:xfrm>
          <a:prstGeom prst="plus">
            <a:avLst>
              <a:gd name="adj" fmla="val 3904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ja-JP"/>
          </a:p>
        </p:txBody>
      </p:sp>
      <p:sp>
        <p:nvSpPr>
          <p:cNvPr id="1952287767" name="テキスト ボックス 11"/>
          <p:cNvSpPr txBox="1"/>
          <p:nvPr/>
        </p:nvSpPr>
        <p:spPr bwMode="auto">
          <a:xfrm>
            <a:off x="1401419" y="5425967"/>
            <a:ext cx="97802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※</a:t>
            </a:r>
            <a:r>
              <a:rPr lang="ja-JP" sz="2400">
                <a:latin typeface="BIZ UDPゴシック"/>
                <a:ea typeface="BIZ UDPゴシック"/>
              </a:rPr>
              <a:t>今回は「データから見えることを探す」のであり、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「答えを与えて確かめる」のではない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※</a:t>
            </a:r>
            <a:r>
              <a:rPr lang="ja-JP" sz="2400">
                <a:latin typeface="BIZ UDPゴシック"/>
                <a:ea typeface="BIZ UDPゴシック"/>
              </a:rPr>
              <a:t>漢方については専門家ではないので、解釈違いなどはご容赦ください</a:t>
            </a:r>
          </a:p>
        </p:txBody>
      </p: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31A6376B-9FD8-F352-F2C8-F0986703584C}"/>
              </a:ext>
            </a:extLst>
          </p:cNvPr>
          <p:cNvGrpSpPr/>
          <p:nvPr/>
        </p:nvGrpSpPr>
        <p:grpSpPr>
          <a:xfrm>
            <a:off x="1066999" y="2201296"/>
            <a:ext cx="2978132" cy="2492030"/>
            <a:chOff x="1066999" y="2201296"/>
            <a:chExt cx="2978132" cy="2492030"/>
          </a:xfrm>
        </p:grpSpPr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8DB26A01-5DC7-6C25-060E-3E7C5CF27B03}"/>
                </a:ext>
              </a:extLst>
            </p:cNvPr>
            <p:cNvGrpSpPr/>
            <p:nvPr/>
          </p:nvGrpSpPr>
          <p:grpSpPr>
            <a:xfrm>
              <a:off x="1066999" y="2217806"/>
              <a:ext cx="2978132" cy="2475520"/>
              <a:chOff x="3613860" y="2521287"/>
              <a:chExt cx="2978132" cy="2475520"/>
            </a:xfrm>
          </p:grpSpPr>
          <p:sp>
            <p:nvSpPr>
              <p:cNvPr id="4" name="直方体 3">
                <a:extLst>
                  <a:ext uri="{FF2B5EF4-FFF2-40B4-BE49-F238E27FC236}">
                    <a16:creationId xmlns:a16="http://schemas.microsoft.com/office/drawing/2014/main" id="{715E5374-8B86-FB43-8C26-823A4AA878DD}"/>
                  </a:ext>
                </a:extLst>
              </p:cNvPr>
              <p:cNvSpPr/>
              <p:nvPr/>
            </p:nvSpPr>
            <p:spPr>
              <a:xfrm>
                <a:off x="3613861" y="2521287"/>
                <a:ext cx="2978131" cy="2475520"/>
              </a:xfrm>
              <a:prstGeom prst="cube">
                <a:avLst>
                  <a:gd name="adj" fmla="val 27159"/>
                </a:avLst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3" name="図 2">
                <a:extLst>
                  <a:ext uri="{FF2B5EF4-FFF2-40B4-BE49-F238E27FC236}">
                    <a16:creationId xmlns:a16="http://schemas.microsoft.com/office/drawing/2014/main" id="{E7141B0B-E24F-B539-0DED-EA70602EBE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67" t="1266" r="610" b="1266"/>
              <a:stretch>
                <a:fillRect/>
              </a:stretch>
            </p:blipFill>
            <p:spPr>
              <a:xfrm>
                <a:off x="3613860" y="3190883"/>
                <a:ext cx="2307967" cy="180592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0"/>
              </a:sp3d>
            </p:spPr>
          </p:pic>
        </p:grp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9C66A926-C9D0-7A6C-2B8B-042E2F60FFC1}"/>
                </a:ext>
              </a:extLst>
            </p:cNvPr>
            <p:cNvGrpSpPr/>
            <p:nvPr/>
          </p:nvGrpSpPr>
          <p:grpSpPr>
            <a:xfrm>
              <a:off x="1221971" y="2754399"/>
              <a:ext cx="2283824" cy="1809288"/>
              <a:chOff x="1221971" y="2754399"/>
              <a:chExt cx="2283824" cy="1809288"/>
            </a:xfrm>
          </p:grpSpPr>
          <p:cxnSp>
            <p:nvCxnSpPr>
              <p:cNvPr id="7" name="直線コネクタ 6">
                <a:extLst>
                  <a:ext uri="{FF2B5EF4-FFF2-40B4-BE49-F238E27FC236}">
                    <a16:creationId xmlns:a16="http://schemas.microsoft.com/office/drawing/2014/main" id="{5AD21474-B079-4F56-29A8-A521F78F68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5795" y="2759825"/>
                <a:ext cx="0" cy="18038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直線コネクタ 9">
                <a:extLst>
                  <a:ext uri="{FF2B5EF4-FFF2-40B4-BE49-F238E27FC236}">
                    <a16:creationId xmlns:a16="http://schemas.microsoft.com/office/drawing/2014/main" id="{D9CC399F-4A8E-8C3B-EBDF-B6062BE161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21971" y="2754399"/>
                <a:ext cx="228382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グループ化 17">
              <a:extLst>
                <a:ext uri="{FF2B5EF4-FFF2-40B4-BE49-F238E27FC236}">
                  <a16:creationId xmlns:a16="http://schemas.microsoft.com/office/drawing/2014/main" id="{F3374814-3172-39F0-2955-2EEEE4BCCEB7}"/>
                </a:ext>
              </a:extLst>
            </p:cNvPr>
            <p:cNvGrpSpPr/>
            <p:nvPr/>
          </p:nvGrpSpPr>
          <p:grpSpPr>
            <a:xfrm>
              <a:off x="1341119" y="2632480"/>
              <a:ext cx="2283824" cy="1809288"/>
              <a:chOff x="1221971" y="2754399"/>
              <a:chExt cx="2283824" cy="1809288"/>
            </a:xfrm>
          </p:grpSpPr>
          <p:cxnSp>
            <p:nvCxnSpPr>
              <p:cNvPr id="19" name="直線コネクタ 18">
                <a:extLst>
                  <a:ext uri="{FF2B5EF4-FFF2-40B4-BE49-F238E27FC236}">
                    <a16:creationId xmlns:a16="http://schemas.microsoft.com/office/drawing/2014/main" id="{B7F4B66C-BAB3-ACA4-4798-A45276B1E9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5795" y="2759825"/>
                <a:ext cx="0" cy="18038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直線コネクタ 19">
                <a:extLst>
                  <a:ext uri="{FF2B5EF4-FFF2-40B4-BE49-F238E27FC236}">
                    <a16:creationId xmlns:a16="http://schemas.microsoft.com/office/drawing/2014/main" id="{0529F764-AB8F-2C70-A2F5-432A2C7754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21971" y="2754399"/>
                <a:ext cx="228382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グループ化 20">
              <a:extLst>
                <a:ext uri="{FF2B5EF4-FFF2-40B4-BE49-F238E27FC236}">
                  <a16:creationId xmlns:a16="http://schemas.microsoft.com/office/drawing/2014/main" id="{8E06E426-8171-2C3C-3EE4-B90C93F1A473}"/>
                </a:ext>
              </a:extLst>
            </p:cNvPr>
            <p:cNvGrpSpPr/>
            <p:nvPr/>
          </p:nvGrpSpPr>
          <p:grpSpPr>
            <a:xfrm>
              <a:off x="1451954" y="2518872"/>
              <a:ext cx="2283824" cy="1809288"/>
              <a:chOff x="1221971" y="2754399"/>
              <a:chExt cx="2283824" cy="1809288"/>
            </a:xfrm>
          </p:grpSpPr>
          <p:cxnSp>
            <p:nvCxnSpPr>
              <p:cNvPr id="22" name="直線コネクタ 21">
                <a:extLst>
                  <a:ext uri="{FF2B5EF4-FFF2-40B4-BE49-F238E27FC236}">
                    <a16:creationId xmlns:a16="http://schemas.microsoft.com/office/drawing/2014/main" id="{46AED4DB-D468-EEA8-3FB2-06CCE4C97C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5795" y="2759825"/>
                <a:ext cx="0" cy="18038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直線コネクタ 22">
                <a:extLst>
                  <a:ext uri="{FF2B5EF4-FFF2-40B4-BE49-F238E27FC236}">
                    <a16:creationId xmlns:a16="http://schemas.microsoft.com/office/drawing/2014/main" id="{2AA861AE-1AAE-6B85-2B85-2EA6A4EB8F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21971" y="2754399"/>
                <a:ext cx="228382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B95D8F62-8F34-CD9B-F615-4B35290DD014}"/>
                </a:ext>
              </a:extLst>
            </p:cNvPr>
            <p:cNvGrpSpPr/>
            <p:nvPr/>
          </p:nvGrpSpPr>
          <p:grpSpPr>
            <a:xfrm>
              <a:off x="1562789" y="2405266"/>
              <a:ext cx="2283824" cy="1809288"/>
              <a:chOff x="1221971" y="2754399"/>
              <a:chExt cx="2283824" cy="1809288"/>
            </a:xfrm>
          </p:grpSpPr>
          <p:cxnSp>
            <p:nvCxnSpPr>
              <p:cNvPr id="25" name="直線コネクタ 24">
                <a:extLst>
                  <a:ext uri="{FF2B5EF4-FFF2-40B4-BE49-F238E27FC236}">
                    <a16:creationId xmlns:a16="http://schemas.microsoft.com/office/drawing/2014/main" id="{57D2D5A3-FE37-9A79-B21E-4285F01A4C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5795" y="2759825"/>
                <a:ext cx="0" cy="18038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直線コネクタ 25">
                <a:extLst>
                  <a:ext uri="{FF2B5EF4-FFF2-40B4-BE49-F238E27FC236}">
                    <a16:creationId xmlns:a16="http://schemas.microsoft.com/office/drawing/2014/main" id="{DFF88429-9A71-8F21-8417-18B505F00F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21971" y="2754399"/>
                <a:ext cx="228382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グループ化 26">
              <a:extLst>
                <a:ext uri="{FF2B5EF4-FFF2-40B4-BE49-F238E27FC236}">
                  <a16:creationId xmlns:a16="http://schemas.microsoft.com/office/drawing/2014/main" id="{EAC27101-763E-E131-ACB4-2C64B00D1B9D}"/>
                </a:ext>
              </a:extLst>
            </p:cNvPr>
            <p:cNvGrpSpPr/>
            <p:nvPr/>
          </p:nvGrpSpPr>
          <p:grpSpPr>
            <a:xfrm>
              <a:off x="1665311" y="2299972"/>
              <a:ext cx="2283824" cy="1809288"/>
              <a:chOff x="1221971" y="2754399"/>
              <a:chExt cx="2283824" cy="1809288"/>
            </a:xfrm>
          </p:grpSpPr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0EEFB1E2-73D2-7D76-CB86-1821FDD2F3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5795" y="2759825"/>
                <a:ext cx="0" cy="18038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直線コネクタ 28">
                <a:extLst>
                  <a:ext uri="{FF2B5EF4-FFF2-40B4-BE49-F238E27FC236}">
                    <a16:creationId xmlns:a16="http://schemas.microsoft.com/office/drawing/2014/main" id="{D3E5F565-A448-C2D2-9DF1-FC24C5A0FB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21971" y="2754399"/>
                <a:ext cx="228382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526995A6-3135-D8C2-DB5F-D6A35F2B0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13841" y="2212381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線コネクタ 34">
              <a:extLst>
                <a:ext uri="{FF2B5EF4-FFF2-40B4-BE49-F238E27FC236}">
                  <a16:creationId xmlns:a16="http://schemas.microsoft.com/office/drawing/2014/main" id="{6E3324E9-78BE-041A-E013-3C354361F7B9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466241" y="2231776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7411F44A-7953-917F-4AFE-1A3E83376840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618641" y="2201296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線コネクタ 36">
              <a:extLst>
                <a:ext uri="{FF2B5EF4-FFF2-40B4-BE49-F238E27FC236}">
                  <a16:creationId xmlns:a16="http://schemas.microsoft.com/office/drawing/2014/main" id="{6A527D31-D53D-19FD-271D-E62AFE50AF03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771041" y="2212381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線コネクタ 37">
              <a:extLst>
                <a:ext uri="{FF2B5EF4-FFF2-40B4-BE49-F238E27FC236}">
                  <a16:creationId xmlns:a16="http://schemas.microsoft.com/office/drawing/2014/main" id="{EF27BD2A-7534-FB1C-8F4E-8D02B312FDC0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923441" y="2215151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C1FD238D-3785-9880-F3EB-3E2C6434AF3E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075841" y="2209610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線コネクタ 39">
              <a:extLst>
                <a:ext uri="{FF2B5EF4-FFF2-40B4-BE49-F238E27FC236}">
                  <a16:creationId xmlns:a16="http://schemas.microsoft.com/office/drawing/2014/main" id="{A2279E0B-9AB4-8F3B-8F96-6DE3182F240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228241" y="2220694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線コネクタ 40">
              <a:extLst>
                <a:ext uri="{FF2B5EF4-FFF2-40B4-BE49-F238E27FC236}">
                  <a16:creationId xmlns:a16="http://schemas.microsoft.com/office/drawing/2014/main" id="{8BA97BAE-96D6-905F-B387-309838D38CB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380641" y="2215153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E4AFBDB9-3846-9F90-F9B3-76DBE6C0916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533041" y="2209610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線コネクタ 42">
              <a:extLst>
                <a:ext uri="{FF2B5EF4-FFF2-40B4-BE49-F238E27FC236}">
                  <a16:creationId xmlns:a16="http://schemas.microsoft.com/office/drawing/2014/main" id="{8CB517E3-C6E2-BD2C-2B9C-F5832F21ADF9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685441" y="2212382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CA2A4612-D309-1DC1-E31A-1DF79C7F14E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837841" y="2206841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直線コネクタ 47">
              <a:extLst>
                <a:ext uri="{FF2B5EF4-FFF2-40B4-BE49-F238E27FC236}">
                  <a16:creationId xmlns:a16="http://schemas.microsoft.com/office/drawing/2014/main" id="{3E18A49E-CEAB-62AC-DDBC-B6671D684019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990241" y="2201299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184540B8-7857-1965-8017-B5FB69218E3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142641" y="2220694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直線コネクタ 49">
              <a:extLst>
                <a:ext uri="{FF2B5EF4-FFF2-40B4-BE49-F238E27FC236}">
                  <a16:creationId xmlns:a16="http://schemas.microsoft.com/office/drawing/2014/main" id="{1D1963B6-1093-CDE9-0CBA-E6909C24ACEE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2373094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線コネクタ 51">
              <a:extLst>
                <a:ext uri="{FF2B5EF4-FFF2-40B4-BE49-F238E27FC236}">
                  <a16:creationId xmlns:a16="http://schemas.microsoft.com/office/drawing/2014/main" id="{2634DB43-E236-3E7B-DF54-AFB9082CE993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25338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9C03A631-888F-22BE-CDFF-ADCC8992CAA6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26862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線コネクタ 53">
              <a:extLst>
                <a:ext uri="{FF2B5EF4-FFF2-40B4-BE49-F238E27FC236}">
                  <a16:creationId xmlns:a16="http://schemas.microsoft.com/office/drawing/2014/main" id="{712F9D37-66E3-8766-B913-51732CD64C14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28386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線コネクタ 54">
              <a:extLst>
                <a:ext uri="{FF2B5EF4-FFF2-40B4-BE49-F238E27FC236}">
                  <a16:creationId xmlns:a16="http://schemas.microsoft.com/office/drawing/2014/main" id="{756D83AA-D377-7D49-07AE-00062EADD1BE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29910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線コネクタ 55">
              <a:extLst>
                <a:ext uri="{FF2B5EF4-FFF2-40B4-BE49-F238E27FC236}">
                  <a16:creationId xmlns:a16="http://schemas.microsoft.com/office/drawing/2014/main" id="{8DDDD02E-AD14-BE85-84B5-B4B7E3EEBBD4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31434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線コネクタ 56">
              <a:extLst>
                <a:ext uri="{FF2B5EF4-FFF2-40B4-BE49-F238E27FC236}">
                  <a16:creationId xmlns:a16="http://schemas.microsoft.com/office/drawing/2014/main" id="{4248DC4A-CC7E-5FBD-8B11-0A6BA7D5BBA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32958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線コネクタ 57">
              <a:extLst>
                <a:ext uri="{FF2B5EF4-FFF2-40B4-BE49-F238E27FC236}">
                  <a16:creationId xmlns:a16="http://schemas.microsoft.com/office/drawing/2014/main" id="{2E82AB5B-4634-601C-5C4C-24E9DB9F6B1C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34482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直線コネクタ 58">
              <a:extLst>
                <a:ext uri="{FF2B5EF4-FFF2-40B4-BE49-F238E27FC236}">
                  <a16:creationId xmlns:a16="http://schemas.microsoft.com/office/drawing/2014/main" id="{DBE75A93-A577-7713-54CF-997B10FA4419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36006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0B8DDFDE-88C8-BCC6-487F-AC8C598D0DF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37530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線コネクタ 60">
              <a:extLst>
                <a:ext uri="{FF2B5EF4-FFF2-40B4-BE49-F238E27FC236}">
                  <a16:creationId xmlns:a16="http://schemas.microsoft.com/office/drawing/2014/main" id="{1395757C-07FA-19A6-EEEC-23BF3BF1690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3872155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2490170" name="テキスト ボックス 2"/>
          <p:cNvSpPr txBox="1"/>
          <p:nvPr/>
        </p:nvSpPr>
        <p:spPr bwMode="auto">
          <a:xfrm flipH="1">
            <a:off x="495660" y="1045029"/>
            <a:ext cx="484559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1.</a:t>
            </a:r>
            <a:r>
              <a:rPr lang="ja-JP" sz="2400">
                <a:latin typeface="BIZ UDPゴシック"/>
                <a:ea typeface="BIZ UDPゴシック"/>
              </a:rPr>
              <a:t>アンケートデータの俯瞰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2.</a:t>
            </a:r>
            <a:r>
              <a:rPr lang="ja-JP" sz="2400">
                <a:latin typeface="BIZ UDPゴシック"/>
                <a:ea typeface="BIZ UDPゴシック"/>
              </a:rPr>
              <a:t>アンケートのクラスタリング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3.</a:t>
            </a:r>
            <a:r>
              <a:rPr lang="ja-JP" sz="2400">
                <a:latin typeface="BIZ UDPゴシック"/>
                <a:ea typeface="BIZ UDPゴシック"/>
              </a:rPr>
              <a:t>各クラスターの体質確認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4.</a:t>
            </a:r>
            <a:r>
              <a:rPr lang="ja-JP" sz="2400">
                <a:latin typeface="BIZ UDPゴシック"/>
                <a:ea typeface="BIZ UDPゴシック"/>
              </a:rPr>
              <a:t>毛髪からわかる漢方体質</a:t>
            </a:r>
            <a:endParaRPr lang="en-US" sz="2400">
              <a:latin typeface="BIZ UDPゴシック"/>
              <a:ea typeface="BIZ UDPゴシック"/>
            </a:endParaRPr>
          </a:p>
        </p:txBody>
      </p:sp>
      <p:sp>
        <p:nvSpPr>
          <p:cNvPr id="260556660" name="テキスト ボックス 3"/>
          <p:cNvSpPr txBox="1"/>
          <p:nvPr/>
        </p:nvSpPr>
        <p:spPr bwMode="auto">
          <a:xfrm>
            <a:off x="2583543" y="6139542"/>
            <a:ext cx="9844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本検討には</a:t>
            </a:r>
            <a:r>
              <a:rPr lang="en-US" sz="2400">
                <a:latin typeface="BIZ UDPゴシック"/>
                <a:ea typeface="BIZ UDPゴシック"/>
              </a:rPr>
              <a:t>2024</a:t>
            </a:r>
            <a:r>
              <a:rPr lang="ja-JP" sz="2400">
                <a:latin typeface="BIZ UDPゴシック"/>
                <a:ea typeface="BIZ UDPゴシック"/>
              </a:rPr>
              <a:t>年に取得したデータ</a:t>
            </a:r>
            <a:r>
              <a:rPr lang="en-US" sz="2400">
                <a:latin typeface="BIZ UDPゴシック"/>
                <a:ea typeface="BIZ UDPゴシック"/>
              </a:rPr>
              <a:t>1124</a:t>
            </a:r>
            <a:r>
              <a:rPr lang="ja-JP" sz="2400">
                <a:latin typeface="BIZ UDPゴシック"/>
                <a:ea typeface="BIZ UDPゴシック"/>
              </a:rPr>
              <a:t>人分（欠損値除去後）を使用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305089" name="タイトル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ja-JP"/>
              <a:t>アンケートの俯瞰</a:t>
            </a:r>
            <a:endParaRPr/>
          </a:p>
        </p:txBody>
      </p:sp>
      <p:pic>
        <p:nvPicPr>
          <p:cNvPr id="1274833911" name="図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72463" y="1532909"/>
            <a:ext cx="3012504" cy="3012504"/>
          </a:xfrm>
          <a:prstGeom prst="rect">
            <a:avLst/>
          </a:prstGeom>
        </p:spPr>
      </p:pic>
      <p:sp>
        <p:nvSpPr>
          <p:cNvPr id="208724300" name="テキスト ボックス 3"/>
          <p:cNvSpPr txBox="1"/>
          <p:nvPr/>
        </p:nvSpPr>
        <p:spPr bwMode="auto">
          <a:xfrm>
            <a:off x="257629" y="814196"/>
            <a:ext cx="11120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相関分析で各項目ごとの相関を確認、年齢や性別との交絡も事前に把握しておく。</a:t>
            </a:r>
          </a:p>
        </p:txBody>
      </p:sp>
      <p:pic>
        <p:nvPicPr>
          <p:cNvPr id="441035979" name="図 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817806" y="1559085"/>
            <a:ext cx="3215975" cy="2867773"/>
          </a:xfrm>
          <a:prstGeom prst="rect">
            <a:avLst/>
          </a:prstGeom>
        </p:spPr>
      </p:pic>
      <p:sp>
        <p:nvSpPr>
          <p:cNvPr id="877706372" name="テキスト ボックス 5"/>
          <p:cNvSpPr txBox="1"/>
          <p:nvPr/>
        </p:nvSpPr>
        <p:spPr bwMode="auto">
          <a:xfrm>
            <a:off x="2306631" y="5558971"/>
            <a:ext cx="76054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なんとなくいろんなところに正の相関ありそうだ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→相関する項目があればクラスターが作れる。</a:t>
            </a:r>
          </a:p>
        </p:txBody>
      </p:sp>
      <p:pic>
        <p:nvPicPr>
          <p:cNvPr id="509271351" name="図 6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222667" y="1532909"/>
            <a:ext cx="2969332" cy="2969332"/>
          </a:xfrm>
          <a:prstGeom prst="rect">
            <a:avLst/>
          </a:prstGeom>
        </p:spPr>
      </p:pic>
      <p:pic>
        <p:nvPicPr>
          <p:cNvPr id="1072103177" name="図 7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3096870" y="1559085"/>
            <a:ext cx="3012504" cy="3012504"/>
          </a:xfrm>
          <a:prstGeom prst="rect">
            <a:avLst/>
          </a:prstGeom>
        </p:spPr>
      </p:pic>
      <p:sp>
        <p:nvSpPr>
          <p:cNvPr id="859977340" name="テキスト ボックス 8"/>
          <p:cNvSpPr txBox="1"/>
          <p:nvPr/>
        </p:nvSpPr>
        <p:spPr bwMode="auto">
          <a:xfrm>
            <a:off x="620572" y="4494353"/>
            <a:ext cx="2116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young:male</a:t>
            </a:r>
            <a:endParaRPr lang="ja-JP" sz="2400">
              <a:latin typeface="BIZ UDPゴシック"/>
              <a:ea typeface="BIZ UDPゴシック"/>
            </a:endParaRPr>
          </a:p>
        </p:txBody>
      </p:sp>
      <p:sp>
        <p:nvSpPr>
          <p:cNvPr id="329596226" name="テキスト ボックス 9"/>
          <p:cNvSpPr txBox="1"/>
          <p:nvPr/>
        </p:nvSpPr>
        <p:spPr bwMode="auto">
          <a:xfrm>
            <a:off x="3500729" y="4519587"/>
            <a:ext cx="2135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senior:male</a:t>
            </a:r>
            <a:endParaRPr lang="ja-JP" sz="2400">
              <a:latin typeface="BIZ UDPゴシック"/>
              <a:ea typeface="BIZ UDPゴシック"/>
            </a:endParaRPr>
          </a:p>
        </p:txBody>
      </p:sp>
      <p:sp>
        <p:nvSpPr>
          <p:cNvPr id="595463142" name="テキスト ボックス 10"/>
          <p:cNvSpPr txBox="1"/>
          <p:nvPr/>
        </p:nvSpPr>
        <p:spPr bwMode="auto">
          <a:xfrm>
            <a:off x="6625997" y="4401624"/>
            <a:ext cx="24817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young:female</a:t>
            </a:r>
            <a:endParaRPr lang="ja-JP" sz="2400">
              <a:latin typeface="BIZ UDPゴシック"/>
              <a:ea typeface="BIZ UDPゴシック"/>
            </a:endParaRPr>
          </a:p>
        </p:txBody>
      </p:sp>
      <p:sp>
        <p:nvSpPr>
          <p:cNvPr id="1320741773" name="テキスト ボックス 11"/>
          <p:cNvSpPr txBox="1"/>
          <p:nvPr/>
        </p:nvSpPr>
        <p:spPr bwMode="auto">
          <a:xfrm>
            <a:off x="9506154" y="4426858"/>
            <a:ext cx="25010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senior:female</a:t>
            </a:r>
            <a:endParaRPr lang="ja-JP" sz="2400">
              <a:latin typeface="BIZ UDPゴシック"/>
              <a:ea typeface="BIZ UDPゴシック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1059589" name="タイトル 1"/>
          <p:cNvSpPr>
            <a:spLocks noGrp="1"/>
          </p:cNvSpPr>
          <p:nvPr>
            <p:ph type="title"/>
          </p:nvPr>
        </p:nvSpPr>
        <p:spPr bwMode="auto">
          <a:xfrm>
            <a:off x="104274" y="244810"/>
            <a:ext cx="6093326" cy="45991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ja-JP"/>
              <a:t>アンケートから作る体質分類</a:t>
            </a:r>
          </a:p>
        </p:txBody>
      </p:sp>
      <p:sp>
        <p:nvSpPr>
          <p:cNvPr id="1791450575" name="テキスト ボックス 3"/>
          <p:cNvSpPr txBox="1"/>
          <p:nvPr/>
        </p:nvSpPr>
        <p:spPr bwMode="auto">
          <a:xfrm>
            <a:off x="104274" y="900838"/>
            <a:ext cx="11258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アンケートの回答結果を機械学習的にむりやりいくつかのクラスターに分類させる。</a:t>
            </a:r>
            <a:endParaRPr/>
          </a:p>
        </p:txBody>
      </p:sp>
      <p:sp>
        <p:nvSpPr>
          <p:cNvPr id="2108423907" name="テキスト ボックス 4"/>
          <p:cNvSpPr txBox="1"/>
          <p:nvPr/>
        </p:nvSpPr>
        <p:spPr bwMode="auto">
          <a:xfrm flipH="1">
            <a:off x="916811" y="1343845"/>
            <a:ext cx="48165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PCA(</a:t>
            </a:r>
            <a:r>
              <a:rPr lang="ja-JP" sz="2400">
                <a:latin typeface="BIZ UDPゴシック"/>
                <a:ea typeface="BIZ UDPゴシック"/>
              </a:rPr>
              <a:t>可視化のため</a:t>
            </a:r>
            <a:r>
              <a:rPr lang="en-US" sz="2400">
                <a:latin typeface="BIZ UDPゴシック"/>
                <a:ea typeface="BIZ UDPゴシック"/>
              </a:rPr>
              <a:t>)</a:t>
            </a:r>
            <a:endParaRPr/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→主成分スコアの決定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→</a:t>
            </a:r>
            <a:r>
              <a:rPr lang="en-US" sz="2400">
                <a:latin typeface="BIZ UDPゴシック"/>
                <a:ea typeface="BIZ UDPゴシック"/>
              </a:rPr>
              <a:t>GMM</a:t>
            </a:r>
            <a:r>
              <a:rPr lang="ja-JP" sz="2400">
                <a:latin typeface="BIZ UDPゴシック"/>
                <a:ea typeface="BIZ UDPゴシック"/>
              </a:rPr>
              <a:t>（クラスター分析の一種）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→可視化</a:t>
            </a:r>
            <a:endParaRPr/>
          </a:p>
        </p:txBody>
      </p:sp>
      <p:pic>
        <p:nvPicPr>
          <p:cNvPr id="1410457955" name="図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183731" y="2628088"/>
            <a:ext cx="3468914" cy="3099966"/>
          </a:xfrm>
          <a:prstGeom prst="rect">
            <a:avLst/>
          </a:prstGeom>
        </p:spPr>
      </p:pic>
      <p:pic>
        <p:nvPicPr>
          <p:cNvPr id="525634690" name="図 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590391" y="2593971"/>
            <a:ext cx="3375099" cy="3168201"/>
          </a:xfrm>
          <a:prstGeom prst="rect">
            <a:avLst/>
          </a:prstGeom>
        </p:spPr>
      </p:pic>
      <p:sp>
        <p:nvSpPr>
          <p:cNvPr id="185255671" name="テキスト ボックス 7"/>
          <p:cNvSpPr txBox="1"/>
          <p:nvPr/>
        </p:nvSpPr>
        <p:spPr bwMode="auto">
          <a:xfrm>
            <a:off x="0" y="5779640"/>
            <a:ext cx="121049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漢方体質アンケートは数学的に</a:t>
            </a:r>
            <a:r>
              <a:rPr lang="en-US" sz="2400">
                <a:latin typeface="BIZ UDPゴシック"/>
                <a:ea typeface="BIZ UDPゴシック"/>
              </a:rPr>
              <a:t>3</a:t>
            </a:r>
            <a:r>
              <a:rPr lang="ja-JP" sz="2400">
                <a:latin typeface="BIZ UDPゴシック"/>
                <a:ea typeface="BIZ UDPゴシック"/>
              </a:rPr>
              <a:t>つの軸で分割して、「５つに分類」することが最適（可能）。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アンケートからは５つの体質が読み取れる。</a:t>
            </a:r>
          </a:p>
        </p:txBody>
      </p:sp>
      <p:cxnSp>
        <p:nvCxnSpPr>
          <p:cNvPr id="1118082679" name="直線矢印コネクタ 9"/>
          <p:cNvCxnSpPr/>
          <p:nvPr/>
        </p:nvCxnSpPr>
        <p:spPr bwMode="auto">
          <a:xfrm flipH="1">
            <a:off x="3449172" y="3303644"/>
            <a:ext cx="609600" cy="785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0693875" name="テキスト ボックス 10"/>
          <p:cNvSpPr txBox="1"/>
          <p:nvPr/>
        </p:nvSpPr>
        <p:spPr bwMode="auto">
          <a:xfrm flipH="1">
            <a:off x="3449172" y="2913504"/>
            <a:ext cx="22842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600">
                <a:latin typeface="BIZ UDPゴシック"/>
                <a:ea typeface="BIZ UDPゴシック"/>
              </a:rPr>
              <a:t>n_components=2</a:t>
            </a:r>
            <a:endParaRPr lang="ja-JP" sz="1600">
              <a:latin typeface="BIZ UDPゴシック"/>
              <a:ea typeface="BIZ UDPゴシック"/>
            </a:endParaRPr>
          </a:p>
        </p:txBody>
      </p:sp>
      <p:cxnSp>
        <p:nvCxnSpPr>
          <p:cNvPr id="1982322419" name="直線矢印コネクタ 11"/>
          <p:cNvCxnSpPr>
            <a:cxnSpLocks/>
          </p:cNvCxnSpPr>
          <p:nvPr/>
        </p:nvCxnSpPr>
        <p:spPr bwMode="auto">
          <a:xfrm flipH="1">
            <a:off x="7398327" y="3944931"/>
            <a:ext cx="120073" cy="110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4496329" name="テキスト ボックス 14"/>
          <p:cNvSpPr txBox="1"/>
          <p:nvPr/>
        </p:nvSpPr>
        <p:spPr bwMode="auto">
          <a:xfrm flipH="1">
            <a:off x="6939808" y="3078625"/>
            <a:ext cx="19567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altLang="en-US" sz="1600" dirty="0">
                <a:latin typeface="BIZ UDPゴシック"/>
                <a:ea typeface="BIZ UDPゴシック"/>
              </a:rPr>
              <a:t>値が小さくなる</a:t>
            </a:r>
            <a:endParaRPr lang="en-US" sz="1600" dirty="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en-US" sz="1600" dirty="0" err="1">
                <a:latin typeface="BIZ UDPゴシック"/>
                <a:ea typeface="BIZ UDPゴシック"/>
              </a:rPr>
              <a:t>n_clusters</a:t>
            </a:r>
            <a:r>
              <a:rPr lang="en-US" sz="1600" dirty="0">
                <a:latin typeface="BIZ UDPゴシック"/>
                <a:ea typeface="BIZ UDPゴシック"/>
              </a:rPr>
              <a:t>=5</a:t>
            </a:r>
            <a:r>
              <a:rPr lang="ja-JP" altLang="en-US" sz="1600" dirty="0">
                <a:latin typeface="BIZ UDPゴシック"/>
                <a:ea typeface="BIZ UDPゴシック"/>
              </a:rPr>
              <a:t>が最適クラスター数</a:t>
            </a:r>
            <a:endParaRPr lang="ja-JP" sz="1600" dirty="0">
              <a:latin typeface="BIZ UDPゴシック"/>
              <a:ea typeface="BIZ UDPゴシック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0374520" name="図 2"/>
          <p:cNvPicPr>
            <a:picLocks noChangeAspect="1"/>
          </p:cNvPicPr>
          <p:nvPr/>
        </p:nvPicPr>
        <p:blipFill rotWithShape="1">
          <a:blip r:embed="rId3"/>
          <a:srcRect l="6486" t="9340"/>
          <a:stretch/>
        </p:blipFill>
        <p:spPr bwMode="auto">
          <a:xfrm>
            <a:off x="0" y="944824"/>
            <a:ext cx="3175954" cy="3131215"/>
          </a:xfrm>
          <a:prstGeom prst="rect">
            <a:avLst/>
          </a:prstGeom>
        </p:spPr>
      </p:pic>
      <p:sp>
        <p:nvSpPr>
          <p:cNvPr id="1271325787" name="テキスト ボックス 4"/>
          <p:cNvSpPr txBox="1"/>
          <p:nvPr/>
        </p:nvSpPr>
        <p:spPr bwMode="auto">
          <a:xfrm>
            <a:off x="104274" y="4653755"/>
            <a:ext cx="23921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第三主成分までにすると可視化しやすい</a:t>
            </a:r>
          </a:p>
        </p:txBody>
      </p:sp>
      <p:sp>
        <p:nvSpPr>
          <p:cNvPr id="2109773084" name="タイトル 1"/>
          <p:cNvSpPr>
            <a:spLocks noGrp="1"/>
          </p:cNvSpPr>
          <p:nvPr>
            <p:ph type="title"/>
          </p:nvPr>
        </p:nvSpPr>
        <p:spPr bwMode="auto">
          <a:xfrm>
            <a:off x="104274" y="244810"/>
            <a:ext cx="6093326" cy="45991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ja-JP"/>
              <a:t>アンケートから作る体質分類</a:t>
            </a:r>
          </a:p>
        </p:txBody>
      </p:sp>
      <p:sp>
        <p:nvSpPr>
          <p:cNvPr id="1614914975" name="テキスト ボックス 6"/>
          <p:cNvSpPr txBox="1"/>
          <p:nvPr/>
        </p:nvSpPr>
        <p:spPr bwMode="auto">
          <a:xfrm>
            <a:off x="6256483" y="944824"/>
            <a:ext cx="528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5</a:t>
            </a:r>
            <a:r>
              <a:rPr lang="ja-JP" sz="2400">
                <a:latin typeface="BIZ UDPゴシック"/>
                <a:ea typeface="BIZ UDPゴシック"/>
              </a:rPr>
              <a:t>クラスターはこのような特徴</a:t>
            </a:r>
          </a:p>
        </p:txBody>
      </p:sp>
      <p:graphicFrame>
        <p:nvGraphicFramePr>
          <p:cNvPr id="1560157219" name="表 7"/>
          <p:cNvGraphicFramePr>
            <a:graphicFrameLocks noGrp="1"/>
          </p:cNvGraphicFramePr>
          <p:nvPr/>
        </p:nvGraphicFramePr>
        <p:xfrm>
          <a:off x="2702331" y="1522540"/>
          <a:ext cx="9242926" cy="4744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2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7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95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29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810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PC0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PC1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PC2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体質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10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cluster_0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+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-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-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気虚・瘀血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107"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cluster_1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-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-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健康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107"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cluster_2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+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+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虚寒、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107"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cluster_3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+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軽度冷え性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107"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cluster_4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+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-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+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気滞、水滞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66349"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正の相関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・</a:t>
                      </a:r>
                      <a:r>
                        <a:rPr lang="en-US"/>
                        <a:t>A</a:t>
                      </a:r>
                      <a:r>
                        <a:rPr lang="ja-JP"/>
                        <a:t>項目</a:t>
                      </a:r>
                      <a:r>
                        <a:rPr lang="en-US"/>
                        <a:t>,B</a:t>
                      </a:r>
                      <a:r>
                        <a:rPr lang="ja-JP"/>
                        <a:t>項目</a:t>
                      </a:r>
                      <a:endParaRPr lang="en-US"/>
                    </a:p>
                    <a:p>
                      <a:pPr>
                        <a:defRPr/>
                      </a:pPr>
                      <a:r>
                        <a:rPr lang="ja-JP"/>
                        <a:t>・冷え性</a:t>
                      </a:r>
                      <a:endParaRPr lang="en-US"/>
                    </a:p>
                    <a:p>
                      <a:pPr>
                        <a:defRPr/>
                      </a:pPr>
                      <a:r>
                        <a:rPr lang="ja-JP"/>
                        <a:t>・冷え</a:t>
                      </a:r>
                      <a:r>
                        <a:rPr lang="en-US"/>
                        <a:t>Q1,2,3,14,17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・</a:t>
                      </a:r>
                      <a:r>
                        <a:rPr lang="en-US"/>
                        <a:t>A</a:t>
                      </a:r>
                      <a:r>
                        <a:rPr lang="ja-JP"/>
                        <a:t>項目</a:t>
                      </a:r>
                      <a:r>
                        <a:rPr lang="en-US"/>
                        <a:t>,B</a:t>
                      </a:r>
                      <a:r>
                        <a:rPr lang="ja-JP"/>
                        <a:t>項目</a:t>
                      </a:r>
                      <a:endParaRPr lang="en-US"/>
                    </a:p>
                    <a:p>
                      <a:pPr>
                        <a:defRPr/>
                      </a:pPr>
                      <a:r>
                        <a:rPr lang="ja-JP"/>
                        <a:t>・冷え性</a:t>
                      </a:r>
                      <a:endParaRPr lang="en-US"/>
                    </a:p>
                    <a:p>
                      <a:pPr>
                        <a:defRPr/>
                      </a:pPr>
                      <a:r>
                        <a:rPr lang="ja-JP"/>
                        <a:t>・冷え</a:t>
                      </a:r>
                      <a:r>
                        <a:rPr lang="en-US"/>
                        <a:t>Q1,3,7,8,14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体質</a:t>
                      </a:r>
                      <a:r>
                        <a:rPr lang="en-US"/>
                        <a:t>Q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1,3,13,27,43,44,47,51</a:t>
                      </a:r>
                      <a:endParaRPr/>
                    </a:p>
                    <a:p>
                      <a:pPr>
                        <a:defRPr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3018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負の相関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・体質</a:t>
                      </a:r>
                      <a:r>
                        <a:rPr lang="en-US"/>
                        <a:t>Q:1,2,3,13,25,33</a:t>
                      </a:r>
                      <a:r>
                        <a:rPr lang="ja-JP"/>
                        <a:t>、</a:t>
                      </a:r>
                      <a:r>
                        <a:rPr lang="en-US"/>
                        <a:t>36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・冷え</a:t>
                      </a:r>
                      <a:r>
                        <a:rPr lang="en-US"/>
                        <a:t>Q:15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ja-JP"/>
                        <a:t>・体質</a:t>
                      </a:r>
                      <a:r>
                        <a:rPr lang="en-US"/>
                        <a:t>Q:33,15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・体質</a:t>
                      </a:r>
                      <a:r>
                        <a:rPr lang="en-US"/>
                        <a:t>Q:57 ,23,39 ,50 ,42,10,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24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冷え、だるさ軸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(PC1</a:t>
                      </a:r>
                      <a:r>
                        <a:rPr lang="ja-JP"/>
                        <a:t>のノイズ？</a:t>
                      </a:r>
                      <a:r>
                        <a:rPr lang="en-US"/>
                        <a:t>)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頭痛、女性、尿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954874" name="タイトル 1"/>
          <p:cNvSpPr>
            <a:spLocks noGrp="1"/>
          </p:cNvSpPr>
          <p:nvPr>
            <p:ph type="title"/>
          </p:nvPr>
        </p:nvSpPr>
        <p:spPr bwMode="auto">
          <a:xfrm>
            <a:off x="104273" y="244810"/>
            <a:ext cx="6354583" cy="45991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ja-JP"/>
              <a:t>毛髪からこれらの分類がひも解けるか</a:t>
            </a:r>
            <a:endParaRPr/>
          </a:p>
        </p:txBody>
      </p:sp>
      <p:pic>
        <p:nvPicPr>
          <p:cNvPr id="301368647" name="Picture 2" descr="Imaging of the Archimedes Palimpsest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670659" y="1959470"/>
            <a:ext cx="2432395" cy="2133559"/>
          </a:xfrm>
          <a:prstGeom prst="rect">
            <a:avLst/>
          </a:prstGeom>
          <a:noFill/>
        </p:spPr>
      </p:pic>
      <p:sp>
        <p:nvSpPr>
          <p:cNvPr id="590771713" name="テキスト ボックス 3"/>
          <p:cNvSpPr txBox="1"/>
          <p:nvPr/>
        </p:nvSpPr>
        <p:spPr bwMode="auto">
          <a:xfrm>
            <a:off x="1001486" y="4470400"/>
            <a:ext cx="1770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NIR-HSI</a:t>
            </a:r>
            <a:r>
              <a:rPr lang="ja-JP" sz="2400">
                <a:latin typeface="BIZ UDPゴシック"/>
                <a:ea typeface="BIZ UDPゴシック"/>
              </a:rPr>
              <a:t>スペクトル</a:t>
            </a:r>
            <a:r>
              <a:rPr lang="en-US" sz="2400">
                <a:latin typeface="BIZ UDPゴシック"/>
                <a:ea typeface="BIZ UDPゴシック"/>
              </a:rPr>
              <a:t>(</a:t>
            </a:r>
            <a:r>
              <a:rPr lang="ja-JP" sz="2400">
                <a:latin typeface="BIZ UDPゴシック"/>
                <a:ea typeface="BIZ UDPゴシック"/>
              </a:rPr>
              <a:t>課題</a:t>
            </a:r>
            <a:r>
              <a:rPr lang="en-US" sz="2400">
                <a:latin typeface="BIZ UDPゴシック"/>
                <a:ea typeface="BIZ UDPゴシック"/>
              </a:rPr>
              <a:t>)</a:t>
            </a:r>
            <a:endParaRPr/>
          </a:p>
        </p:txBody>
      </p:sp>
      <p:sp>
        <p:nvSpPr>
          <p:cNvPr id="679971849" name="右矢印 4"/>
          <p:cNvSpPr/>
          <p:nvPr/>
        </p:nvSpPr>
        <p:spPr bwMode="auto">
          <a:xfrm>
            <a:off x="7245060" y="2926753"/>
            <a:ext cx="1683657" cy="769257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ja-JP"/>
          </a:p>
        </p:txBody>
      </p:sp>
      <p:sp>
        <p:nvSpPr>
          <p:cNvPr id="123518897" name="テキスト ボックス 5"/>
          <p:cNvSpPr txBox="1"/>
          <p:nvPr/>
        </p:nvSpPr>
        <p:spPr bwMode="auto">
          <a:xfrm>
            <a:off x="4412258" y="4539140"/>
            <a:ext cx="22787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第三主成分スコア（教師データ）</a:t>
            </a:r>
            <a:endParaRPr/>
          </a:p>
        </p:txBody>
      </p:sp>
      <p:pic>
        <p:nvPicPr>
          <p:cNvPr id="1281998055" name="図 6"/>
          <p:cNvPicPr>
            <a:picLocks noChangeAspect="1"/>
          </p:cNvPicPr>
          <p:nvPr/>
        </p:nvPicPr>
        <p:blipFill rotWithShape="1">
          <a:blip r:embed="rId4"/>
          <a:srcRect l="6486" t="9340"/>
          <a:stretch/>
        </p:blipFill>
        <p:spPr bwMode="auto">
          <a:xfrm>
            <a:off x="3774965" y="1528041"/>
            <a:ext cx="3175954" cy="3131215"/>
          </a:xfrm>
          <a:prstGeom prst="rect">
            <a:avLst/>
          </a:prstGeom>
        </p:spPr>
      </p:pic>
      <p:sp>
        <p:nvSpPr>
          <p:cNvPr id="1797922903" name="テキスト ボックス 7"/>
          <p:cNvSpPr txBox="1"/>
          <p:nvPr/>
        </p:nvSpPr>
        <p:spPr bwMode="auto">
          <a:xfrm>
            <a:off x="7110651" y="3862196"/>
            <a:ext cx="2918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変形</a:t>
            </a:r>
            <a:r>
              <a:rPr lang="en-US" sz="2400">
                <a:latin typeface="BIZ UDPゴシック"/>
                <a:ea typeface="BIZ UDPゴシック"/>
              </a:rPr>
              <a:t>CNN</a:t>
            </a:r>
            <a:br>
              <a:rPr lang="en-US" sz="2400">
                <a:latin typeface="BIZ UDPゴシック"/>
                <a:ea typeface="BIZ UDPゴシック"/>
              </a:rPr>
            </a:br>
            <a:r>
              <a:rPr lang="en-US" sz="2400">
                <a:latin typeface="BIZ UDPゴシック"/>
                <a:ea typeface="BIZ UDPゴシック"/>
              </a:rPr>
              <a:t>(HSI</a:t>
            </a:r>
            <a:r>
              <a:rPr lang="ja-JP" sz="2400">
                <a:latin typeface="BIZ UDPゴシック"/>
                <a:ea typeface="BIZ UDPゴシック"/>
              </a:rPr>
              <a:t>を学習できるようにチューニング</a:t>
            </a:r>
            <a:r>
              <a:rPr lang="en-US" sz="2400">
                <a:latin typeface="BIZ UDPゴシック"/>
                <a:ea typeface="BIZ UDPゴシック"/>
              </a:rPr>
              <a:t>)</a:t>
            </a:r>
            <a:endParaRPr lang="ja-JP" sz="2400">
              <a:latin typeface="BIZ UDPゴシック"/>
              <a:ea typeface="BIZ UDPゴシック"/>
            </a:endParaRPr>
          </a:p>
        </p:txBody>
      </p:sp>
      <p:sp>
        <p:nvSpPr>
          <p:cNvPr id="1426674267" name="テキスト ボックス 9"/>
          <p:cNvSpPr txBox="1"/>
          <p:nvPr/>
        </p:nvSpPr>
        <p:spPr bwMode="auto">
          <a:xfrm>
            <a:off x="8928717" y="2467975"/>
            <a:ext cx="32632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モデルが成立するか。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＝漢方体質スコアが毛髪へ影響しているかどうか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227463" name="タイトル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ja-JP"/>
              <a:t>モデル評価</a:t>
            </a:r>
          </a:p>
        </p:txBody>
      </p:sp>
      <p:graphicFrame>
        <p:nvGraphicFramePr>
          <p:cNvPr id="1353352925" name="表 4"/>
          <p:cNvGraphicFramePr>
            <a:graphicFrameLocks noGrp="1"/>
          </p:cNvGraphicFramePr>
          <p:nvPr/>
        </p:nvGraphicFramePr>
        <p:xfrm>
          <a:off x="104274" y="1607784"/>
          <a:ext cx="6583680" cy="29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Pearson R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N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PC0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PC1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PC2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overall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all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228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>
                          <a:solidFill>
                            <a:srgbClr val="0070C0"/>
                          </a:solidFill>
                        </a:rPr>
                        <a:t>0.315</a:t>
                      </a:r>
                      <a:endParaRPr lang="ja-JP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>
                          <a:solidFill>
                            <a:srgbClr val="0070C0"/>
                          </a:solidFill>
                        </a:rPr>
                        <a:t>0.114</a:t>
                      </a:r>
                      <a:endParaRPr lang="ja-JP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>
                          <a:solidFill>
                            <a:srgbClr val="0070C0"/>
                          </a:solidFill>
                        </a:rPr>
                        <a:t>0.411</a:t>
                      </a:r>
                      <a:endParaRPr lang="ja-JP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male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young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-0.351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-0.044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-0.195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middle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40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>
                          <a:solidFill>
                            <a:srgbClr val="0070C0"/>
                          </a:solidFill>
                        </a:rPr>
                        <a:t>0.119</a:t>
                      </a:r>
                      <a:endParaRPr lang="ja-JP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-0.051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-0.027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613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senior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38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-0.212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-0.105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>
                          <a:solidFill>
                            <a:srgbClr val="0070C0"/>
                          </a:solidFill>
                        </a:rPr>
                        <a:t>0.107</a:t>
                      </a:r>
                      <a:endParaRPr lang="ja-JP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14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female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young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24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>
                          <a:solidFill>
                            <a:srgbClr val="0070C0"/>
                          </a:solidFill>
                        </a:rPr>
                        <a:t>0.109</a:t>
                      </a:r>
                      <a:endParaRPr lang="ja-JP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-0.104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>
                          <a:solidFill>
                            <a:srgbClr val="0070C0"/>
                          </a:solidFill>
                        </a:rPr>
                        <a:t>0.365</a:t>
                      </a:r>
                      <a:endParaRPr lang="ja-JP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3613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middle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53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>
                          <a:solidFill>
                            <a:srgbClr val="0070C0"/>
                          </a:solidFill>
                        </a:rPr>
                        <a:t>0.041</a:t>
                      </a:r>
                      <a:endParaRPr lang="ja-JP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-0.087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>
                          <a:solidFill>
                            <a:srgbClr val="0070C0"/>
                          </a:solidFill>
                        </a:rPr>
                        <a:t>0.225</a:t>
                      </a:r>
                      <a:endParaRPr lang="ja-JP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3613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senior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63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-0.118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>
                          <a:solidFill>
                            <a:srgbClr val="0070C0"/>
                          </a:solidFill>
                        </a:rPr>
                        <a:t>0.049</a:t>
                      </a:r>
                      <a:endParaRPr lang="ja-JP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>
                          <a:solidFill>
                            <a:srgbClr val="0070C0"/>
                          </a:solidFill>
                        </a:rPr>
                        <a:t>0.386</a:t>
                      </a:r>
                      <a:endParaRPr lang="ja-JP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66593127" name="テキスト ボックス 5"/>
          <p:cNvSpPr txBox="1"/>
          <p:nvPr/>
        </p:nvSpPr>
        <p:spPr bwMode="auto">
          <a:xfrm flipH="1">
            <a:off x="104274" y="1087175"/>
            <a:ext cx="802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予測値と実測値を比べたピアソンンの相関関数</a:t>
            </a:r>
            <a:r>
              <a:rPr lang="en-US" sz="2400">
                <a:latin typeface="BIZ UDPゴシック"/>
                <a:ea typeface="BIZ UDPゴシック"/>
              </a:rPr>
              <a:t>R</a:t>
            </a:r>
            <a:r>
              <a:rPr lang="ja-JP" sz="2400">
                <a:latin typeface="BIZ UDPゴシック"/>
                <a:ea typeface="BIZ UDPゴシック"/>
              </a:rPr>
              <a:t>を指標</a:t>
            </a:r>
            <a:endParaRPr/>
          </a:p>
        </p:txBody>
      </p:sp>
      <p:graphicFrame>
        <p:nvGraphicFramePr>
          <p:cNvPr id="1888951721" name="グラフ 8"/>
          <p:cNvGraphicFramePr>
            <a:graphicFrameLocks/>
          </p:cNvGraphicFramePr>
          <p:nvPr/>
        </p:nvGraphicFramePr>
        <p:xfrm>
          <a:off x="6687954" y="1548840"/>
          <a:ext cx="5602513" cy="31537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17595733" name="テキスト ボックス 9"/>
          <p:cNvSpPr txBox="1"/>
          <p:nvPr/>
        </p:nvSpPr>
        <p:spPr bwMode="auto">
          <a:xfrm>
            <a:off x="291308" y="4761573"/>
            <a:ext cx="1214948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</a:t>
            </a:r>
            <a:r>
              <a:rPr lang="en-US" sz="2400">
                <a:latin typeface="BIZ UDPゴシック"/>
                <a:ea typeface="BIZ UDPゴシック"/>
              </a:rPr>
              <a:t>PC0</a:t>
            </a:r>
            <a:r>
              <a:rPr lang="ja-JP" sz="2400">
                <a:latin typeface="BIZ UDPゴシック"/>
                <a:ea typeface="BIZ UDPゴシック"/>
              </a:rPr>
              <a:t>→判断が難しいライン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</a:t>
            </a:r>
            <a:r>
              <a:rPr lang="en-US" sz="2400">
                <a:latin typeface="BIZ UDPゴシック"/>
                <a:ea typeface="BIZ UDPゴシック"/>
              </a:rPr>
              <a:t>PC1</a:t>
            </a:r>
            <a:r>
              <a:rPr lang="ja-JP" sz="2400">
                <a:latin typeface="BIZ UDPゴシック"/>
                <a:ea typeface="BIZ UDPゴシック"/>
              </a:rPr>
              <a:t>→交絡を除去すると予測はほぼ不成立（</a:t>
            </a:r>
            <a:r>
              <a:rPr lang="en-US" sz="2400">
                <a:latin typeface="BIZ UDPゴシック"/>
                <a:ea typeface="BIZ UDPゴシック"/>
              </a:rPr>
              <a:t>PC3</a:t>
            </a:r>
            <a:r>
              <a:rPr lang="ja-JP" sz="2400">
                <a:latin typeface="BIZ UDPゴシック"/>
                <a:ea typeface="BIZ UDPゴシック"/>
              </a:rPr>
              <a:t>使った方が新たな分類できそう・・）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</a:t>
            </a:r>
            <a:r>
              <a:rPr lang="en-US" sz="2400">
                <a:latin typeface="BIZ UDPゴシック"/>
                <a:ea typeface="BIZ UDPゴシック"/>
              </a:rPr>
              <a:t>PC2</a:t>
            </a:r>
            <a:r>
              <a:rPr lang="ja-JP" sz="2400">
                <a:latin typeface="BIZ UDPゴシック"/>
                <a:ea typeface="BIZ UDPゴシック"/>
              </a:rPr>
              <a:t>→特に女性では予測ができるか？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ある程度髪の毛から体質は分類できそう（そんなに精度は高くない、交絡の可能性）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7481715" name="タイトル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ja-JP"/>
              <a:t>まとめ</a:t>
            </a:r>
            <a:endParaRPr/>
          </a:p>
        </p:txBody>
      </p:sp>
      <p:sp>
        <p:nvSpPr>
          <p:cNvPr id="1998830385" name="テキスト ボックス 5"/>
          <p:cNvSpPr txBox="1"/>
          <p:nvPr/>
        </p:nvSpPr>
        <p:spPr bwMode="auto">
          <a:xfrm flipH="1">
            <a:off x="333827" y="1219200"/>
            <a:ext cx="111034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・弘前健診での体質分類結果をクラスタリングにかけると、体質によって特徴づけられる５分類にクラスタリングすることができると判明。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・これらのスコアは条件次第だが、</a:t>
            </a:r>
            <a:r>
              <a:rPr lang="en-US" sz="2400">
                <a:latin typeface="BIZ UDPゴシック"/>
                <a:ea typeface="BIZ UDPゴシック"/>
              </a:rPr>
              <a:t>NIR-HSI</a:t>
            </a:r>
            <a:r>
              <a:rPr lang="ja-JP" sz="2400">
                <a:latin typeface="BIZ UDPゴシック"/>
                <a:ea typeface="BIZ UDPゴシック"/>
              </a:rPr>
              <a:t>で予測</a:t>
            </a:r>
            <a:r>
              <a:rPr lang="en-US" sz="2400">
                <a:latin typeface="BIZ UDPゴシック"/>
                <a:ea typeface="BIZ UDPゴシック"/>
              </a:rPr>
              <a:t>/</a:t>
            </a:r>
            <a:r>
              <a:rPr lang="ja-JP" sz="2400">
                <a:latin typeface="BIZ UDPゴシック"/>
                <a:ea typeface="BIZ UDPゴシック"/>
              </a:rPr>
              <a:t>診断ができる可能性がある。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・ただし、情報量としては非常に微小。注意深く検証する必要がある。</a:t>
            </a:r>
            <a:endParaRPr lang="en-US" sz="2400">
              <a:latin typeface="BIZ UDPゴシック"/>
              <a:ea typeface="BIZ UDPゴシック"/>
            </a:endParaRPr>
          </a:p>
        </p:txBody>
      </p:sp>
      <p:sp>
        <p:nvSpPr>
          <p:cNvPr id="1081043507" name="テキスト ボックス 6"/>
          <p:cNvSpPr txBox="1"/>
          <p:nvPr/>
        </p:nvSpPr>
        <p:spPr bwMode="auto">
          <a:xfrm flipH="1">
            <a:off x="333827" y="3840843"/>
            <a:ext cx="1110342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今後の課題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・他の体質軸（他の主成分）について未検討。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・スペクトルが重要か？それとも毛髪形状が重要か？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・交絡の可能性はもっと慎重に判断したい。</a:t>
            </a:r>
            <a:endParaRPr lang="en-US" sz="2400">
              <a:latin typeface="BIZ UDPゴシック"/>
              <a:ea typeface="BIZ UDPゴシック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241823" name="タイトル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endParaRPr lang="ja-JP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253550" name="タイトル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endParaRPr lang="ja-JP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6976971" name="タイトル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ja-JP"/>
              <a:t>漢方体質アンケート</a:t>
            </a:r>
            <a:endParaRPr/>
          </a:p>
        </p:txBody>
      </p:sp>
      <p:sp>
        <p:nvSpPr>
          <p:cNvPr id="16393879" name="テキスト ボックス 3"/>
          <p:cNvSpPr txBox="1"/>
          <p:nvPr/>
        </p:nvSpPr>
        <p:spPr bwMode="auto">
          <a:xfrm>
            <a:off x="457200" y="932289"/>
            <a:ext cx="11281815" cy="82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dirty="0">
                <a:latin typeface="BIZ UDPゴシック"/>
                <a:ea typeface="BIZ UDPゴシック"/>
              </a:rPr>
              <a:t>2024</a:t>
            </a:r>
            <a:r>
              <a:rPr lang="ja-JP" sz="2400" dirty="0">
                <a:latin typeface="BIZ UDPゴシック"/>
                <a:ea typeface="BIZ UDPゴシック"/>
              </a:rPr>
              <a:t>年の弘前健診の漢方体質アンケート</a:t>
            </a:r>
            <a:r>
              <a:rPr lang="en-US" sz="2400" dirty="0">
                <a:latin typeface="BIZ UDPゴシック"/>
                <a:ea typeface="BIZ UDPゴシック"/>
              </a:rPr>
              <a:t>(69</a:t>
            </a:r>
            <a:r>
              <a:rPr lang="ja-JP" sz="2400" dirty="0">
                <a:latin typeface="BIZ UDPゴシック"/>
                <a:ea typeface="BIZ UDPゴシック"/>
              </a:rPr>
              <a:t>項目</a:t>
            </a:r>
            <a:r>
              <a:rPr lang="en-US" sz="2400" dirty="0">
                <a:latin typeface="BIZ UDPゴシック"/>
                <a:ea typeface="BIZ UDPゴシック"/>
              </a:rPr>
              <a:t>)</a:t>
            </a:r>
            <a:r>
              <a:rPr lang="ja-JP" sz="2400" dirty="0">
                <a:latin typeface="BIZ UDPゴシック"/>
                <a:ea typeface="BIZ UDPゴシック"/>
              </a:rPr>
              <a:t>をスコア化して足し合わせ、</a:t>
            </a:r>
            <a:endParaRPr lang="en-US" sz="2400" dirty="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 dirty="0">
                <a:latin typeface="BIZ UDPゴシック"/>
                <a:ea typeface="BIZ UDPゴシック"/>
              </a:rPr>
              <a:t>被験者ごとに６分類それぞれのスコアを割り振る</a:t>
            </a:r>
            <a:r>
              <a:rPr dirty="0"/>
              <a:t>。</a:t>
            </a:r>
            <a:r>
              <a:rPr sz="2400" dirty="0" err="1">
                <a:latin typeface="BIZ UDPゴシック"/>
                <a:ea typeface="BIZ UDPゴシック"/>
                <a:cs typeface="BIZ UDPゴシック"/>
              </a:rPr>
              <a:t>各ステージごとにクラスタリング</a:t>
            </a:r>
            <a:r>
              <a:rPr sz="2400" dirty="0">
                <a:latin typeface="BIZ UDPゴシック"/>
                <a:ea typeface="BIZ UDPゴシック"/>
                <a:cs typeface="BIZ UDPゴシック"/>
              </a:rPr>
              <a:t>。</a:t>
            </a:r>
            <a:endParaRPr sz="2400" dirty="0">
              <a:latin typeface="BIZ UDPゴシック"/>
              <a:cs typeface="BIZ UDPゴシック"/>
            </a:endParaRPr>
          </a:p>
        </p:txBody>
      </p:sp>
      <p:graphicFrame>
        <p:nvGraphicFramePr>
          <p:cNvPr id="1921626355" name="表 4"/>
          <p:cNvGraphicFramePr>
            <a:graphicFrameLocks noGrp="1"/>
          </p:cNvGraphicFramePr>
          <p:nvPr/>
        </p:nvGraphicFramePr>
        <p:xfrm>
          <a:off x="104274" y="1972733"/>
          <a:ext cx="374332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ID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項目</a:t>
                      </a: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ja-JP"/>
                        <a:t>項目</a:t>
                      </a:r>
                      <a:r>
                        <a:rPr lang="en-US"/>
                        <a:t>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ja-JP"/>
                        <a:t>項目</a:t>
                      </a: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…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…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1200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15990185" name="表 5"/>
          <p:cNvGraphicFramePr>
            <a:graphicFrameLocks noGrp="1"/>
          </p:cNvGraphicFramePr>
          <p:nvPr/>
        </p:nvGraphicFramePr>
        <p:xfrm>
          <a:off x="7105850" y="1882128"/>
          <a:ext cx="4595814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7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3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ID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項目</a:t>
                      </a: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ja-JP"/>
                        <a:t>項目</a:t>
                      </a:r>
                      <a:r>
                        <a:rPr lang="en-US"/>
                        <a:t>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ja-JP"/>
                        <a:t>項目</a:t>
                      </a: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…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ja-JP"/>
                        <a:t>気虚</a:t>
                      </a:r>
                      <a:r>
                        <a:rPr lang="en-US"/>
                        <a:t>+0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ja-JP"/>
                        <a:t>水滞</a:t>
                      </a:r>
                      <a:r>
                        <a:rPr lang="en-US"/>
                        <a:t>+3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ja-JP"/>
                        <a:t>血虚</a:t>
                      </a:r>
                      <a:r>
                        <a:rPr lang="en-US"/>
                        <a:t>+0.5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気虚</a:t>
                      </a:r>
                      <a:r>
                        <a:rPr lang="en-US"/>
                        <a:t>+3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水滞</a:t>
                      </a:r>
                      <a:r>
                        <a:rPr lang="en-US"/>
                        <a:t>+3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血虚</a:t>
                      </a:r>
                      <a:r>
                        <a:rPr lang="en-US"/>
                        <a:t>+0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気虚</a:t>
                      </a:r>
                      <a:r>
                        <a:rPr lang="en-US"/>
                        <a:t>+0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水滞</a:t>
                      </a:r>
                      <a:r>
                        <a:rPr lang="en-US"/>
                        <a:t>+0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血虚</a:t>
                      </a:r>
                      <a:r>
                        <a:rPr lang="en-US"/>
                        <a:t>+0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…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1200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気虚</a:t>
                      </a:r>
                      <a:r>
                        <a:rPr lang="en-US"/>
                        <a:t>+3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水滞</a:t>
                      </a:r>
                      <a:r>
                        <a:rPr lang="en-US"/>
                        <a:t>+1.5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血虚</a:t>
                      </a:r>
                      <a:r>
                        <a:rPr lang="en-US"/>
                        <a:t>+0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58091636" name="表 6"/>
          <p:cNvGraphicFramePr>
            <a:graphicFrameLocks noGrp="1"/>
          </p:cNvGraphicFramePr>
          <p:nvPr/>
        </p:nvGraphicFramePr>
        <p:xfrm>
          <a:off x="6508054" y="4398230"/>
          <a:ext cx="5250500" cy="2326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ID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気虚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気鬱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気滞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血虚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瘀血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水滞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6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6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21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01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39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14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51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18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41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…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1200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4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23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92289458" name="矢印: 右 7"/>
          <p:cNvSpPr/>
          <p:nvPr/>
        </p:nvSpPr>
        <p:spPr bwMode="auto">
          <a:xfrm>
            <a:off x="4220498" y="2353734"/>
            <a:ext cx="2722534" cy="55880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ja-JP"/>
          </a:p>
        </p:txBody>
      </p:sp>
      <p:sp>
        <p:nvSpPr>
          <p:cNvPr id="1392733194" name="矢印: 右 8"/>
          <p:cNvSpPr/>
          <p:nvPr/>
        </p:nvSpPr>
        <p:spPr bwMode="auto">
          <a:xfrm>
            <a:off x="3043401" y="5002537"/>
            <a:ext cx="3052599" cy="55880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ja-JP"/>
          </a:p>
        </p:txBody>
      </p:sp>
      <p:sp>
        <p:nvSpPr>
          <p:cNvPr id="129182275" name="テキスト ボックス 9"/>
          <p:cNvSpPr txBox="1"/>
          <p:nvPr/>
        </p:nvSpPr>
        <p:spPr bwMode="auto">
          <a:xfrm>
            <a:off x="4010418" y="3007081"/>
            <a:ext cx="32116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 dirty="0">
                <a:latin typeface="BIZ UDPゴシック"/>
                <a:ea typeface="BIZ UDPゴシック"/>
              </a:rPr>
              <a:t>項目それぞれが</a:t>
            </a:r>
            <a:r>
              <a:rPr lang="en-US" sz="2400" dirty="0">
                <a:latin typeface="BIZ UDPゴシック"/>
                <a:ea typeface="BIZ UDPゴシック"/>
              </a:rPr>
              <a:t>6</a:t>
            </a:r>
            <a:r>
              <a:rPr lang="ja-JP" sz="2400" dirty="0">
                <a:latin typeface="BIZ UDPゴシック"/>
                <a:ea typeface="BIZ UDPゴシック"/>
              </a:rPr>
              <a:t>分類いずれかに該当。</a:t>
            </a:r>
            <a:endParaRPr lang="en-US" sz="2400" dirty="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 dirty="0">
                <a:latin typeface="BIZ UDPゴシック"/>
                <a:ea typeface="BIZ UDPゴシック"/>
              </a:rPr>
              <a:t>係数を付けてスコア化</a:t>
            </a:r>
            <a:endParaRPr dirty="0"/>
          </a:p>
        </p:txBody>
      </p:sp>
      <p:sp>
        <p:nvSpPr>
          <p:cNvPr id="515044624" name="テキスト ボックス 10"/>
          <p:cNvSpPr txBox="1"/>
          <p:nvPr/>
        </p:nvSpPr>
        <p:spPr bwMode="auto">
          <a:xfrm>
            <a:off x="2449798" y="5403302"/>
            <a:ext cx="3541397" cy="1189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項目ごとに足し合わせることで、それぞれの体質の総合得点を算出</a:t>
            </a:r>
            <a:endParaRPr lang="en-US" sz="2400">
              <a:latin typeface="BIZ UDPゴシック"/>
              <a:ea typeface="BIZ UDPゴシック"/>
            </a:endParaRPr>
          </a:p>
        </p:txBody>
      </p:sp>
      <p:sp>
        <p:nvSpPr>
          <p:cNvPr id="301711481" name="テキスト ボックス 301711480"/>
          <p:cNvSpPr txBox="1"/>
          <p:nvPr/>
        </p:nvSpPr>
        <p:spPr bwMode="auto">
          <a:xfrm>
            <a:off x="22222" y="1606612"/>
            <a:ext cx="869955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t>stage1</a:t>
            </a:r>
          </a:p>
        </p:txBody>
      </p:sp>
      <p:sp>
        <p:nvSpPr>
          <p:cNvPr id="594033579" name="テキスト ボックス 594033578"/>
          <p:cNvSpPr txBox="1"/>
          <p:nvPr/>
        </p:nvSpPr>
        <p:spPr bwMode="auto">
          <a:xfrm>
            <a:off x="7105849" y="1606612"/>
            <a:ext cx="869955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t>stage2</a:t>
            </a:r>
          </a:p>
        </p:txBody>
      </p:sp>
      <p:sp>
        <p:nvSpPr>
          <p:cNvPr id="697824479" name="テキスト ボックス 697824478"/>
          <p:cNvSpPr txBox="1"/>
          <p:nvPr/>
        </p:nvSpPr>
        <p:spPr bwMode="auto">
          <a:xfrm>
            <a:off x="6508054" y="4107411"/>
            <a:ext cx="869955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t>stage3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133415" name="タイトル 1"/>
          <p:cNvSpPr>
            <a:spLocks noGrp="1"/>
          </p:cNvSpPr>
          <p:nvPr/>
        </p:nvSpPr>
        <p:spPr bwMode="auto">
          <a:xfrm>
            <a:off x="348028" y="244810"/>
            <a:ext cx="8471848" cy="45991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>
              <a:defRPr/>
            </a:pPr>
            <a:r>
              <a:rPr lang="en-US">
                <a:latin typeface="BIZ UDPゴシック"/>
                <a:ea typeface="BIZ UDPゴシック"/>
                <a:cs typeface="BIZ UDPゴシック"/>
              </a:rPr>
              <a:t>1-</a:t>
            </a:r>
            <a:r>
              <a:rPr lang="ja-JP">
                <a:latin typeface="BIZ UDPゴシック"/>
                <a:ea typeface="BIZ UDPゴシック"/>
                <a:cs typeface="BIZ UDPゴシック"/>
              </a:rPr>
              <a:t>1</a:t>
            </a:r>
            <a:r>
              <a:rPr lang="en-US">
                <a:latin typeface="BIZ UDPゴシック"/>
                <a:ea typeface="BIZ UDPゴシック"/>
                <a:cs typeface="BIZ UDPゴシック"/>
              </a:rPr>
              <a:t>.</a:t>
            </a:r>
            <a:r>
              <a:rPr lang="ja-JP">
                <a:latin typeface="BIZ UDPゴシック"/>
                <a:ea typeface="BIZ UDPゴシック"/>
                <a:cs typeface="BIZ UDPゴシック"/>
              </a:rPr>
              <a:t> Stage1:体質アンケート68項目</a:t>
            </a:r>
            <a:endParaRPr>
              <a:latin typeface="BIZ UDPゴシック"/>
              <a:cs typeface="BIZ UDPゴシック"/>
            </a:endParaRPr>
          </a:p>
        </p:txBody>
      </p:sp>
      <p:pic>
        <p:nvPicPr>
          <p:cNvPr id="1967329794" name="図 196732979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62" y="1608495"/>
            <a:ext cx="2874435" cy="2874435"/>
          </a:xfrm>
          <a:prstGeom prst="rect">
            <a:avLst/>
          </a:prstGeom>
        </p:spPr>
      </p:pic>
      <p:pic>
        <p:nvPicPr>
          <p:cNvPr id="629403346" name="図 629403345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502741" y="1685310"/>
            <a:ext cx="2874435" cy="2874435"/>
          </a:xfrm>
          <a:prstGeom prst="rect">
            <a:avLst/>
          </a:prstGeom>
        </p:spPr>
      </p:pic>
      <p:pic>
        <p:nvPicPr>
          <p:cNvPr id="1180055867" name="図 1180055866"/>
          <p:cNvPicPr>
            <a:picLocks noChangeAspect="1"/>
          </p:cNvPicPr>
          <p:nvPr/>
        </p:nvPicPr>
        <p:blipFill rotWithShape="1">
          <a:blip r:embed="rId5"/>
          <a:srcRect t="17811" r="15876" b="11129"/>
          <a:stretch/>
        </p:blipFill>
        <p:spPr bwMode="auto">
          <a:xfrm>
            <a:off x="7398774" y="1685310"/>
            <a:ext cx="3492024" cy="2949677"/>
          </a:xfrm>
          <a:prstGeom prst="rect">
            <a:avLst/>
          </a:prstGeom>
        </p:spPr>
      </p:pic>
      <p:sp>
        <p:nvSpPr>
          <p:cNvPr id="882280249" name="テキスト ボックス 882280248"/>
          <p:cNvSpPr txBox="1"/>
          <p:nvPr/>
        </p:nvSpPr>
        <p:spPr bwMode="auto">
          <a:xfrm>
            <a:off x="934319" y="4750245"/>
            <a:ext cx="10569524" cy="15548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2400">
                <a:latin typeface="BIZ UDPゴシック"/>
                <a:ea typeface="BIZ UDPゴシック"/>
                <a:cs typeface="BIZ UDPゴシック"/>
              </a:rPr>
              <a:t>PC0は全体的な不調度を示す。（どれか悪い人はどれも悪い）</a:t>
            </a:r>
            <a:endParaRPr sz="2400">
              <a:latin typeface="BIZ UDPゴシック"/>
              <a:cs typeface="BIZ UDPゴシック"/>
            </a:endParaRPr>
          </a:p>
          <a:p>
            <a:pPr>
              <a:defRPr/>
            </a:pPr>
            <a:r>
              <a:rPr sz="2400">
                <a:latin typeface="BIZ UDPゴシック"/>
                <a:ea typeface="BIZ UDPゴシック"/>
                <a:cs typeface="BIZ UDPゴシック"/>
              </a:rPr>
              <a:t>PC1,2,3で可視化すると、各軸、クラスの特徴がわかる。</a:t>
            </a:r>
          </a:p>
          <a:p>
            <a:pPr>
              <a:defRPr/>
            </a:pPr>
            <a:r>
              <a:rPr sz="2400">
                <a:latin typeface="BIZ UDPゴシック"/>
                <a:ea typeface="BIZ UDPゴシック"/>
                <a:cs typeface="BIZ UDPゴシック"/>
              </a:rPr>
              <a:t>一部の項目</a:t>
            </a:r>
            <a:r>
              <a:rPr lang="ja-JP" sz="2400" b="0" i="0" u="none" strike="noStrike" cap="none" spc="0">
                <a:solidFill>
                  <a:schemeClr val="tx1"/>
                </a:solidFill>
                <a:latin typeface="BIZ UDPゴシック"/>
                <a:ea typeface="BIZ UDPゴシック"/>
                <a:cs typeface="BIZ UDPゴシック"/>
              </a:rPr>
              <a:t>（食欲と物事への興味、残尿感と下が赤黒い、頭痛と月経など）</a:t>
            </a:r>
            <a:endParaRPr sz="2400">
              <a:latin typeface="BIZ UDPゴシック"/>
              <a:ea typeface="BIZ UDPゴシック"/>
              <a:cs typeface="BIZ UDPゴシック"/>
            </a:endParaRPr>
          </a:p>
          <a:p>
            <a:pPr>
              <a:defRPr/>
            </a:pPr>
            <a:r>
              <a:rPr sz="2400">
                <a:latin typeface="BIZ UDPゴシック"/>
                <a:ea typeface="BIZ UDPゴシック"/>
                <a:cs typeface="BIZ UDPゴシック"/>
              </a:rPr>
              <a:t>で相関が取れていることが可視化可能。</a:t>
            </a:r>
          </a:p>
        </p:txBody>
      </p:sp>
      <p:sp>
        <p:nvSpPr>
          <p:cNvPr id="1068766824" name="テキスト ボックス 1068766823"/>
          <p:cNvSpPr txBox="1"/>
          <p:nvPr/>
        </p:nvSpPr>
        <p:spPr bwMode="auto">
          <a:xfrm>
            <a:off x="1242895" y="2577895"/>
            <a:ext cx="156244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t>n_cluster=5,7</a:t>
            </a:r>
            <a:endParaRPr>
              <a:latin typeface="BIZ UDPゴシック"/>
              <a:cs typeface="BIZ UDPゴシック"/>
            </a:endParaRPr>
          </a:p>
        </p:txBody>
      </p:sp>
      <p:sp>
        <p:nvSpPr>
          <p:cNvPr id="1267890395" name="左矢印 1267890394"/>
          <p:cNvSpPr/>
          <p:nvPr/>
        </p:nvSpPr>
        <p:spPr bwMode="auto">
          <a:xfrm rot="16199998">
            <a:off x="1168367" y="3144786"/>
            <a:ext cx="276531" cy="291894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9524304" name="テキスト ボックス 1049524303"/>
          <p:cNvSpPr txBox="1"/>
          <p:nvPr/>
        </p:nvSpPr>
        <p:spPr bwMode="auto">
          <a:xfrm>
            <a:off x="569998" y="785175"/>
            <a:ext cx="8562061" cy="8233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2400">
                <a:latin typeface="BIZ UDPゴシック"/>
                <a:ea typeface="BIZ UDPゴシック"/>
                <a:cs typeface="BIZ UDPゴシック"/>
              </a:rPr>
              <a:t>体質アンケート68項目に対し重みつけをせずクラスタリング</a:t>
            </a:r>
            <a:endParaRPr sz="2400">
              <a:latin typeface="BIZ UDPゴシック"/>
              <a:cs typeface="BIZ UDPゴシック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sz="2400">
                <a:latin typeface="BIZ UDPゴシック"/>
                <a:ea typeface="BIZ UDPゴシック"/>
                <a:cs typeface="BIZ UDPゴシック"/>
              </a:rPr>
              <a:t>値の反転→StandardScaler→PCA→GMMClustering</a:t>
            </a:r>
            <a:endParaRPr sz="2400">
              <a:latin typeface="BIZ UDPゴシック"/>
              <a:cs typeface="BIZ UDPゴシック"/>
            </a:endParaRPr>
          </a:p>
        </p:txBody>
      </p:sp>
      <p:sp>
        <p:nvSpPr>
          <p:cNvPr id="1619161722" name="左矢印 1619161721"/>
          <p:cNvSpPr/>
          <p:nvPr/>
        </p:nvSpPr>
        <p:spPr bwMode="auto">
          <a:xfrm rot="16199998">
            <a:off x="1496383" y="3421318"/>
            <a:ext cx="276531" cy="291894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2947893" name="左矢印 572947892"/>
          <p:cNvSpPr/>
          <p:nvPr/>
        </p:nvSpPr>
        <p:spPr bwMode="auto">
          <a:xfrm rot="16199998">
            <a:off x="4712763" y="2753273"/>
            <a:ext cx="276531" cy="291894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40020059" name="左矢印 1240020058"/>
          <p:cNvSpPr/>
          <p:nvPr/>
        </p:nvSpPr>
        <p:spPr bwMode="auto">
          <a:xfrm rot="16199998">
            <a:off x="5004658" y="3038032"/>
            <a:ext cx="276531" cy="291894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6881242" name="テキスト ボックス 486881241"/>
          <p:cNvSpPr txBox="1"/>
          <p:nvPr/>
        </p:nvSpPr>
        <p:spPr bwMode="auto">
          <a:xfrm>
            <a:off x="4507647" y="2394835"/>
            <a:ext cx="156244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t>n_cluster=5,7</a:t>
            </a:r>
            <a:endParaRPr>
              <a:latin typeface="BIZ UDPゴシック"/>
              <a:cs typeface="BIZ UDPゴシック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2533808" name="タイトル 1"/>
          <p:cNvSpPr>
            <a:spLocks noGrp="1"/>
          </p:cNvSpPr>
          <p:nvPr>
            <p:ph type="title"/>
          </p:nvPr>
        </p:nvSpPr>
        <p:spPr bwMode="auto">
          <a:xfrm>
            <a:off x="104274" y="244809"/>
            <a:ext cx="6703064" cy="45991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 fontScale="90000"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BIZ UDPゴシック"/>
                <a:ea typeface="BIZ UDPゴシック"/>
                <a:cs typeface="BIZ UDPゴシック"/>
              </a:rPr>
              <a:t>1-</a:t>
            </a:r>
            <a:r>
              <a:rPr lang="ja-JP" sz="3200" b="0" i="0" u="none" strike="noStrike" cap="none" spc="0">
                <a:solidFill>
                  <a:schemeClr val="tx1"/>
                </a:solidFill>
                <a:latin typeface="BIZ UDPゴシック"/>
                <a:ea typeface="BIZ UDPゴシック"/>
                <a:cs typeface="BIZ UDPゴシック"/>
              </a:rPr>
              <a:t>1</a:t>
            </a:r>
            <a:r>
              <a:rPr lang="en-US" sz="3200" b="0" i="0" u="none" strike="noStrike" cap="none" spc="0">
                <a:solidFill>
                  <a:schemeClr val="tx1"/>
                </a:solidFill>
                <a:latin typeface="BIZ UDPゴシック"/>
                <a:ea typeface="BIZ UDPゴシック"/>
                <a:cs typeface="BIZ UDPゴシック"/>
              </a:rPr>
              <a:t>.</a:t>
            </a:r>
            <a:r>
              <a:rPr lang="ja-JP" sz="3200" b="0" i="0" u="none" strike="noStrike" cap="none" spc="0">
                <a:solidFill>
                  <a:schemeClr val="tx1"/>
                </a:solidFill>
                <a:latin typeface="BIZ UDPゴシック"/>
                <a:ea typeface="BIZ UDPゴシック"/>
                <a:cs typeface="BIZ UDPゴシック"/>
              </a:rPr>
              <a:t> Stage1:体質アンケート68項目</a:t>
            </a:r>
            <a:endParaRPr/>
          </a:p>
        </p:txBody>
      </p:sp>
      <p:graphicFrame>
        <p:nvGraphicFramePr>
          <p:cNvPr id="739705908" name="表 739705907"/>
          <p:cNvGraphicFramePr>
            <a:graphicFrameLocks/>
          </p:cNvGraphicFramePr>
          <p:nvPr/>
        </p:nvGraphicFramePr>
        <p:xfrm>
          <a:off x="104274" y="868506"/>
          <a:ext cx="12005222" cy="5011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0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4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4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11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1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85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2071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クラスター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人数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構成比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PC0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PC1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PC2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PC3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体質分類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78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寄与率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100%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18.19%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3.6%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3.25%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2.96%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657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ｃｌｓ_0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17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1.5%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10.780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4.539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2.108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0.681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高症状・複合不調群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071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ja-JP" sz="1800" b="0" i="0" u="none" strike="noStrike" cap="none" spc="0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ｃｌｓ_</a:t>
                      </a: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953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83.7%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-0.757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0.083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-0.116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0.032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低症状群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657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ja-JP" sz="1800" b="0" i="0" u="none" strike="noStrike" cap="none" spc="0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ｃｌｓ_</a:t>
                      </a: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2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44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3.9%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3.149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0.081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-1.095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-0.756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血行・水分・末梢症状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863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ja-JP" sz="1800" b="0" i="0" u="none" strike="noStrike" cap="none" spc="0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ｃｌｓ_</a:t>
                      </a: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78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6.9%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2.063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-2.479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-0.237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0.043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月経・疲労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657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ja-JP" sz="1800" b="0" i="0" u="none" strike="noStrike" cap="none" spc="0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ｃｌｓ_</a:t>
                      </a: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46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4%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5.183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0.733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3.073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-0.266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気力・意欲・食欲低下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68534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正の負荷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ja-JP" sz="1800" b="0" i="0" u="none" strike="noStrike" cap="none" spc="0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全項目の症状が相対多い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残尿感、舌が赤黒い、嘔吐、胸・喉のつかえ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興味低下、食欲不振、吐き気、気力低下、だるさ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下痢、水様便、腹痛、腹鳴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68534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負の負荷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全項目の症状が相対的に少ない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月経異常、疲労、朝起きにくい、頭重い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血管の浮き、手が赤い、青あざ、痰、足のつり、むくみ、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腹筋の弱さ、足のつり、動悸、めまい、朝のこわばり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47798141" name="テキスト ボックス 647798140"/>
          <p:cNvSpPr txBox="1"/>
          <p:nvPr/>
        </p:nvSpPr>
        <p:spPr bwMode="auto">
          <a:xfrm>
            <a:off x="167171" y="5909193"/>
            <a:ext cx="11875924" cy="8233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2400">
                <a:latin typeface="BIZ UDPゴシック"/>
                <a:ea typeface="BIZ UDPゴシック"/>
                <a:cs typeface="BIZ UDPゴシック"/>
              </a:rPr>
              <a:t>多くは「特に不調のない群」に分類される。PC3まででも累積30%行かず解釈は難しい。</a:t>
            </a:r>
          </a:p>
          <a:p>
            <a:pPr>
              <a:defRPr/>
            </a:pPr>
            <a:r>
              <a:rPr sz="2400">
                <a:latin typeface="BIZ UDPゴシック"/>
                <a:ea typeface="BIZ UDPゴシック"/>
                <a:cs typeface="BIZ UDPゴシック"/>
              </a:rPr>
              <a:t>主成分分析にて可視化される「足のつりとむくみに相関がある」などのの解釈が重要？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477641" name="タイトル 1"/>
          <p:cNvSpPr>
            <a:spLocks noGrp="1"/>
          </p:cNvSpPr>
          <p:nvPr>
            <p:ph type="title"/>
          </p:nvPr>
        </p:nvSpPr>
        <p:spPr bwMode="auto">
          <a:xfrm>
            <a:off x="104274" y="244809"/>
            <a:ext cx="8239354" cy="45991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 fontScale="90000"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BIZ UDPゴシック"/>
                <a:ea typeface="BIZ UDPゴシック"/>
                <a:cs typeface="BIZ UDPゴシック"/>
              </a:rPr>
              <a:t>1-</a:t>
            </a:r>
            <a:r>
              <a:rPr lang="ja-JP" sz="3200" b="0" i="0" u="none" strike="noStrike" cap="none" spc="0">
                <a:solidFill>
                  <a:schemeClr val="tx1"/>
                </a:solidFill>
                <a:latin typeface="BIZ UDPゴシック"/>
                <a:ea typeface="BIZ UDPゴシック"/>
                <a:cs typeface="BIZ UDPゴシック"/>
              </a:rPr>
              <a:t>2</a:t>
            </a:r>
            <a:r>
              <a:rPr lang="en-US" sz="3200" b="0" i="0" u="none" strike="noStrike" cap="none" spc="0">
                <a:solidFill>
                  <a:schemeClr val="tx1"/>
                </a:solidFill>
                <a:latin typeface="BIZ UDPゴシック"/>
                <a:ea typeface="BIZ UDPゴシック"/>
                <a:cs typeface="BIZ UDPゴシック"/>
              </a:rPr>
              <a:t>.</a:t>
            </a:r>
            <a:r>
              <a:rPr lang="ja-JP" sz="3200" b="0" i="0" u="none" strike="noStrike" cap="none" spc="0">
                <a:solidFill>
                  <a:schemeClr val="tx1"/>
                </a:solidFill>
                <a:latin typeface="BIZ UDPゴシック"/>
                <a:ea typeface="BIZ UDPゴシック"/>
                <a:cs typeface="BIZ UDPゴシック"/>
              </a:rPr>
              <a:t> Stage2:体質アンケート重みつけ71項目</a:t>
            </a:r>
            <a:endParaRPr/>
          </a:p>
        </p:txBody>
      </p:sp>
      <p:pic>
        <p:nvPicPr>
          <p:cNvPr id="663720455" name="図 66372045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06158" y="1799166"/>
            <a:ext cx="2451919" cy="2451919"/>
          </a:xfrm>
          <a:prstGeom prst="rect">
            <a:avLst/>
          </a:prstGeom>
        </p:spPr>
      </p:pic>
      <p:pic>
        <p:nvPicPr>
          <p:cNvPr id="1977074067" name="図 197707406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929029" y="1799166"/>
            <a:ext cx="2451919" cy="2451919"/>
          </a:xfrm>
          <a:prstGeom prst="rect">
            <a:avLst/>
          </a:prstGeom>
        </p:spPr>
      </p:pic>
      <p:pic>
        <p:nvPicPr>
          <p:cNvPr id="723738521" name="図 723738520"/>
          <p:cNvPicPr>
            <a:picLocks noChangeAspect="1"/>
          </p:cNvPicPr>
          <p:nvPr/>
        </p:nvPicPr>
        <p:blipFill rotWithShape="1">
          <a:blip r:embed="rId5"/>
          <a:srcRect l="7280" t="30241" r="27978" b="13082"/>
          <a:stretch/>
        </p:blipFill>
        <p:spPr bwMode="auto">
          <a:xfrm>
            <a:off x="6726545" y="1662276"/>
            <a:ext cx="4254499" cy="3724527"/>
          </a:xfrm>
          <a:prstGeom prst="rect">
            <a:avLst/>
          </a:prstGeom>
        </p:spPr>
      </p:pic>
      <p:sp>
        <p:nvSpPr>
          <p:cNvPr id="57151199" name="楕円 57151198"/>
          <p:cNvSpPr/>
          <p:nvPr/>
        </p:nvSpPr>
        <p:spPr bwMode="auto">
          <a:xfrm rot="2700000">
            <a:off x="8620432" y="1798253"/>
            <a:ext cx="466725" cy="22394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1233098942" name="テキスト ボックス 1233098941"/>
          <p:cNvSpPr txBox="1"/>
          <p:nvPr/>
        </p:nvSpPr>
        <p:spPr bwMode="auto">
          <a:xfrm>
            <a:off x="2592057" y="5386804"/>
            <a:ext cx="7218519" cy="1189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2400">
                <a:latin typeface="BIZ UDPゴシック"/>
                <a:ea typeface="BIZ UDPゴシック"/>
                <a:cs typeface="BIZ UDPゴシック"/>
              </a:rPr>
              <a:t>データが筋状にまとまっている</a:t>
            </a:r>
          </a:p>
          <a:p>
            <a:pPr>
              <a:defRPr/>
            </a:pPr>
            <a:r>
              <a:rPr sz="2400">
                <a:latin typeface="BIZ UDPゴシック"/>
                <a:ea typeface="BIZ UDPゴシック"/>
                <a:cs typeface="BIZ UDPゴシック"/>
              </a:rPr>
              <a:t>→重みの強いいくつかの項目が支配的になっており、</a:t>
            </a:r>
          </a:p>
          <a:p>
            <a:pPr>
              <a:defRPr/>
            </a:pPr>
            <a:r>
              <a:rPr sz="2400">
                <a:latin typeface="BIZ UDPゴシック"/>
                <a:ea typeface="BIZ UDPゴシック"/>
                <a:cs typeface="BIZ UDPゴシック"/>
              </a:rPr>
              <a:t>クラスタリングに適したデータ構造ではない。</a:t>
            </a:r>
          </a:p>
        </p:txBody>
      </p:sp>
      <p:sp>
        <p:nvSpPr>
          <p:cNvPr id="583834543" name="テキスト ボックス 583834542"/>
          <p:cNvSpPr txBox="1"/>
          <p:nvPr/>
        </p:nvSpPr>
        <p:spPr bwMode="auto">
          <a:xfrm>
            <a:off x="1275572" y="2108167"/>
            <a:ext cx="156244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t>n_cluster=3,6</a:t>
            </a:r>
            <a:endParaRPr>
              <a:latin typeface="BIZ UDPゴシック"/>
              <a:cs typeface="BIZ UDPゴシック"/>
            </a:endParaRPr>
          </a:p>
        </p:txBody>
      </p:sp>
      <p:sp>
        <p:nvSpPr>
          <p:cNvPr id="483751795" name="左矢印 483751794"/>
          <p:cNvSpPr/>
          <p:nvPr/>
        </p:nvSpPr>
        <p:spPr bwMode="auto">
          <a:xfrm rot="16199998">
            <a:off x="1283253" y="2527538"/>
            <a:ext cx="276531" cy="291894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238731" name="左矢印 156238730"/>
          <p:cNvSpPr/>
          <p:nvPr/>
        </p:nvSpPr>
        <p:spPr bwMode="auto">
          <a:xfrm rot="16199998">
            <a:off x="1693851" y="3240327"/>
            <a:ext cx="276531" cy="291894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67121156" name="テキスト ボックス 967121155"/>
          <p:cNvSpPr txBox="1"/>
          <p:nvPr/>
        </p:nvSpPr>
        <p:spPr bwMode="auto">
          <a:xfrm>
            <a:off x="3818500" y="2047234"/>
            <a:ext cx="156244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t>n_cluster=3,6</a:t>
            </a:r>
            <a:endParaRPr>
              <a:latin typeface="BIZ UDPゴシック"/>
              <a:cs typeface="BIZ UDPゴシック"/>
            </a:endParaRPr>
          </a:p>
        </p:txBody>
      </p:sp>
      <p:sp>
        <p:nvSpPr>
          <p:cNvPr id="763879101" name="左矢印 763879100"/>
          <p:cNvSpPr/>
          <p:nvPr/>
        </p:nvSpPr>
        <p:spPr bwMode="auto">
          <a:xfrm rot="16199998">
            <a:off x="3675087" y="2283545"/>
            <a:ext cx="276531" cy="291894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93339466" name="左矢印 1393339465"/>
          <p:cNvSpPr/>
          <p:nvPr/>
        </p:nvSpPr>
        <p:spPr bwMode="auto">
          <a:xfrm rot="16199998">
            <a:off x="4085685" y="2996334"/>
            <a:ext cx="276531" cy="291894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58805960" name="テキスト ボックス 1158805959"/>
          <p:cNvSpPr txBox="1"/>
          <p:nvPr/>
        </p:nvSpPr>
        <p:spPr bwMode="auto">
          <a:xfrm>
            <a:off x="88868" y="891009"/>
            <a:ext cx="8662660" cy="8233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2400">
                <a:latin typeface="BIZ UDPゴシック"/>
                <a:ea typeface="BIZ UDPゴシック"/>
                <a:cs typeface="BIZ UDPゴシック"/>
              </a:rPr>
              <a:t>重みつけ71項目値をそのままクラスタリング</a:t>
            </a:r>
            <a:endParaRPr sz="2400">
              <a:latin typeface="BIZ UDPゴシック"/>
              <a:cs typeface="BIZ UDPゴシック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sz="2400">
                <a:latin typeface="BIZ UDPゴシック"/>
                <a:ea typeface="BIZ UDPゴシック"/>
                <a:cs typeface="BIZ UDPゴシック"/>
              </a:rPr>
              <a:t>重み付きスコア→（scalerなし）→PCA→GMMClustering</a:t>
            </a:r>
            <a:endParaRPr sz="2400">
              <a:latin typeface="BIZ UDPゴシック"/>
              <a:cs typeface="BIZ UDPゴシック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54090790" name="図 185409078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820394" y="1636269"/>
            <a:ext cx="3429000" cy="3429000"/>
          </a:xfrm>
          <a:prstGeom prst="rect">
            <a:avLst/>
          </a:prstGeom>
        </p:spPr>
      </p:pic>
      <p:pic>
        <p:nvPicPr>
          <p:cNvPr id="1487860015" name="図 148786001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-190499" y="1636269"/>
            <a:ext cx="3429000" cy="3429000"/>
          </a:xfrm>
          <a:prstGeom prst="rect">
            <a:avLst/>
          </a:prstGeom>
        </p:spPr>
      </p:pic>
      <p:sp>
        <p:nvSpPr>
          <p:cNvPr id="682818561" name="タイトル 1"/>
          <p:cNvSpPr>
            <a:spLocks noGrp="1"/>
          </p:cNvSpPr>
          <p:nvPr>
            <p:ph type="title"/>
          </p:nvPr>
        </p:nvSpPr>
        <p:spPr bwMode="auto">
          <a:xfrm>
            <a:off x="104274" y="169333"/>
            <a:ext cx="7009892" cy="53539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 fontScale="90000"/>
          </a:bodyPr>
          <a:lstStyle/>
          <a:p>
            <a:pPr>
              <a:defRPr/>
            </a:pPr>
            <a:r>
              <a:rPr lang="en-US"/>
              <a:t>1-</a:t>
            </a:r>
            <a:r>
              <a:rPr lang="ja-JP"/>
              <a:t>3</a:t>
            </a:r>
            <a:r>
              <a:rPr lang="en-US"/>
              <a:t>.</a:t>
            </a:r>
            <a:r>
              <a:rPr lang="ja-JP"/>
              <a:t>Stage3クラスタリング:総合６分類</a:t>
            </a:r>
            <a:endParaRPr/>
          </a:p>
        </p:txBody>
      </p:sp>
      <p:sp>
        <p:nvSpPr>
          <p:cNvPr id="257613362" name="タイトル 1"/>
          <p:cNvSpPr txBox="1"/>
          <p:nvPr/>
        </p:nvSpPr>
        <p:spPr bwMode="auto">
          <a:xfrm>
            <a:off x="104274" y="891047"/>
            <a:ext cx="12217612" cy="4209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BIZ UDPゴシック"/>
                <a:ea typeface="BIZ UDPゴシック"/>
                <a:cs typeface="+mj-cs"/>
              </a:defRPr>
            </a:lvl1pPr>
          </a:lstStyle>
          <a:p>
            <a:pPr>
              <a:defRPr/>
            </a:pPr>
            <a:r>
              <a:rPr lang="en-US" sz="2400"/>
              <a:t>6</a:t>
            </a:r>
            <a:r>
              <a:rPr lang="ja-JP" sz="2400"/>
              <a:t>項目について、クラスタリング（</a:t>
            </a:r>
            <a:r>
              <a:rPr lang="en-US" sz="2400"/>
              <a:t>Scaler</a:t>
            </a:r>
            <a:r>
              <a:rPr lang="ja-JP" sz="2400"/>
              <a:t>→PCA→PC0削除→</a:t>
            </a:r>
            <a:r>
              <a:rPr lang="en-US" sz="2400"/>
              <a:t>GMMCluster</a:t>
            </a:r>
            <a:r>
              <a:rPr lang="ja-JP" sz="2400"/>
              <a:t>）を実施。</a:t>
            </a:r>
            <a:endParaRPr lang="en-US" sz="2400"/>
          </a:p>
        </p:txBody>
      </p:sp>
      <p:sp>
        <p:nvSpPr>
          <p:cNvPr id="492182204" name="テキスト ボックス 7"/>
          <p:cNvSpPr txBox="1"/>
          <p:nvPr/>
        </p:nvSpPr>
        <p:spPr bwMode="auto">
          <a:xfrm>
            <a:off x="2019462" y="1266131"/>
            <a:ext cx="2515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クラスター数決定</a:t>
            </a:r>
            <a:endParaRPr/>
          </a:p>
        </p:txBody>
      </p:sp>
      <p:sp>
        <p:nvSpPr>
          <p:cNvPr id="1162629766" name="テキスト ボックス 8"/>
          <p:cNvSpPr txBox="1"/>
          <p:nvPr/>
        </p:nvSpPr>
        <p:spPr bwMode="auto">
          <a:xfrm>
            <a:off x="697584" y="5065270"/>
            <a:ext cx="53072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AIC,BIC</a:t>
            </a:r>
            <a:r>
              <a:rPr lang="ja-JP" sz="2400">
                <a:latin typeface="BIZ UDPゴシック"/>
                <a:ea typeface="BIZ UDPゴシック"/>
              </a:rPr>
              <a:t>で、</a:t>
            </a:r>
            <a:r>
              <a:rPr lang="en-US" sz="2400">
                <a:latin typeface="BIZ UDPゴシック"/>
                <a:ea typeface="BIZ UDPゴシック"/>
              </a:rPr>
              <a:t>n_cluster =7</a:t>
            </a:r>
            <a:r>
              <a:rPr lang="ja-JP" sz="2400">
                <a:latin typeface="BIZ UDPゴシック"/>
                <a:ea typeface="BIZ UDPゴシック"/>
              </a:rPr>
              <a:t>において当てはまりの良さを確認。</a:t>
            </a:r>
          </a:p>
        </p:txBody>
      </p:sp>
      <p:sp>
        <p:nvSpPr>
          <p:cNvPr id="842289188" name="テキスト ボックス 13"/>
          <p:cNvSpPr txBox="1"/>
          <p:nvPr/>
        </p:nvSpPr>
        <p:spPr bwMode="auto">
          <a:xfrm>
            <a:off x="1050198" y="2535091"/>
            <a:ext cx="11801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>
                <a:latin typeface="BIZ UDPゴシック"/>
                <a:ea typeface="BIZ UDPゴシック"/>
              </a:rPr>
              <a:t>n_cluster=7</a:t>
            </a:r>
            <a:endParaRPr lang="ja-JP" sz="1200">
              <a:latin typeface="BIZ UDPゴシック"/>
              <a:ea typeface="BIZ UDPゴシック"/>
            </a:endParaRPr>
          </a:p>
        </p:txBody>
      </p:sp>
      <p:sp>
        <p:nvSpPr>
          <p:cNvPr id="1852665225" name="テキスト ボックス 16"/>
          <p:cNvSpPr txBox="1"/>
          <p:nvPr/>
        </p:nvSpPr>
        <p:spPr bwMode="auto">
          <a:xfrm>
            <a:off x="4246517" y="2396592"/>
            <a:ext cx="11801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>
                <a:latin typeface="BIZ UDPゴシック"/>
                <a:ea typeface="BIZ UDPゴシック"/>
              </a:rPr>
              <a:t>n_cluster=7</a:t>
            </a:r>
            <a:endParaRPr lang="ja-JP" sz="1200">
              <a:latin typeface="BIZ UDPゴシック"/>
              <a:ea typeface="BIZ UDPゴシック"/>
            </a:endParaRPr>
          </a:p>
        </p:txBody>
      </p:sp>
      <p:sp>
        <p:nvSpPr>
          <p:cNvPr id="1241072989" name="左矢印 1241072988"/>
          <p:cNvSpPr/>
          <p:nvPr/>
        </p:nvSpPr>
        <p:spPr bwMode="auto">
          <a:xfrm rot="16199999">
            <a:off x="1238249" y="3128519"/>
            <a:ext cx="571500" cy="444499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0245881" name="左矢印 650245880"/>
          <p:cNvSpPr/>
          <p:nvPr/>
        </p:nvSpPr>
        <p:spPr bwMode="auto">
          <a:xfrm rot="16199999">
            <a:off x="4328583" y="2815101"/>
            <a:ext cx="571500" cy="444499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61551100" name="図 1261551099"/>
          <p:cNvPicPr>
            <a:picLocks noChangeAspect="1"/>
          </p:cNvPicPr>
          <p:nvPr/>
        </p:nvPicPr>
        <p:blipFill rotWithShape="1">
          <a:blip r:embed="rId5"/>
          <a:srcRect l="8333" t="31481" r="24659" b="9567"/>
          <a:stretch/>
        </p:blipFill>
        <p:spPr bwMode="auto">
          <a:xfrm>
            <a:off x="7356681" y="1496964"/>
            <a:ext cx="4138985" cy="3641352"/>
          </a:xfrm>
          <a:prstGeom prst="rect">
            <a:avLst/>
          </a:prstGeom>
        </p:spPr>
      </p:pic>
      <p:sp>
        <p:nvSpPr>
          <p:cNvPr id="1540850257" name="テキスト ボックス 8"/>
          <p:cNvSpPr txBox="1"/>
          <p:nvPr/>
        </p:nvSpPr>
        <p:spPr bwMode="auto">
          <a:xfrm>
            <a:off x="6261874" y="5065269"/>
            <a:ext cx="5899005" cy="1189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PC0は「全体不調度」を示すため、</a:t>
            </a: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除外して特徴を持つ要素でクラスター化。</a:t>
            </a: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それでも「健康群」は形成される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1461172" name="タイトル 1"/>
          <p:cNvSpPr>
            <a:spLocks noGrp="1"/>
          </p:cNvSpPr>
          <p:nvPr>
            <p:ph type="title"/>
          </p:nvPr>
        </p:nvSpPr>
        <p:spPr bwMode="auto">
          <a:xfrm>
            <a:off x="104274" y="244809"/>
            <a:ext cx="7947459" cy="45991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 fontScale="90000"/>
          </a:bodyPr>
          <a:lstStyle/>
          <a:p>
            <a:pPr>
              <a:defRPr/>
            </a:pPr>
            <a:r>
              <a:rPr lang="en-US"/>
              <a:t>1-</a:t>
            </a:r>
            <a:r>
              <a:rPr lang="ja-JP"/>
              <a:t>3.クラスター分析(総合６分類)の結果</a:t>
            </a:r>
          </a:p>
        </p:txBody>
      </p:sp>
      <p:sp>
        <p:nvSpPr>
          <p:cNvPr id="933846835" name="テキスト ボックス 8"/>
          <p:cNvSpPr txBox="1"/>
          <p:nvPr/>
        </p:nvSpPr>
        <p:spPr bwMode="auto">
          <a:xfrm>
            <a:off x="580193" y="5316725"/>
            <a:ext cx="11465605" cy="1189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</a:t>
            </a:r>
            <a:r>
              <a:rPr lang="en-US" sz="2400">
                <a:latin typeface="BIZ UDPゴシック"/>
                <a:ea typeface="BIZ UDPゴシック"/>
              </a:rPr>
              <a:t>PC0</a:t>
            </a:r>
            <a:r>
              <a:rPr lang="ja-JP" sz="2400">
                <a:latin typeface="BIZ UDPゴシック"/>
                <a:ea typeface="BIZ UDPゴシック"/>
              </a:rPr>
              <a:t>は全てプラス→特定症状ではなく全体的な不調度。非常に大きく除外。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</a:t>
            </a:r>
            <a:r>
              <a:rPr lang="en-US" sz="2400">
                <a:latin typeface="BIZ UDPゴシック"/>
                <a:ea typeface="BIZ UDPゴシック"/>
              </a:rPr>
              <a:t>PC1</a:t>
            </a:r>
            <a:r>
              <a:rPr lang="ja-JP" sz="2400">
                <a:latin typeface="BIZ UDPゴシック"/>
                <a:ea typeface="BIZ UDPゴシック"/>
              </a:rPr>
              <a:t>-5を使いn_cls=7とすると、健康群+6分類が可能。漢方体質ごとの特徴あり。</a:t>
            </a: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・血虚は特定の群の第一体質には出現せず、第２体質として現れている。</a:t>
            </a:r>
          </a:p>
        </p:txBody>
      </p:sp>
      <p:graphicFrame>
        <p:nvGraphicFramePr>
          <p:cNvPr id="643700990" name="表 643700989"/>
          <p:cNvGraphicFramePr>
            <a:graphicFrameLocks/>
          </p:cNvGraphicFramePr>
          <p:nvPr/>
        </p:nvGraphicFramePr>
        <p:xfrm>
          <a:off x="14003" y="907397"/>
          <a:ext cx="12733868" cy="4264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7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6386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53440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人数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構成比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PC0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PC1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PC2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PC3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PC4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PC5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第一体質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第2体質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相対的特徴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440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70.32%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8.48%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6.33%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5.56%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4.87%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4.45%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44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cls_0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36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3.20%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+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0.562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-0.143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-0.227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-0.027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1.235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水滞 +1.150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瘀血 +0.184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PC5が突出した水滞群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44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cls_1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57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5%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+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-0.511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-0.507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1.063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-0.253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0.006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気虚 +0.600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血虚 +0.314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PC3正側による気虚群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44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cls_2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45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3.90%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+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-1.327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-0.019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0.091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0.912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-0.392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気鬱 +1.257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気虚 +0.389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PC4正側の気鬱が明瞭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268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cls_3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70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6.10%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+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-0.034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1.246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0.438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-0.205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0.179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気虚 +1.435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―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PC2・PC3正側の明瞭な気虚群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44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cls_4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92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8.10%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+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1.371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-0.36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0.197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0.077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-0.248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瘀血 +1.315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血虚 +0.413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PC1正側の明瞭な瘀血群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268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cls_5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2.90%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+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-0.903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-0.519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-0.169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-1.204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-0.314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気逆 +1.112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血虚 +0.183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PC4負側を中心とした気逆群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344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cls_6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808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70.80%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+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-0.031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-0.003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-0.123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0.026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-0.008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ほぼ偏りなし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―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全PC中心がほぼ0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34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瘀血スコア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0.7999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-0.3556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0.0985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0.1639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-0.2341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34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血虚スコア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0.196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-0.3157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0.1952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-0.1839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-0.0249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08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水滞スコア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0.0267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-0.1331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-0.2494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-0.0327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0.857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408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気逆スコア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-0.2052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-0.1443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-0.5679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-0.5204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-0.4106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408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気鬱スコア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-0.3574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0.0882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-0.165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0.7898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-0.2011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34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気虚スコア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-0.389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0.853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0.735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-0.209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-0.0337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025324" name="タイトル 1"/>
          <p:cNvSpPr>
            <a:spLocks noGrp="1"/>
          </p:cNvSpPr>
          <p:nvPr>
            <p:ph type="title"/>
          </p:nvPr>
        </p:nvSpPr>
        <p:spPr bwMode="auto">
          <a:xfrm>
            <a:off x="266396" y="235573"/>
            <a:ext cx="7353604" cy="45991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2-1.NIR-HSI(</a:t>
            </a:r>
            <a:r>
              <a:rPr lang="ja-JP"/>
              <a:t>毛髪データ</a:t>
            </a:r>
            <a:r>
              <a:rPr lang="en-US"/>
              <a:t>)</a:t>
            </a:r>
            <a:r>
              <a:rPr lang="ja-JP"/>
              <a:t>と漢方体質分類</a:t>
            </a:r>
            <a:endParaRPr/>
          </a:p>
        </p:txBody>
      </p:sp>
      <p:pic>
        <p:nvPicPr>
          <p:cNvPr id="1243817927" name="Picture 2" descr="Imaging of the Archimedes Palimpsest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1101687" y="2100655"/>
            <a:ext cx="2432395" cy="2133559"/>
          </a:xfrm>
          <a:prstGeom prst="rect">
            <a:avLst/>
          </a:prstGeom>
          <a:noFill/>
        </p:spPr>
      </p:pic>
      <p:sp>
        <p:nvSpPr>
          <p:cNvPr id="699545637" name="テキスト ボックス 4"/>
          <p:cNvSpPr txBox="1"/>
          <p:nvPr/>
        </p:nvSpPr>
        <p:spPr bwMode="auto">
          <a:xfrm>
            <a:off x="1101686" y="1596768"/>
            <a:ext cx="3410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毛髪</a:t>
            </a:r>
            <a:r>
              <a:rPr lang="en-US" sz="2400">
                <a:latin typeface="BIZ UDPゴシック"/>
                <a:ea typeface="BIZ UDPゴシック"/>
              </a:rPr>
              <a:t>NIR-HSI</a:t>
            </a:r>
            <a:r>
              <a:rPr lang="ja-JP" sz="2400">
                <a:latin typeface="BIZ UDPゴシック"/>
                <a:ea typeface="BIZ UDPゴシック"/>
              </a:rPr>
              <a:t>キューブ</a:t>
            </a:r>
          </a:p>
        </p:txBody>
      </p:sp>
      <p:sp>
        <p:nvSpPr>
          <p:cNvPr id="1783692051" name="矢印: 右 5"/>
          <p:cNvSpPr/>
          <p:nvPr/>
        </p:nvSpPr>
        <p:spPr bwMode="auto">
          <a:xfrm>
            <a:off x="4512512" y="2681263"/>
            <a:ext cx="1533236" cy="111760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ja-JP"/>
          </a:p>
        </p:txBody>
      </p:sp>
      <p:graphicFrame>
        <p:nvGraphicFramePr>
          <p:cNvPr id="657960617" name="表 7"/>
          <p:cNvGraphicFramePr>
            <a:graphicFrameLocks noGrp="1"/>
          </p:cNvGraphicFramePr>
          <p:nvPr/>
        </p:nvGraphicFramePr>
        <p:xfrm>
          <a:off x="6614776" y="2346926"/>
          <a:ext cx="5250500" cy="2326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ID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気虚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気鬱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気滞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血虚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瘀血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水滞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6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6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21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01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39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14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51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18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41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…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1200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4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23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97553246" name="テキスト ボックス 8"/>
          <p:cNvSpPr txBox="1"/>
          <p:nvPr/>
        </p:nvSpPr>
        <p:spPr bwMode="auto">
          <a:xfrm>
            <a:off x="7324435" y="1596766"/>
            <a:ext cx="4304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漢方体質分類が予測可能か？</a:t>
            </a:r>
            <a:endParaRPr/>
          </a:p>
        </p:txBody>
      </p:sp>
      <p:sp>
        <p:nvSpPr>
          <p:cNvPr id="2059282283" name="テキスト ボックス 9"/>
          <p:cNvSpPr txBox="1"/>
          <p:nvPr/>
        </p:nvSpPr>
        <p:spPr bwMode="auto">
          <a:xfrm>
            <a:off x="797277" y="5065135"/>
            <a:ext cx="10597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Efficientnet</a:t>
            </a:r>
            <a:r>
              <a:rPr lang="ja-JP" sz="2400">
                <a:latin typeface="BIZ UDPゴシック"/>
                <a:ea typeface="BIZ UDPゴシック"/>
              </a:rPr>
              <a:t>の頭部にスペクトル折り畳み層を挿入した</a:t>
            </a:r>
            <a:r>
              <a:rPr lang="en-US" sz="2400">
                <a:latin typeface="BIZ UDPゴシック"/>
                <a:ea typeface="BIZ UDPゴシック"/>
              </a:rPr>
              <a:t>CNN</a:t>
            </a:r>
            <a:r>
              <a:rPr lang="ja-JP" sz="2400">
                <a:latin typeface="BIZ UDPゴシック"/>
                <a:ea typeface="BIZ UDPゴシック"/>
              </a:rPr>
              <a:t>で学習させる。</a:t>
            </a:r>
            <a:endParaRPr lang="en-US" sz="2400">
              <a:latin typeface="BIZ UDPゴシック"/>
              <a:ea typeface="BIZ UDPゴシック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168381" name="タイトル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2-2:</a:t>
            </a:r>
            <a:r>
              <a:rPr lang="ja-JP"/>
              <a:t>結果</a:t>
            </a:r>
            <a:endParaRPr/>
          </a:p>
        </p:txBody>
      </p:sp>
      <p:sp>
        <p:nvSpPr>
          <p:cNvPr id="59066189" name="テキスト ボックス 2"/>
          <p:cNvSpPr txBox="1"/>
          <p:nvPr/>
        </p:nvSpPr>
        <p:spPr bwMode="auto">
          <a:xfrm>
            <a:off x="221673" y="1043707"/>
            <a:ext cx="934743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・層別分類にかけると１群のデータ数が少なくなる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・層の中でも年齢の影響はあるかもしれない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↓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交絡除去のため、残渣予測</a:t>
            </a:r>
            <a:r>
              <a:rPr lang="en-US" sz="2400">
                <a:latin typeface="BIZ UDPゴシック"/>
                <a:ea typeface="BIZ UDPゴシック"/>
              </a:rPr>
              <a:t>(</a:t>
            </a:r>
            <a:r>
              <a:rPr lang="ja-JP" sz="2400">
                <a:latin typeface="BIZ UDPゴシック"/>
                <a:ea typeface="BIZ UDPゴシック"/>
              </a:rPr>
              <a:t>年齢性別で予測した後の差分ターゲット</a:t>
            </a:r>
            <a:r>
              <a:rPr lang="en-US" sz="2400">
                <a:latin typeface="BIZ UDPゴシック"/>
                <a:ea typeface="BIZ UDPゴシック"/>
              </a:rPr>
              <a:t>)</a:t>
            </a:r>
            <a:endParaRPr/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＋</a:t>
            </a:r>
            <a:r>
              <a:rPr lang="en-US" sz="2400">
                <a:latin typeface="BIZ UDPゴシック"/>
                <a:ea typeface="BIZ UDPゴシック"/>
              </a:rPr>
              <a:t>GRL(</a:t>
            </a:r>
            <a:r>
              <a:rPr lang="ja-JP" sz="2400">
                <a:latin typeface="BIZ UDPゴシック"/>
                <a:ea typeface="BIZ UDPゴシック"/>
              </a:rPr>
              <a:t>年齢性別から予測されたとき、罰を与える</a:t>
            </a:r>
            <a:r>
              <a:rPr lang="en-US" sz="2400">
                <a:latin typeface="BIZ UDPゴシック"/>
                <a:ea typeface="BIZ UDPゴシック"/>
              </a:rPr>
              <a:t>)</a:t>
            </a:r>
            <a:r>
              <a:rPr lang="ja-JP" sz="2400">
                <a:latin typeface="BIZ UDPゴシック"/>
                <a:ea typeface="BIZ UDPゴシック"/>
              </a:rPr>
              <a:t>を導入。</a:t>
            </a:r>
            <a:endParaRPr/>
          </a:p>
        </p:txBody>
      </p:sp>
      <p:sp>
        <p:nvSpPr>
          <p:cNvPr id="1495115831" name="テキスト ボックス 4"/>
          <p:cNvSpPr txBox="1"/>
          <p:nvPr/>
        </p:nvSpPr>
        <p:spPr bwMode="auto">
          <a:xfrm>
            <a:off x="775854" y="3321680"/>
            <a:ext cx="75151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まずは前回と同様に各主成分軸の値を予測ターゲット。</a:t>
            </a:r>
            <a:endParaRPr/>
          </a:p>
        </p:txBody>
      </p:sp>
      <p:pic>
        <p:nvPicPr>
          <p:cNvPr id="574980943" name="図 8"/>
          <p:cNvPicPr>
            <a:picLocks noChangeAspect="1"/>
          </p:cNvPicPr>
          <p:nvPr/>
        </p:nvPicPr>
        <p:blipFill rotWithShape="1">
          <a:blip r:embed="rId3"/>
          <a:srcRect t="27639" r="16335"/>
          <a:stretch/>
        </p:blipFill>
        <p:spPr bwMode="auto">
          <a:xfrm>
            <a:off x="517236" y="3731444"/>
            <a:ext cx="3331834" cy="2881746"/>
          </a:xfrm>
          <a:prstGeom prst="rect">
            <a:avLst/>
          </a:prstGeom>
        </p:spPr>
      </p:pic>
      <p:cxnSp>
        <p:nvCxnSpPr>
          <p:cNvPr id="1137616825" name="直線矢印コネクタ 10"/>
          <p:cNvCxnSpPr/>
          <p:nvPr/>
        </p:nvCxnSpPr>
        <p:spPr bwMode="auto">
          <a:xfrm flipV="1">
            <a:off x="2142837" y="4193109"/>
            <a:ext cx="0" cy="95134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39472381" name="直線矢印コネクタ 11"/>
          <p:cNvCxnSpPr/>
          <p:nvPr/>
        </p:nvCxnSpPr>
        <p:spPr bwMode="auto">
          <a:xfrm flipH="1">
            <a:off x="1108364" y="5181378"/>
            <a:ext cx="1034473" cy="45280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1819673" name="直線矢印コネクタ 13"/>
          <p:cNvCxnSpPr/>
          <p:nvPr/>
        </p:nvCxnSpPr>
        <p:spPr bwMode="auto">
          <a:xfrm>
            <a:off x="2142837" y="5181378"/>
            <a:ext cx="1339272" cy="63291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10526740" name="テキスト ボックス 17"/>
          <p:cNvSpPr txBox="1"/>
          <p:nvPr/>
        </p:nvSpPr>
        <p:spPr bwMode="auto">
          <a:xfrm>
            <a:off x="2050502" y="3714184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PC1</a:t>
            </a:r>
            <a:endParaRPr lang="ja-JP" sz="2400">
              <a:latin typeface="BIZ UDPゴシック"/>
              <a:ea typeface="BIZ UDPゴシック"/>
            </a:endParaRPr>
          </a:p>
        </p:txBody>
      </p:sp>
      <p:sp>
        <p:nvSpPr>
          <p:cNvPr id="1092757982" name="テキスト ボックス 19"/>
          <p:cNvSpPr txBox="1"/>
          <p:nvPr/>
        </p:nvSpPr>
        <p:spPr bwMode="auto">
          <a:xfrm>
            <a:off x="3073579" y="5259944"/>
            <a:ext cx="8931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PC3</a:t>
            </a:r>
            <a:endParaRPr lang="ja-JP" sz="2400">
              <a:latin typeface="BIZ UDPゴシック"/>
              <a:ea typeface="BIZ UDPゴシック"/>
            </a:endParaRPr>
          </a:p>
        </p:txBody>
      </p:sp>
      <p:sp>
        <p:nvSpPr>
          <p:cNvPr id="418776984" name="テキスト ボックス 21"/>
          <p:cNvSpPr txBox="1"/>
          <p:nvPr/>
        </p:nvSpPr>
        <p:spPr bwMode="auto">
          <a:xfrm>
            <a:off x="3924209" y="4341320"/>
            <a:ext cx="31009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←この軸の向きを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ターゲットにして予測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・・・→難しかった。</a:t>
            </a:r>
          </a:p>
        </p:txBody>
      </p:sp>
      <p:sp>
        <p:nvSpPr>
          <p:cNvPr id="1268331615" name="テキスト ボックス 31"/>
          <p:cNvSpPr txBox="1"/>
          <p:nvPr/>
        </p:nvSpPr>
        <p:spPr bwMode="auto">
          <a:xfrm>
            <a:off x="634939" y="5031740"/>
            <a:ext cx="8931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PC2</a:t>
            </a:r>
            <a:endParaRPr lang="ja-JP" sz="2400">
              <a:latin typeface="BIZ UDPゴシック"/>
              <a:ea typeface="BIZ UDPゴシック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8331692" name="タイトル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2-3:</a:t>
            </a:r>
            <a:r>
              <a:rPr lang="ja-JP"/>
              <a:t>結果</a:t>
            </a:r>
            <a:endParaRPr/>
          </a:p>
        </p:txBody>
      </p:sp>
      <p:sp>
        <p:nvSpPr>
          <p:cNvPr id="588141789" name="テキスト ボックス 3"/>
          <p:cNvSpPr txBox="1"/>
          <p:nvPr/>
        </p:nvSpPr>
        <p:spPr bwMode="auto">
          <a:xfrm>
            <a:off x="230908" y="957171"/>
            <a:ext cx="80794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今回は結果がそもそも６項目なので、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PCA</a:t>
            </a:r>
            <a:r>
              <a:rPr lang="ja-JP" sz="2400">
                <a:latin typeface="BIZ UDPゴシック"/>
                <a:ea typeface="BIZ UDPゴシック"/>
              </a:rPr>
              <a:t>にかけて集約しなくてもそれぞれをターゲットに可能。</a:t>
            </a:r>
          </a:p>
        </p:txBody>
      </p:sp>
      <p:graphicFrame>
        <p:nvGraphicFramePr>
          <p:cNvPr id="1416226424" name="表 5"/>
          <p:cNvGraphicFramePr>
            <a:graphicFrameLocks noGrp="1"/>
          </p:cNvGraphicFramePr>
          <p:nvPr/>
        </p:nvGraphicFramePr>
        <p:xfrm>
          <a:off x="518776" y="1949762"/>
          <a:ext cx="5250500" cy="2326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ID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気虚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気鬱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気滞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血虚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瘀血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水滞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6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6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21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01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39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14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51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18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41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…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1200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4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23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56733117" name="矢印: 下 6"/>
          <p:cNvSpPr/>
          <p:nvPr/>
        </p:nvSpPr>
        <p:spPr bwMode="auto">
          <a:xfrm flipV="1">
            <a:off x="2752436" y="4275974"/>
            <a:ext cx="628073" cy="748144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ja-JP"/>
          </a:p>
        </p:txBody>
      </p:sp>
      <p:sp>
        <p:nvSpPr>
          <p:cNvPr id="1903752171" name="テキスト ボックス 7"/>
          <p:cNvSpPr txBox="1"/>
          <p:nvPr/>
        </p:nvSpPr>
        <p:spPr bwMode="auto">
          <a:xfrm>
            <a:off x="1300412" y="5152960"/>
            <a:ext cx="39837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この値を直接予測にかける。</a:t>
            </a:r>
          </a:p>
        </p:txBody>
      </p:sp>
      <p:sp>
        <p:nvSpPr>
          <p:cNvPr id="1671992736" name="テキスト ボックス 9"/>
          <p:cNvSpPr txBox="1"/>
          <p:nvPr/>
        </p:nvSpPr>
        <p:spPr bwMode="auto">
          <a:xfrm>
            <a:off x="5938981" y="1967650"/>
            <a:ext cx="591127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プレスクリーニングで血虚と気虚に可能性あり。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↓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まずは血虚単独にターゲットを絞って、注力。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パラメータ最適化プログラムを使って、時間をかけて（</a:t>
            </a:r>
            <a:r>
              <a:rPr lang="en-US" sz="2400">
                <a:latin typeface="BIZ UDPゴシック"/>
                <a:ea typeface="BIZ UDPゴシック"/>
              </a:rPr>
              <a:t>3</a:t>
            </a:r>
            <a:r>
              <a:rPr lang="ja-JP" sz="2400">
                <a:latin typeface="BIZ UDPゴシック"/>
                <a:ea typeface="BIZ UDPゴシック"/>
              </a:rPr>
              <a:t>日くらい回しっぱなし）自動的に最適化。</a:t>
            </a:r>
            <a:endParaRPr lang="en-US" sz="2400">
              <a:latin typeface="BIZ UDPゴシック"/>
              <a:ea typeface="BIZ UDPゴシック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27454" name="タイトル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2-4:</a:t>
            </a:r>
            <a:endParaRPr lang="ja-JP"/>
          </a:p>
        </p:txBody>
      </p:sp>
      <p:pic>
        <p:nvPicPr>
          <p:cNvPr id="2087585562" name="図 3"/>
          <p:cNvPicPr>
            <a:picLocks noChangeAspect="1"/>
          </p:cNvPicPr>
          <p:nvPr/>
        </p:nvPicPr>
        <p:blipFill rotWithShape="1">
          <a:blip r:embed="rId3"/>
          <a:srcRect l="22049" t="7497" r="26168" b="7706"/>
          <a:stretch/>
        </p:blipFill>
        <p:spPr bwMode="auto">
          <a:xfrm>
            <a:off x="244276" y="973281"/>
            <a:ext cx="5458692" cy="54275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460781156" name="正方形/長方形 4"/>
          <p:cNvSpPr/>
          <p:nvPr/>
        </p:nvSpPr>
        <p:spPr bwMode="auto">
          <a:xfrm>
            <a:off x="655782" y="3897746"/>
            <a:ext cx="3398982" cy="18749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ja-JP"/>
          </a:p>
        </p:txBody>
      </p:sp>
      <p:cxnSp>
        <p:nvCxnSpPr>
          <p:cNvPr id="176646561" name="直線コネクタ 6"/>
          <p:cNvCxnSpPr/>
          <p:nvPr/>
        </p:nvCxnSpPr>
        <p:spPr bwMode="auto">
          <a:xfrm>
            <a:off x="655782" y="4239491"/>
            <a:ext cx="216130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3980042" name="テキスト ボックス 7"/>
          <p:cNvSpPr txBox="1"/>
          <p:nvPr/>
        </p:nvSpPr>
        <p:spPr bwMode="auto">
          <a:xfrm>
            <a:off x="6096000" y="1108364"/>
            <a:ext cx="48429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Best Objective(1-Mean R2)</a:t>
            </a:r>
            <a:endParaRPr/>
          </a:p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 = </a:t>
            </a:r>
            <a:r>
              <a:rPr lang="en-US" sz="2400">
                <a:solidFill>
                  <a:srgbClr val="FF0000"/>
                </a:solidFill>
                <a:latin typeface="BIZ UDPゴシック"/>
                <a:ea typeface="BIZ UDPゴシック"/>
              </a:rPr>
              <a:t>0.9765</a:t>
            </a:r>
            <a:endParaRPr lang="ja-JP" sz="2400">
              <a:solidFill>
                <a:srgbClr val="FF0000"/>
              </a:solidFill>
              <a:latin typeface="BIZ UDPゴシック"/>
              <a:ea typeface="BIZ UDPゴシック"/>
            </a:endParaRPr>
          </a:p>
        </p:txBody>
      </p:sp>
      <p:sp>
        <p:nvSpPr>
          <p:cNvPr id="462595104" name="テキスト ボックス 8"/>
          <p:cNvSpPr txBox="1"/>
          <p:nvPr/>
        </p:nvSpPr>
        <p:spPr bwMode="auto">
          <a:xfrm>
            <a:off x="8140054" y="1523862"/>
            <a:ext cx="37321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(1</a:t>
            </a:r>
            <a:r>
              <a:rPr lang="ja-JP" sz="2400">
                <a:latin typeface="BIZ UDPゴシック"/>
                <a:ea typeface="BIZ UDPゴシック"/>
              </a:rPr>
              <a:t>以上で何もわからない。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0.97</a:t>
            </a:r>
            <a:r>
              <a:rPr lang="ja-JP" sz="2400">
                <a:latin typeface="BIZ UDPゴシック"/>
                <a:ea typeface="BIZ UDPゴシック"/>
              </a:rPr>
              <a:t>５だと</a:t>
            </a:r>
            <a:r>
              <a:rPr lang="en-US" sz="2400">
                <a:latin typeface="BIZ UDPゴシック"/>
                <a:ea typeface="BIZ UDPゴシック"/>
              </a:rPr>
              <a:t>2.5%</a:t>
            </a:r>
            <a:r>
              <a:rPr lang="ja-JP" sz="2400">
                <a:latin typeface="BIZ UDPゴシック"/>
                <a:ea typeface="BIZ UDPゴシック"/>
              </a:rPr>
              <a:t>わかる</a:t>
            </a:r>
            <a:r>
              <a:rPr lang="en-US" sz="2400">
                <a:latin typeface="BIZ UDPゴシック"/>
                <a:ea typeface="BIZ UDPゴシック"/>
              </a:rPr>
              <a:t>)</a:t>
            </a:r>
            <a:endParaRPr lang="ja-JP" sz="2400">
              <a:latin typeface="BIZ UDPゴシック"/>
              <a:ea typeface="BIZ UDPゴシック"/>
            </a:endParaRPr>
          </a:p>
        </p:txBody>
      </p:sp>
      <p:sp>
        <p:nvSpPr>
          <p:cNvPr id="1941179781" name="テキスト ボックス 9"/>
          <p:cNvSpPr txBox="1"/>
          <p:nvPr/>
        </p:nvSpPr>
        <p:spPr bwMode="auto">
          <a:xfrm>
            <a:off x="5920510" y="2425650"/>
            <a:ext cx="579387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solidFill>
                  <a:srgbClr val="FF0000"/>
                </a:solidFill>
                <a:latin typeface="BIZ UDPゴシック"/>
                <a:ea typeface="BIZ UDPゴシック"/>
              </a:rPr>
              <a:t>「毛は血の余り」</a:t>
            </a:r>
            <a:endParaRPr lang="en-US" sz="2400">
              <a:solidFill>
                <a:srgbClr val="FF0000"/>
              </a:solidFill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髪の</a:t>
            </a:r>
            <a:r>
              <a:rPr lang="en-US" sz="2400">
                <a:latin typeface="BIZ UDPゴシック"/>
                <a:ea typeface="BIZ UDPゴシック"/>
              </a:rPr>
              <a:t>NIR-HSI</a:t>
            </a:r>
            <a:r>
              <a:rPr lang="ja-JP" sz="2400">
                <a:latin typeface="BIZ UDPゴシック"/>
                <a:ea typeface="BIZ UDPゴシック"/>
              </a:rPr>
              <a:t>データに血虚に関する情報が入っている可能性が見いだされた。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ただし非常に微小な情報量であることは変わらず、些細なばらつきで変わる状態。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・より信頼のあるデータとするため、データ数を増やすなどが必要</a:t>
            </a:r>
            <a:r>
              <a:rPr lang="en-US" sz="2400">
                <a:latin typeface="BIZ UDPゴシック"/>
                <a:ea typeface="BIZ UDPゴシック"/>
              </a:rPr>
              <a:t>(2026</a:t>
            </a:r>
            <a:r>
              <a:rPr lang="ja-JP" sz="2400">
                <a:latin typeface="BIZ UDPゴシック"/>
                <a:ea typeface="BIZ UDPゴシック"/>
              </a:rPr>
              <a:t>年分？</a:t>
            </a:r>
            <a:r>
              <a:rPr lang="en-US" sz="2400">
                <a:latin typeface="BIZ UDPゴシック"/>
                <a:ea typeface="BIZ UDPゴシック"/>
              </a:rPr>
              <a:t>)</a:t>
            </a:r>
            <a:r>
              <a:rPr lang="ja-JP" sz="2400">
                <a:latin typeface="BIZ UDPゴシック"/>
                <a:ea typeface="BIZ UDPゴシック"/>
              </a:rPr>
              <a:t>。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・もう一つ可能性の見えた気虚に関しては未着手。</a:t>
            </a:r>
            <a:endParaRPr lang="en-US" sz="2400">
              <a:latin typeface="BIZ UDPゴシック"/>
              <a:ea typeface="BIZ UDPゴシック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Arial"/>
        <a:cs typeface="Arial"/>
      </a:majorFont>
      <a:minorFont>
        <a:latin typeface="游ゴシック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prstGeom prst="rect">
          <a:avLst/>
        </a:prstGeom>
        <a:noFill/>
      </a:spPr>
      <a:bodyPr/>
      <a:lstStyle/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Arial"/>
        <a:cs typeface="Arial"/>
      </a:majorFont>
      <a:minorFont>
        <a:latin typeface="游ゴシック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2041</Words>
  <Application>Microsoft Office PowerPoint</Application>
  <PresentationFormat>ワイド画面</PresentationFormat>
  <Paragraphs>608</Paragraphs>
  <Slides>21</Slides>
  <Notes>21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5" baseType="lpstr">
      <vt:lpstr>BIZ UDPゴシック</vt:lpstr>
      <vt:lpstr>游ゴシック</vt:lpstr>
      <vt:lpstr>Arial</vt:lpstr>
      <vt:lpstr>Office テーマ</vt:lpstr>
      <vt:lpstr>PowerPoint プレゼンテーション</vt:lpstr>
      <vt:lpstr>毛髪から漢方体質分類が可能か？</vt:lpstr>
      <vt:lpstr>PowerPoint プレゼンテーション</vt:lpstr>
      <vt:lpstr>アンケートの俯瞰</vt:lpstr>
      <vt:lpstr>アンケートから作る体質分類</vt:lpstr>
      <vt:lpstr>アンケートから作る体質分類</vt:lpstr>
      <vt:lpstr>毛髪からこれらの分類がひも解けるか</vt:lpstr>
      <vt:lpstr>モデル評価</vt:lpstr>
      <vt:lpstr>まとめ</vt:lpstr>
      <vt:lpstr>PowerPoint プレゼンテーション</vt:lpstr>
      <vt:lpstr>PowerPoint プレゼンテーション</vt:lpstr>
      <vt:lpstr>漢方体質アンケート</vt:lpstr>
      <vt:lpstr>PowerPoint プレゼンテーション</vt:lpstr>
      <vt:lpstr>1-1. Stage1:体質アンケート68項目</vt:lpstr>
      <vt:lpstr>1-2. Stage2:体質アンケート重みつけ71項目</vt:lpstr>
      <vt:lpstr>1-3.Stage3クラスタリング:総合６分類</vt:lpstr>
      <vt:lpstr>1-3.クラスター分析(総合６分類)の結果</vt:lpstr>
      <vt:lpstr>2-1.NIR-HSI(毛髪データ)と漢方体質分類</vt:lpstr>
      <vt:lpstr>2-2:結果</vt:lpstr>
      <vt:lpstr>2-3:結果</vt:lpstr>
      <vt:lpstr>2-4: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礒辺　真人</dc:creator>
  <cp:lastModifiedBy>真人 礒辺</cp:lastModifiedBy>
  <cp:revision>12</cp:revision>
  <dcterms:created xsi:type="dcterms:W3CDTF">2023-12-18T01:43:22Z</dcterms:created>
  <dcterms:modified xsi:type="dcterms:W3CDTF">2026-09-02T06:29:03Z</dcterms:modified>
</cp:coreProperties>
</file>